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60" r:id="rId4"/>
    <p:sldId id="258" r:id="rId5"/>
    <p:sldId id="262" r:id="rId6"/>
    <p:sldId id="264" r:id="rId7"/>
    <p:sldId id="263" r:id="rId8"/>
    <p:sldId id="265" r:id="rId9"/>
    <p:sldId id="267"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1" r:id="rId24"/>
    <p:sldId id="25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94660"/>
  </p:normalViewPr>
  <p:slideViewPr>
    <p:cSldViewPr snapToGrid="0">
      <p:cViewPr varScale="1">
        <p:scale>
          <a:sx n="97" d="100"/>
          <a:sy n="97" d="100"/>
        </p:scale>
        <p:origin x="60" y="14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055461-DBA3-47D5-93F0-353FADB8CC41}" type="datetimeFigureOut">
              <a:rPr lang="zh-CN" altLang="en-US" smtClean="0"/>
              <a:t>2026/10/10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2B16F0-9CB2-44B4-842B-72A24AFB3C8A}" type="slidenum">
              <a:rPr lang="zh-CN" altLang="en-US" smtClean="0"/>
              <a:t>‹#›</a:t>
            </a:fld>
            <a:endParaRPr lang="zh-CN" altLang="en-US"/>
          </a:p>
        </p:txBody>
      </p:sp>
    </p:spTree>
    <p:extLst>
      <p:ext uri="{BB962C8B-B14F-4D97-AF65-F5344CB8AC3E}">
        <p14:creationId xmlns:p14="http://schemas.microsoft.com/office/powerpoint/2010/main" val="674620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92B16F0-9CB2-44B4-842B-72A24AFB3C8A}" type="slidenum">
              <a:rPr lang="zh-CN" altLang="en-US" smtClean="0"/>
              <a:t>13</a:t>
            </a:fld>
            <a:endParaRPr lang="zh-CN" altLang="en-US"/>
          </a:p>
        </p:txBody>
      </p:sp>
    </p:spTree>
    <p:extLst>
      <p:ext uri="{BB962C8B-B14F-4D97-AF65-F5344CB8AC3E}">
        <p14:creationId xmlns:p14="http://schemas.microsoft.com/office/powerpoint/2010/main" val="2035392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92B16F0-9CB2-44B4-842B-72A24AFB3C8A}" type="slidenum">
              <a:rPr lang="zh-CN" altLang="en-US" smtClean="0"/>
              <a:t>19</a:t>
            </a:fld>
            <a:endParaRPr lang="zh-CN" altLang="en-US"/>
          </a:p>
        </p:txBody>
      </p:sp>
    </p:spTree>
    <p:extLst>
      <p:ext uri="{BB962C8B-B14F-4D97-AF65-F5344CB8AC3E}">
        <p14:creationId xmlns:p14="http://schemas.microsoft.com/office/powerpoint/2010/main" val="3277579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990FF-48AE-B04B-F3C6-827B354BAA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735EC9-8CD7-C46D-4416-402F1E16F3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919371-9177-CDB7-FDCC-EEC8A57C8E0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5FA294-7892-2311-D6F1-84B419C58C62}"/>
              </a:ext>
            </a:extLst>
          </p:cNvPr>
          <p:cNvSpPr>
            <a:spLocks noGrp="1"/>
          </p:cNvSpPr>
          <p:nvPr>
            <p:ph type="sldNum" sz="quarter" idx="5"/>
          </p:nvPr>
        </p:nvSpPr>
        <p:spPr/>
        <p:txBody>
          <a:bodyPr/>
          <a:lstStyle/>
          <a:p>
            <a:fld id="{C92B16F0-9CB2-44B4-842B-72A24AFB3C8A}" type="slidenum">
              <a:rPr lang="zh-CN" altLang="en-US" smtClean="0"/>
              <a:t>20</a:t>
            </a:fld>
            <a:endParaRPr lang="zh-CN" altLang="en-US"/>
          </a:p>
        </p:txBody>
      </p:sp>
    </p:spTree>
    <p:extLst>
      <p:ext uri="{BB962C8B-B14F-4D97-AF65-F5344CB8AC3E}">
        <p14:creationId xmlns:p14="http://schemas.microsoft.com/office/powerpoint/2010/main" val="2456280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734896-158F-D11A-2B7A-B05EE867154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1CA4CC5-16A9-4E23-FE75-5EA8472358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6AC6B7C-632D-4AAE-4C62-FA4771EC53F1}"/>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5" name="页脚占位符 4">
            <a:extLst>
              <a:ext uri="{FF2B5EF4-FFF2-40B4-BE49-F238E27FC236}">
                <a16:creationId xmlns:a16="http://schemas.microsoft.com/office/drawing/2014/main" id="{FA44E3BF-6FE2-E556-DA2B-48E375D276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C80471C-7290-5CE9-D47F-F2415789436C}"/>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2042009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E9441A-BF13-B9CE-4241-B188C5795CBB}"/>
              </a:ext>
            </a:extLst>
          </p:cNvPr>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61EEC1E8-FC4C-A1D0-74BC-97E8698A4C2F}"/>
              </a:ext>
            </a:extLst>
          </p:cNvPr>
          <p:cNvSpPr>
            <a:spLocks noGrp="1"/>
          </p:cNvSpPr>
          <p:nvPr>
            <p:ph idx="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04E9BE3C-68B2-F5AB-751D-DD5B1C53AFD1}"/>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5" name="页脚占位符 4">
            <a:extLst>
              <a:ext uri="{FF2B5EF4-FFF2-40B4-BE49-F238E27FC236}">
                <a16:creationId xmlns:a16="http://schemas.microsoft.com/office/drawing/2014/main" id="{FC0CBB51-8376-6589-AD8B-ABFC6371E6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ABB4B27-1C2E-C525-E72F-07C07FF743C5}"/>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2826502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3F1E57-CA25-82E2-87CD-6D2C9E4E81E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79D71D5-ED22-6EF4-A548-4026B27DD0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556F1AE-9556-9172-6739-227F693C04AC}"/>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5" name="页脚占位符 4">
            <a:extLst>
              <a:ext uri="{FF2B5EF4-FFF2-40B4-BE49-F238E27FC236}">
                <a16:creationId xmlns:a16="http://schemas.microsoft.com/office/drawing/2014/main" id="{7EB08F46-DCEF-06EF-6D45-649E849C5C4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FF17DD-53BE-B747-76B2-FC02E7F61D5D}"/>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4080443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361E7D-EECC-6146-0D7B-C30DA4010C5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8DE6067-081D-F66A-F0C7-767248DEA7D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8B86CF5-E8BB-12CD-FFC8-4208A51FDD1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8D85134-25C5-555C-AFCB-171976850A45}"/>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6" name="页脚占位符 5">
            <a:extLst>
              <a:ext uri="{FF2B5EF4-FFF2-40B4-BE49-F238E27FC236}">
                <a16:creationId xmlns:a16="http://schemas.microsoft.com/office/drawing/2014/main" id="{273E98B4-B5F6-3513-C475-AF288A54D6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4B23D0E-F466-73A7-8BC3-D5AC5D1E54E3}"/>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1716427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D7854-839D-A8C0-7169-8881110AD66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31864C9-2369-F65D-7F97-8B62EA4B9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F83D93B-80F0-ACEA-FC21-C3E59EF184A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F87CA79-B7F9-456A-822C-8A758BCBAC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162B242-0949-E9F7-5C26-47644FC481F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DFE8557-1E3C-90C2-F200-FB3F98E37469}"/>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8" name="页脚占位符 7">
            <a:extLst>
              <a:ext uri="{FF2B5EF4-FFF2-40B4-BE49-F238E27FC236}">
                <a16:creationId xmlns:a16="http://schemas.microsoft.com/office/drawing/2014/main" id="{EED8A7F6-236D-3737-FFE1-1A877365F71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7FDD1B8-B2C2-A676-19B4-92248A771B85}"/>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3717766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BFD882-B70A-106B-0552-023E806AF56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3B6EA0-7415-2E8B-B8C6-3F9E58EDC67E}"/>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4" name="页脚占位符 3">
            <a:extLst>
              <a:ext uri="{FF2B5EF4-FFF2-40B4-BE49-F238E27FC236}">
                <a16:creationId xmlns:a16="http://schemas.microsoft.com/office/drawing/2014/main" id="{D9B4C313-2A41-94F3-8EB7-AECC4DC8C4D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89568B7-2D1D-449F-3BB3-391928B1331A}"/>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3353440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FCAED02-C646-BCFE-C6D6-4D5A95F27E14}"/>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3" name="页脚占位符 2">
            <a:extLst>
              <a:ext uri="{FF2B5EF4-FFF2-40B4-BE49-F238E27FC236}">
                <a16:creationId xmlns:a16="http://schemas.microsoft.com/office/drawing/2014/main" id="{2F294D5D-6BAB-7D78-563A-0FB1D34268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D35D8FC-8F82-09FC-D462-76177F40087F}"/>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115544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3027FE-D45C-CF31-C7E4-05F930AA8FF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9D65DA7-D0E9-3682-2B19-EA311C7E17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1C15978-8A0C-E710-2F5C-BA790EF82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246AC3D-1EB7-DD34-B391-115C5367203C}"/>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6" name="页脚占位符 5">
            <a:extLst>
              <a:ext uri="{FF2B5EF4-FFF2-40B4-BE49-F238E27FC236}">
                <a16:creationId xmlns:a16="http://schemas.microsoft.com/office/drawing/2014/main" id="{90C6A0CA-69AC-06E5-9197-7E8A374444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4878877-6E7B-76C6-1BBA-5D536ED042CC}"/>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169435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A4468F-858A-B97A-BDE3-4EB5478D37E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EAC4546-7F1B-464B-E7D7-2A28720ACA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3729DC8-A080-E23A-63D8-F440118A7F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AA606E3-3551-85DB-5E49-09D03088AFD9}"/>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6" name="页脚占位符 5">
            <a:extLst>
              <a:ext uri="{FF2B5EF4-FFF2-40B4-BE49-F238E27FC236}">
                <a16:creationId xmlns:a16="http://schemas.microsoft.com/office/drawing/2014/main" id="{EB7ADF41-483B-80D5-8803-1664A0D14F8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19A5459-9050-C520-516B-2A73ECF6131D}"/>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4060930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A7AEB7-9188-5201-7A33-02910E444BA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610C5C9-0798-0B9B-AEC2-F8D3AB97169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D406B57-8253-5DDB-D326-E041344EF421}"/>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5" name="页脚占位符 4">
            <a:extLst>
              <a:ext uri="{FF2B5EF4-FFF2-40B4-BE49-F238E27FC236}">
                <a16:creationId xmlns:a16="http://schemas.microsoft.com/office/drawing/2014/main" id="{4032905A-A3C4-01D2-2B1C-FA4AC38A3C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139FB5-7346-1E30-DC20-276DC5DA65CD}"/>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248720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5E5CE24-3CE4-0D19-050F-8FB52374440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C025CDD-8F06-1AC7-0455-F38B175A41C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D8777B-C1DB-5043-2571-0293CF3A44D0}"/>
              </a:ext>
            </a:extLst>
          </p:cNvPr>
          <p:cNvSpPr>
            <a:spLocks noGrp="1"/>
          </p:cNvSpPr>
          <p:nvPr>
            <p:ph type="dt" sz="half" idx="10"/>
          </p:nvPr>
        </p:nvSpPr>
        <p:spPr/>
        <p:txBody>
          <a:bodyPr/>
          <a:lstStyle/>
          <a:p>
            <a:fld id="{1D52A400-CA90-4A5B-B5ED-B4CE936FCB84}" type="datetimeFigureOut">
              <a:rPr lang="zh-CN" altLang="en-US" smtClean="0"/>
              <a:t>2026/10/10</a:t>
            </a:fld>
            <a:endParaRPr lang="zh-CN" altLang="en-US"/>
          </a:p>
        </p:txBody>
      </p:sp>
      <p:sp>
        <p:nvSpPr>
          <p:cNvPr id="5" name="页脚占位符 4">
            <a:extLst>
              <a:ext uri="{FF2B5EF4-FFF2-40B4-BE49-F238E27FC236}">
                <a16:creationId xmlns:a16="http://schemas.microsoft.com/office/drawing/2014/main" id="{2C3ED037-E8E5-81A2-9BCF-2D42650A803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FE37AD-3FF8-ED62-1DD3-82BAFA7B8711}"/>
              </a:ext>
            </a:extLst>
          </p:cNvPr>
          <p:cNvSpPr>
            <a:spLocks noGrp="1"/>
          </p:cNvSpPr>
          <p:nvPr>
            <p:ph type="sldNum" sz="quarter" idx="12"/>
          </p:nvPr>
        </p:nvSpPr>
        <p:spPr/>
        <p:txBody>
          <a:body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2634349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49A2EF2-F094-12C3-1601-3339A8F356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00725CF-9835-317F-FE26-7EE6EDBDB9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EB3E47-7646-A7C8-78F0-DF5B5B9C38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52A400-CA90-4A5B-B5ED-B4CE936FCB84}" type="datetimeFigureOut">
              <a:rPr lang="zh-CN" altLang="en-US" smtClean="0"/>
              <a:t>2026/10/10</a:t>
            </a:fld>
            <a:endParaRPr lang="zh-CN" altLang="en-US"/>
          </a:p>
        </p:txBody>
      </p:sp>
      <p:sp>
        <p:nvSpPr>
          <p:cNvPr id="5" name="页脚占位符 4">
            <a:extLst>
              <a:ext uri="{FF2B5EF4-FFF2-40B4-BE49-F238E27FC236}">
                <a16:creationId xmlns:a16="http://schemas.microsoft.com/office/drawing/2014/main" id="{D81BA75D-0B27-4F69-ED5A-154C6B4C63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A5E7B87-A8EB-840D-A7CD-DC606E52B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D1B747-D0CF-4812-B935-7A6A6D26FC3F}" type="slidenum">
              <a:rPr lang="zh-CN" altLang="en-US" smtClean="0"/>
              <a:t>‹#›</a:t>
            </a:fld>
            <a:endParaRPr lang="zh-CN" altLang="en-US"/>
          </a:p>
        </p:txBody>
      </p:sp>
    </p:spTree>
    <p:extLst>
      <p:ext uri="{BB962C8B-B14F-4D97-AF65-F5344CB8AC3E}">
        <p14:creationId xmlns:p14="http://schemas.microsoft.com/office/powerpoint/2010/main" val="2269359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9994C2-1066-764C-8A5A-7973641A4362}"/>
              </a:ext>
            </a:extLst>
          </p:cNvPr>
          <p:cNvSpPr>
            <a:spLocks noGrp="1"/>
          </p:cNvSpPr>
          <p:nvPr>
            <p:ph type="ctrTitle"/>
          </p:nvPr>
        </p:nvSpPr>
        <p:spPr/>
        <p:txBody>
          <a:bodyPr/>
          <a:lstStyle/>
          <a:p>
            <a:r>
              <a:rPr lang="zh-CN" altLang="en-US" dirty="0">
                <a:latin typeface="微软雅黑" panose="020B0503020204020204" pitchFamily="34" charset="-122"/>
                <a:ea typeface="微软雅黑" panose="020B0503020204020204" pitchFamily="34" charset="-122"/>
              </a:rPr>
              <a:t>面向对象编程（</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p>
        </p:txBody>
      </p:sp>
      <p:sp>
        <p:nvSpPr>
          <p:cNvPr id="3" name="副标题 2">
            <a:extLst>
              <a:ext uri="{FF2B5EF4-FFF2-40B4-BE49-F238E27FC236}">
                <a16:creationId xmlns:a16="http://schemas.microsoft.com/office/drawing/2014/main" id="{D5416FDB-E86D-422A-ED46-0447FA93922D}"/>
              </a:ext>
            </a:extLst>
          </p:cNvPr>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167921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EE97E-137A-BD53-CB40-FF97EBF1AE8C}"/>
              </a:ext>
            </a:extLst>
          </p:cNvPr>
          <p:cNvSpPr>
            <a:spLocks noGrp="1"/>
          </p:cNvSpPr>
          <p:nvPr>
            <p:ph type="title"/>
          </p:nvPr>
        </p:nvSpPr>
        <p:spPr/>
        <p:txBody>
          <a:bodyPr/>
          <a:lstStyle/>
          <a:p>
            <a:r>
              <a:rPr lang="zh-CN" altLang="en-US" dirty="0"/>
              <a:t>什么是面向对象编程</a:t>
            </a:r>
          </a:p>
        </p:txBody>
      </p:sp>
      <p:sp>
        <p:nvSpPr>
          <p:cNvPr id="3" name="内容占位符 2">
            <a:extLst>
              <a:ext uri="{FF2B5EF4-FFF2-40B4-BE49-F238E27FC236}">
                <a16:creationId xmlns:a16="http://schemas.microsoft.com/office/drawing/2014/main" id="{BBE91E2E-A906-5C78-1F6F-402E127CBE4D}"/>
              </a:ext>
            </a:extLst>
          </p:cNvPr>
          <p:cNvSpPr>
            <a:spLocks noGrp="1"/>
          </p:cNvSpPr>
          <p:nvPr>
            <p:ph idx="1"/>
          </p:nvPr>
        </p:nvSpPr>
        <p:spPr>
          <a:xfrm>
            <a:off x="838200" y="1825625"/>
            <a:ext cx="10515600" cy="4946834"/>
          </a:xfrm>
        </p:spPr>
        <p:txBody>
          <a:bodyPr>
            <a:normAutofit fontScale="92500" lnSpcReduction="20000"/>
          </a:bodyPr>
          <a:lstStyle/>
          <a:p>
            <a:pPr>
              <a:lnSpc>
                <a:spcPct val="110000"/>
              </a:lnSpc>
            </a:pPr>
            <a:r>
              <a:rPr lang="zh-CN" altLang="en-US" dirty="0"/>
              <a:t>对象：数据和操作的封装</a:t>
            </a:r>
            <a:endParaRPr lang="en-US" altLang="zh-CN" dirty="0"/>
          </a:p>
          <a:p>
            <a:pPr lvl="1">
              <a:lnSpc>
                <a:spcPct val="110000"/>
              </a:lnSpc>
            </a:pPr>
            <a:r>
              <a:rPr lang="zh-CN" altLang="en-US" dirty="0"/>
              <a:t>内部状态</a:t>
            </a:r>
            <a:endParaRPr lang="en-US" altLang="zh-CN" dirty="0"/>
          </a:p>
          <a:p>
            <a:pPr lvl="2">
              <a:lnSpc>
                <a:spcPct val="110000"/>
              </a:lnSpc>
            </a:pPr>
            <a:r>
              <a:rPr lang="zh-CN" altLang="en-US" dirty="0"/>
              <a:t>实例变量（</a:t>
            </a:r>
            <a:r>
              <a:rPr lang="en-US" altLang="zh-CN" dirty="0"/>
              <a:t>instance variables</a:t>
            </a:r>
            <a:r>
              <a:rPr lang="zh-CN" altLang="en-US" dirty="0"/>
              <a:t>）、字段（</a:t>
            </a:r>
            <a:r>
              <a:rPr lang="en-US" altLang="zh-CN" dirty="0"/>
              <a:t>fields</a:t>
            </a:r>
            <a:r>
              <a:rPr lang="zh-CN" altLang="en-US" dirty="0"/>
              <a:t>）、成员变量（</a:t>
            </a:r>
            <a:r>
              <a:rPr lang="en-US" altLang="zh-CN" dirty="0"/>
              <a:t>member variables</a:t>
            </a:r>
            <a:r>
              <a:rPr lang="zh-CN" altLang="en-US" dirty="0"/>
              <a:t>）、属性（</a:t>
            </a:r>
            <a:r>
              <a:rPr lang="en-US" altLang="zh-CN" dirty="0"/>
              <a:t>attributes</a:t>
            </a:r>
            <a:r>
              <a:rPr lang="zh-CN" altLang="en-US" dirty="0"/>
              <a:t>）</a:t>
            </a:r>
            <a:r>
              <a:rPr lang="en-US" altLang="zh-CN" dirty="0"/>
              <a:t>…</a:t>
            </a:r>
          </a:p>
          <a:p>
            <a:pPr lvl="2">
              <a:lnSpc>
                <a:spcPct val="110000"/>
              </a:lnSpc>
            </a:pPr>
            <a:r>
              <a:rPr lang="zh-CN" altLang="en-US" dirty="0"/>
              <a:t>往往外部不可见，但有些语言中可以是</a:t>
            </a:r>
            <a:r>
              <a:rPr lang="en-US" altLang="zh-CN" dirty="0"/>
              <a:t>public</a:t>
            </a:r>
            <a:r>
              <a:rPr lang="zh-CN" altLang="en-US" dirty="0"/>
              <a:t>的</a:t>
            </a:r>
            <a:endParaRPr lang="en-US" altLang="zh-CN" dirty="0"/>
          </a:p>
          <a:p>
            <a:pPr lvl="1">
              <a:lnSpc>
                <a:spcPct val="110000"/>
              </a:lnSpc>
            </a:pPr>
            <a:r>
              <a:rPr lang="zh-CN" altLang="en-US" dirty="0"/>
              <a:t>外部可见操作</a:t>
            </a:r>
            <a:endParaRPr lang="en-US" altLang="zh-CN" dirty="0"/>
          </a:p>
          <a:p>
            <a:pPr lvl="2">
              <a:lnSpc>
                <a:spcPct val="110000"/>
              </a:lnSpc>
            </a:pPr>
            <a:r>
              <a:rPr lang="zh-CN" altLang="en-US" dirty="0"/>
              <a:t>方法（</a:t>
            </a:r>
            <a:r>
              <a:rPr lang="en-US" altLang="zh-CN" dirty="0"/>
              <a:t>methods</a:t>
            </a:r>
            <a:r>
              <a:rPr lang="zh-CN" altLang="en-US" dirty="0"/>
              <a:t>）、成员函数（</a:t>
            </a:r>
            <a:r>
              <a:rPr lang="en-US" altLang="zh-CN" dirty="0"/>
              <a:t>member functions</a:t>
            </a:r>
            <a:r>
              <a:rPr lang="zh-CN" altLang="en-US" dirty="0"/>
              <a:t>）</a:t>
            </a:r>
            <a:endParaRPr lang="en-US" altLang="zh-CN" dirty="0"/>
          </a:p>
          <a:p>
            <a:pPr lvl="2">
              <a:lnSpc>
                <a:spcPct val="110000"/>
              </a:lnSpc>
            </a:pPr>
            <a:endParaRPr lang="en-US" altLang="zh-CN" dirty="0"/>
          </a:p>
          <a:p>
            <a:pPr>
              <a:lnSpc>
                <a:spcPct val="110000"/>
              </a:lnSpc>
            </a:pPr>
            <a:r>
              <a:rPr lang="zh-CN" altLang="en-US" dirty="0"/>
              <a:t>面向对象编程</a:t>
            </a:r>
            <a:endParaRPr lang="en-US" altLang="zh-CN" dirty="0"/>
          </a:p>
          <a:p>
            <a:pPr lvl="1">
              <a:lnSpc>
                <a:spcPct val="110000"/>
              </a:lnSpc>
            </a:pPr>
            <a:r>
              <a:rPr lang="zh-CN" altLang="en-US" dirty="0"/>
              <a:t>每个对象都是一个独立个体，对象间通过发送消息交互</a:t>
            </a:r>
            <a:endParaRPr lang="en-US" altLang="zh-CN" dirty="0"/>
          </a:p>
          <a:p>
            <a:pPr lvl="2">
              <a:lnSpc>
                <a:spcPct val="110000"/>
              </a:lnSpc>
            </a:pPr>
            <a:r>
              <a:rPr lang="zh-CN" altLang="en-US" dirty="0"/>
              <a:t>对象收到消息后，可以完成相应任务，修改自己的内部状态，并把结果返回给发送方，完成任务过程中也可能发送消息给其他对象</a:t>
            </a:r>
            <a:endParaRPr lang="en-US" altLang="zh-CN" dirty="0"/>
          </a:p>
          <a:p>
            <a:pPr lvl="1">
              <a:lnSpc>
                <a:spcPct val="110000"/>
              </a:lnSpc>
            </a:pPr>
            <a:r>
              <a:rPr lang="zh-CN" altLang="en-US" dirty="0"/>
              <a:t>“</a:t>
            </a:r>
            <a:r>
              <a:rPr lang="en-US" altLang="zh-CN" dirty="0"/>
              <a:t>server-oriented</a:t>
            </a:r>
            <a:r>
              <a:rPr lang="zh-CN" altLang="en-US" dirty="0"/>
              <a:t>”或者 </a:t>
            </a:r>
            <a:r>
              <a:rPr lang="en-US" altLang="zh-CN" dirty="0"/>
              <a:t>“message-oriented”</a:t>
            </a:r>
            <a:endParaRPr lang="zh-CN" altLang="en-US" dirty="0"/>
          </a:p>
        </p:txBody>
      </p:sp>
    </p:spTree>
    <p:extLst>
      <p:ext uri="{BB962C8B-B14F-4D97-AF65-F5344CB8AC3E}">
        <p14:creationId xmlns:p14="http://schemas.microsoft.com/office/powerpoint/2010/main" val="550592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1AC1DD9-04C9-C2D0-A8DC-16A9D858A7B5}"/>
              </a:ext>
            </a:extLst>
          </p:cNvPr>
          <p:cNvSpPr txBox="1"/>
          <p:nvPr/>
        </p:nvSpPr>
        <p:spPr>
          <a:xfrm>
            <a:off x="1545633" y="2394030"/>
            <a:ext cx="5987843" cy="1938992"/>
          </a:xfrm>
          <a:prstGeom prst="rect">
            <a:avLst/>
          </a:prstGeom>
          <a:noFill/>
        </p:spPr>
        <p:txBody>
          <a:bodyPr wrap="square">
            <a:spAutoFit/>
          </a:bodyPr>
          <a:lstStyle/>
          <a:p>
            <a:r>
              <a:rPr lang="en-US" altLang="zh-CN" sz="2000" dirty="0"/>
              <a:t>OOP to me means only </a:t>
            </a:r>
            <a:r>
              <a:rPr lang="en-US" altLang="zh-CN" sz="2000" b="1" dirty="0">
                <a:solidFill>
                  <a:srgbClr val="FF0000"/>
                </a:solidFill>
              </a:rPr>
              <a:t>messaging</a:t>
            </a:r>
            <a:r>
              <a:rPr lang="en-US" altLang="zh-CN" sz="2000" dirty="0"/>
              <a:t>, local retention and protection and </a:t>
            </a:r>
            <a:r>
              <a:rPr lang="en-US" altLang="zh-CN" sz="2000" b="1" dirty="0">
                <a:solidFill>
                  <a:srgbClr val="FF0000"/>
                </a:solidFill>
              </a:rPr>
              <a:t>hiding of state-process</a:t>
            </a:r>
            <a:r>
              <a:rPr lang="en-US" altLang="zh-CN" sz="2000" dirty="0"/>
              <a:t>, and </a:t>
            </a:r>
            <a:r>
              <a:rPr lang="en-US" altLang="zh-CN" sz="2000" b="1" dirty="0">
                <a:solidFill>
                  <a:srgbClr val="FF0000"/>
                </a:solidFill>
              </a:rPr>
              <a:t>extreme late-binding </a:t>
            </a:r>
            <a:r>
              <a:rPr lang="en-US" altLang="zh-CN" sz="2000" dirty="0"/>
              <a:t>of all things. It can be done in Smalltalk and in LISP. There are possibly other systems in which this is possible, but I'm not aware of them.</a:t>
            </a:r>
          </a:p>
        </p:txBody>
      </p:sp>
      <p:pic>
        <p:nvPicPr>
          <p:cNvPr id="6" name="图片 5">
            <a:extLst>
              <a:ext uri="{FF2B5EF4-FFF2-40B4-BE49-F238E27FC236}">
                <a16:creationId xmlns:a16="http://schemas.microsoft.com/office/drawing/2014/main" id="{1A8AFD9A-2ABD-17FC-92D7-AA5EA1250176}"/>
              </a:ext>
            </a:extLst>
          </p:cNvPr>
          <p:cNvPicPr>
            <a:picLocks noChangeAspect="1"/>
          </p:cNvPicPr>
          <p:nvPr/>
        </p:nvPicPr>
        <p:blipFill>
          <a:blip r:embed="rId2"/>
          <a:stretch>
            <a:fillRect/>
          </a:stretch>
        </p:blipFill>
        <p:spPr>
          <a:xfrm>
            <a:off x="8505609" y="1999881"/>
            <a:ext cx="2380587" cy="3383280"/>
          </a:xfrm>
          <a:prstGeom prst="rect">
            <a:avLst/>
          </a:prstGeom>
        </p:spPr>
      </p:pic>
      <p:sp>
        <p:nvSpPr>
          <p:cNvPr id="7" name="文本框 6">
            <a:extLst>
              <a:ext uri="{FF2B5EF4-FFF2-40B4-BE49-F238E27FC236}">
                <a16:creationId xmlns:a16="http://schemas.microsoft.com/office/drawing/2014/main" id="{CA8AE589-4657-4A9A-2F85-82B0C2CACEE2}"/>
              </a:ext>
            </a:extLst>
          </p:cNvPr>
          <p:cNvSpPr txBox="1"/>
          <p:nvPr/>
        </p:nvSpPr>
        <p:spPr>
          <a:xfrm>
            <a:off x="8505609" y="5556881"/>
            <a:ext cx="1634122" cy="369332"/>
          </a:xfrm>
          <a:prstGeom prst="rect">
            <a:avLst/>
          </a:prstGeom>
          <a:noFill/>
        </p:spPr>
        <p:txBody>
          <a:bodyPr wrap="square" rtlCol="0">
            <a:spAutoFit/>
          </a:bodyPr>
          <a:lstStyle/>
          <a:p>
            <a:r>
              <a:rPr lang="en-US" altLang="zh-CN" b="1" dirty="0"/>
              <a:t>Alan Kay</a:t>
            </a:r>
            <a:endParaRPr lang="zh-CN" altLang="en-US" b="1" dirty="0"/>
          </a:p>
        </p:txBody>
      </p:sp>
      <p:sp>
        <p:nvSpPr>
          <p:cNvPr id="8" name="文本框 7">
            <a:extLst>
              <a:ext uri="{FF2B5EF4-FFF2-40B4-BE49-F238E27FC236}">
                <a16:creationId xmlns:a16="http://schemas.microsoft.com/office/drawing/2014/main" id="{D4B4EBA4-3917-41EF-8DFC-A11CA2F3FD02}"/>
              </a:ext>
            </a:extLst>
          </p:cNvPr>
          <p:cNvSpPr txBox="1"/>
          <p:nvPr/>
        </p:nvSpPr>
        <p:spPr>
          <a:xfrm>
            <a:off x="8505609" y="5986551"/>
            <a:ext cx="2791656" cy="58477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Smalltalk</a:t>
            </a:r>
            <a:r>
              <a:rPr lang="zh-CN" altLang="en-US" sz="1600" dirty="0">
                <a:latin typeface="微软雅黑" panose="020B0503020204020204" pitchFamily="34" charset="-122"/>
                <a:ea typeface="微软雅黑" panose="020B0503020204020204" pitchFamily="34" charset="-122"/>
              </a:rPr>
              <a:t>主要发明者</a:t>
            </a:r>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2003</a:t>
            </a:r>
            <a:r>
              <a:rPr lang="zh-CN" altLang="en-US" sz="1600" dirty="0">
                <a:latin typeface="微软雅黑" panose="020B0503020204020204" pitchFamily="34" charset="-122"/>
                <a:ea typeface="微软雅黑" panose="020B0503020204020204" pitchFamily="34" charset="-122"/>
              </a:rPr>
              <a:t>年图灵奖得主</a:t>
            </a:r>
          </a:p>
        </p:txBody>
      </p:sp>
    </p:spTree>
    <p:extLst>
      <p:ext uri="{BB962C8B-B14F-4D97-AF65-F5344CB8AC3E}">
        <p14:creationId xmlns:p14="http://schemas.microsoft.com/office/powerpoint/2010/main" val="2424908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D597D4-4897-5DFC-A655-7F4BF92F8365}"/>
              </a:ext>
            </a:extLst>
          </p:cNvPr>
          <p:cNvSpPr>
            <a:spLocks noGrp="1"/>
          </p:cNvSpPr>
          <p:nvPr>
            <p:ph type="title"/>
          </p:nvPr>
        </p:nvSpPr>
        <p:spPr/>
        <p:txBody>
          <a:bodyPr/>
          <a:lstStyle/>
          <a:p>
            <a:r>
              <a:rPr lang="zh-CN" altLang="en-US" dirty="0"/>
              <a:t>面向对象的四个核心概念</a:t>
            </a:r>
          </a:p>
        </p:txBody>
      </p:sp>
      <p:sp>
        <p:nvSpPr>
          <p:cNvPr id="3" name="内容占位符 2">
            <a:extLst>
              <a:ext uri="{FF2B5EF4-FFF2-40B4-BE49-F238E27FC236}">
                <a16:creationId xmlns:a16="http://schemas.microsoft.com/office/drawing/2014/main" id="{E568E09E-5234-6264-8F7D-DD483EAE1F7D}"/>
              </a:ext>
            </a:extLst>
          </p:cNvPr>
          <p:cNvSpPr>
            <a:spLocks noGrp="1"/>
          </p:cNvSpPr>
          <p:nvPr>
            <p:ph idx="1"/>
          </p:nvPr>
        </p:nvSpPr>
        <p:spPr/>
        <p:txBody>
          <a:bodyPr/>
          <a:lstStyle/>
          <a:p>
            <a:r>
              <a:rPr lang="zh-CN" altLang="en-US" dirty="0"/>
              <a:t>动</a:t>
            </a:r>
            <a:r>
              <a:rPr lang="zh-CN" altLang="en-US"/>
              <a:t>态派发（</a:t>
            </a:r>
            <a:r>
              <a:rPr lang="en-US" altLang="zh-CN" dirty="0"/>
              <a:t>dynamic dispatch</a:t>
            </a:r>
            <a:r>
              <a:rPr lang="zh-CN" altLang="en-US" dirty="0"/>
              <a:t>）</a:t>
            </a:r>
            <a:endParaRPr lang="en-US" altLang="zh-CN" dirty="0"/>
          </a:p>
          <a:p>
            <a:r>
              <a:rPr lang="zh-CN" altLang="en-US" dirty="0"/>
              <a:t>封装</a:t>
            </a:r>
            <a:endParaRPr lang="en-US" altLang="zh-CN" dirty="0"/>
          </a:p>
          <a:p>
            <a:r>
              <a:rPr lang="zh-CN" altLang="en-US" dirty="0"/>
              <a:t>多态（子类型）</a:t>
            </a:r>
            <a:endParaRPr lang="en-US" altLang="zh-CN" dirty="0"/>
          </a:p>
          <a:p>
            <a:r>
              <a:rPr lang="zh-CN" altLang="en-US" dirty="0"/>
              <a:t>继承（有较大争议）</a:t>
            </a:r>
          </a:p>
        </p:txBody>
      </p:sp>
    </p:spTree>
    <p:extLst>
      <p:ext uri="{BB962C8B-B14F-4D97-AF65-F5344CB8AC3E}">
        <p14:creationId xmlns:p14="http://schemas.microsoft.com/office/powerpoint/2010/main" val="391062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A1F635-4D96-3ED2-88A1-9070CA571670}"/>
              </a:ext>
            </a:extLst>
          </p:cNvPr>
          <p:cNvSpPr>
            <a:spLocks noGrp="1"/>
          </p:cNvSpPr>
          <p:nvPr>
            <p:ph type="title"/>
          </p:nvPr>
        </p:nvSpPr>
        <p:spPr/>
        <p:txBody>
          <a:bodyPr/>
          <a:lstStyle/>
          <a:p>
            <a:r>
              <a:rPr lang="en-US" altLang="zh-CN" dirty="0"/>
              <a:t>OO</a:t>
            </a:r>
            <a:r>
              <a:rPr lang="zh-CN" altLang="en-US" dirty="0"/>
              <a:t>编程的程序结构</a:t>
            </a:r>
          </a:p>
        </p:txBody>
      </p:sp>
      <p:sp>
        <p:nvSpPr>
          <p:cNvPr id="3" name="内容占位符 2">
            <a:extLst>
              <a:ext uri="{FF2B5EF4-FFF2-40B4-BE49-F238E27FC236}">
                <a16:creationId xmlns:a16="http://schemas.microsoft.com/office/drawing/2014/main" id="{28DBE313-ED81-B980-199C-BCE490505DC2}"/>
              </a:ext>
            </a:extLst>
          </p:cNvPr>
          <p:cNvSpPr>
            <a:spLocks noGrp="1"/>
          </p:cNvSpPr>
          <p:nvPr>
            <p:ph idx="1"/>
          </p:nvPr>
        </p:nvSpPr>
        <p:spPr>
          <a:xfrm>
            <a:off x="838200" y="1825624"/>
            <a:ext cx="10515600" cy="4923237"/>
          </a:xfrm>
        </p:spPr>
        <p:txBody>
          <a:bodyPr>
            <a:normAutofit fontScale="92500" lnSpcReduction="10000"/>
          </a:bodyPr>
          <a:lstStyle/>
          <a:p>
            <a:r>
              <a:rPr lang="zh-CN" altLang="en-US" dirty="0"/>
              <a:t>类：对象的模板</a:t>
            </a:r>
            <a:r>
              <a:rPr lang="en-US" altLang="zh-CN" dirty="0"/>
              <a:t>/</a:t>
            </a:r>
            <a:r>
              <a:rPr lang="zh-CN" altLang="en-US" dirty="0"/>
              <a:t>类型</a:t>
            </a:r>
            <a:r>
              <a:rPr lang="en-US" altLang="zh-CN" dirty="0"/>
              <a:t>/</a:t>
            </a:r>
            <a:r>
              <a:rPr lang="zh-CN" altLang="en-US" dirty="0"/>
              <a:t>接口</a:t>
            </a:r>
            <a:endParaRPr lang="en-US" altLang="zh-CN" dirty="0"/>
          </a:p>
          <a:p>
            <a:pPr lvl="1"/>
            <a:r>
              <a:rPr lang="zh-CN" altLang="en-US" dirty="0"/>
              <a:t>实例变量</a:t>
            </a:r>
            <a:r>
              <a:rPr lang="en-US" altLang="zh-CN" dirty="0"/>
              <a:t>/</a:t>
            </a:r>
            <a:r>
              <a:rPr lang="zh-CN" altLang="en-US" dirty="0"/>
              <a:t>方法，类（</a:t>
            </a:r>
            <a:r>
              <a:rPr lang="en-US" altLang="zh-CN" dirty="0"/>
              <a:t>static</a:t>
            </a:r>
            <a:r>
              <a:rPr lang="zh-CN" altLang="en-US" dirty="0"/>
              <a:t>）变量</a:t>
            </a:r>
            <a:r>
              <a:rPr lang="en-US" altLang="zh-CN" dirty="0"/>
              <a:t>/</a:t>
            </a:r>
            <a:r>
              <a:rPr lang="zh-CN" altLang="en-US" dirty="0"/>
              <a:t>方法</a:t>
            </a:r>
            <a:endParaRPr lang="en-US" altLang="zh-CN" dirty="0"/>
          </a:p>
          <a:p>
            <a:pPr lvl="1"/>
            <a:r>
              <a:rPr lang="zh-CN" altLang="en-US" dirty="0"/>
              <a:t>实例方法调用：</a:t>
            </a:r>
            <a:r>
              <a:rPr lang="en-US" altLang="zh-CN" dirty="0" err="1"/>
              <a:t>o.m</a:t>
            </a:r>
            <a:r>
              <a:rPr lang="en-US" altLang="zh-CN" dirty="0"/>
              <a:t>(e1, …, </a:t>
            </a:r>
            <a:r>
              <a:rPr lang="en-US" altLang="zh-CN" dirty="0" err="1"/>
              <a:t>en</a:t>
            </a:r>
            <a:r>
              <a:rPr lang="en-US" altLang="zh-CN" dirty="0"/>
              <a:t>)</a:t>
            </a:r>
          </a:p>
          <a:p>
            <a:pPr lvl="2"/>
            <a:r>
              <a:rPr lang="zh-CN" altLang="en-US" dirty="0"/>
              <a:t>向对象</a:t>
            </a:r>
            <a:r>
              <a:rPr lang="en-US" altLang="zh-CN" dirty="0"/>
              <a:t>o</a:t>
            </a:r>
            <a:r>
              <a:rPr lang="zh-CN" altLang="en-US" dirty="0"/>
              <a:t>发送消息</a:t>
            </a:r>
            <a:r>
              <a:rPr lang="en-US" altLang="zh-CN" dirty="0"/>
              <a:t>m(e1, …, </a:t>
            </a:r>
            <a:r>
              <a:rPr lang="en-US" altLang="zh-CN" dirty="0" err="1"/>
              <a:t>en</a:t>
            </a:r>
            <a:r>
              <a:rPr lang="en-US" altLang="zh-CN" dirty="0"/>
              <a:t>)</a:t>
            </a:r>
          </a:p>
          <a:p>
            <a:pPr lvl="2"/>
            <a:r>
              <a:rPr lang="zh-CN" altLang="en-US" dirty="0"/>
              <a:t>实际等同于过程式语言中的函数调用 </a:t>
            </a:r>
            <a:r>
              <a:rPr lang="en-US" altLang="zh-CN" dirty="0"/>
              <a:t>m(o, e1, …, </a:t>
            </a:r>
            <a:r>
              <a:rPr lang="en-US" altLang="zh-CN" dirty="0" err="1"/>
              <a:t>en</a:t>
            </a:r>
            <a:r>
              <a:rPr lang="en-US" altLang="zh-CN" dirty="0"/>
              <a:t>)</a:t>
            </a:r>
          </a:p>
          <a:p>
            <a:pPr lvl="2"/>
            <a:r>
              <a:rPr lang="en-US" altLang="zh-CN" dirty="0" err="1">
                <a:solidFill>
                  <a:srgbClr val="FF0000"/>
                </a:solidFill>
                <a:latin typeface="Courier New" panose="02070309020205020404" pitchFamily="49" charset="0"/>
                <a:cs typeface="Courier New" panose="02070309020205020404" pitchFamily="49" charset="0"/>
              </a:rPr>
              <a:t>x.add</a:t>
            </a:r>
            <a:r>
              <a:rPr lang="en-US" altLang="zh-CN" dirty="0">
                <a:solidFill>
                  <a:srgbClr val="FF0000"/>
                </a:solidFill>
                <a:latin typeface="Courier New" panose="02070309020205020404" pitchFamily="49" charset="0"/>
                <a:cs typeface="Courier New" panose="02070309020205020404" pitchFamily="49" charset="0"/>
              </a:rPr>
              <a:t>(y)</a:t>
            </a:r>
            <a:r>
              <a:rPr lang="en-US" altLang="zh-CN" dirty="0"/>
              <a:t> vs. </a:t>
            </a:r>
            <a:r>
              <a:rPr lang="en-US" altLang="zh-CN" dirty="0">
                <a:solidFill>
                  <a:srgbClr val="FF0000"/>
                </a:solidFill>
                <a:latin typeface="Courier New" panose="02070309020205020404" pitchFamily="49" charset="0"/>
                <a:cs typeface="Courier New" panose="02070309020205020404" pitchFamily="49" charset="0"/>
              </a:rPr>
              <a:t>add(x, y)</a:t>
            </a:r>
          </a:p>
          <a:p>
            <a:pPr lvl="3"/>
            <a:endParaRPr lang="en-US" altLang="zh-CN" dirty="0"/>
          </a:p>
          <a:p>
            <a:r>
              <a:rPr lang="zh-CN" altLang="en-US" dirty="0"/>
              <a:t>继承</a:t>
            </a:r>
            <a:endParaRPr lang="en-US" altLang="zh-CN" dirty="0"/>
          </a:p>
          <a:p>
            <a:pPr lvl="1"/>
            <a:r>
              <a:rPr lang="zh-CN" altLang="en-US" dirty="0"/>
              <a:t>子类复用父类的方法，避免代码重复</a:t>
            </a:r>
            <a:endParaRPr lang="en-US" altLang="zh-CN" dirty="0"/>
          </a:p>
          <a:p>
            <a:pPr lvl="1"/>
            <a:r>
              <a:rPr lang="zh-CN" altLang="en-US" dirty="0"/>
              <a:t>也可以重新实现父类的方法（</a:t>
            </a:r>
            <a:r>
              <a:rPr lang="en-US" altLang="zh-CN" dirty="0"/>
              <a:t>override</a:t>
            </a:r>
            <a:r>
              <a:rPr lang="zh-CN" altLang="en-US" dirty="0"/>
              <a:t>）</a:t>
            </a:r>
            <a:endParaRPr lang="en-US" altLang="zh-CN" dirty="0"/>
          </a:p>
          <a:p>
            <a:pPr lvl="3"/>
            <a:endParaRPr lang="en-US" altLang="zh-CN" dirty="0"/>
          </a:p>
          <a:p>
            <a:r>
              <a:rPr lang="zh-CN" altLang="en-US" dirty="0"/>
              <a:t>子类型</a:t>
            </a:r>
            <a:endParaRPr lang="en-US" altLang="zh-CN" dirty="0"/>
          </a:p>
          <a:p>
            <a:pPr lvl="1"/>
            <a:r>
              <a:rPr lang="zh-CN" altLang="en-US" dirty="0"/>
              <a:t>子类型的对象天然也是父类型的对象</a:t>
            </a:r>
            <a:endParaRPr lang="en-US" altLang="zh-CN" dirty="0"/>
          </a:p>
          <a:p>
            <a:pPr lvl="1"/>
            <a:r>
              <a:rPr lang="zh-CN" altLang="en-US" dirty="0"/>
              <a:t>提供多态能力</a:t>
            </a:r>
          </a:p>
        </p:txBody>
      </p:sp>
    </p:spTree>
    <p:extLst>
      <p:ext uri="{BB962C8B-B14F-4D97-AF65-F5344CB8AC3E}">
        <p14:creationId xmlns:p14="http://schemas.microsoft.com/office/powerpoint/2010/main" val="1047282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42046-96E4-B348-2F08-0B74221D8FEE}"/>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73D4CB2B-EB02-76DF-8B9B-DDF6240C3615}"/>
              </a:ext>
            </a:extLst>
          </p:cNvPr>
          <p:cNvPicPr>
            <a:picLocks noChangeAspect="1"/>
          </p:cNvPicPr>
          <p:nvPr/>
        </p:nvPicPr>
        <p:blipFill>
          <a:blip r:embed="rId2"/>
          <a:stretch>
            <a:fillRect/>
          </a:stretch>
        </p:blipFill>
        <p:spPr>
          <a:xfrm>
            <a:off x="7129292" y="70793"/>
            <a:ext cx="5062708" cy="2292440"/>
          </a:xfrm>
          <a:prstGeom prst="rect">
            <a:avLst/>
          </a:prstGeom>
        </p:spPr>
      </p:pic>
      <p:sp>
        <p:nvSpPr>
          <p:cNvPr id="2" name="标题 1">
            <a:extLst>
              <a:ext uri="{FF2B5EF4-FFF2-40B4-BE49-F238E27FC236}">
                <a16:creationId xmlns:a16="http://schemas.microsoft.com/office/drawing/2014/main" id="{0DA2DE0D-C359-ED18-01E5-432769FA21AE}"/>
              </a:ext>
            </a:extLst>
          </p:cNvPr>
          <p:cNvSpPr>
            <a:spLocks noGrp="1"/>
          </p:cNvSpPr>
          <p:nvPr>
            <p:ph type="title"/>
          </p:nvPr>
        </p:nvSpPr>
        <p:spPr/>
        <p:txBody>
          <a:bodyPr/>
          <a:lstStyle/>
          <a:p>
            <a:r>
              <a:rPr lang="zh-CN" altLang="en-US" dirty="0"/>
              <a:t>实例：几何图形库</a:t>
            </a:r>
          </a:p>
        </p:txBody>
      </p:sp>
      <p:sp>
        <p:nvSpPr>
          <p:cNvPr id="3" name="内容占位符 2">
            <a:extLst>
              <a:ext uri="{FF2B5EF4-FFF2-40B4-BE49-F238E27FC236}">
                <a16:creationId xmlns:a16="http://schemas.microsoft.com/office/drawing/2014/main" id="{753251A8-DF32-4E89-3E08-94094F835F36}"/>
              </a:ext>
            </a:extLst>
          </p:cNvPr>
          <p:cNvSpPr>
            <a:spLocks noGrp="1"/>
          </p:cNvSpPr>
          <p:nvPr>
            <p:ph idx="1"/>
          </p:nvPr>
        </p:nvSpPr>
        <p:spPr/>
        <p:txBody>
          <a:bodyPr/>
          <a:lstStyle/>
          <a:p>
            <a:r>
              <a:rPr lang="zh-CN" altLang="en-US" dirty="0"/>
              <a:t>通用概念：形状（</a:t>
            </a:r>
            <a:r>
              <a:rPr lang="en-US" altLang="zh-CN" dirty="0"/>
              <a:t>Shape</a:t>
            </a:r>
            <a:r>
              <a:rPr lang="zh-CN" altLang="en-US" dirty="0"/>
              <a:t>）</a:t>
            </a:r>
            <a:endParaRPr lang="en-US" altLang="zh-CN" dirty="0"/>
          </a:p>
          <a:p>
            <a:r>
              <a:rPr lang="zh-CN" altLang="en-US" dirty="0"/>
              <a:t>具体形状：矩形（</a:t>
            </a:r>
            <a:r>
              <a:rPr lang="en-US" altLang="zh-CN" dirty="0"/>
              <a:t>Rectangle</a:t>
            </a:r>
            <a:r>
              <a:rPr lang="zh-CN" altLang="en-US" dirty="0"/>
              <a:t>）和圆（</a:t>
            </a:r>
            <a:r>
              <a:rPr lang="en-US" altLang="zh-CN" dirty="0"/>
              <a:t>Circle</a:t>
            </a:r>
            <a:r>
              <a:rPr lang="zh-CN" altLang="en-US" dirty="0"/>
              <a:t>）</a:t>
            </a:r>
            <a:endParaRPr lang="en-US" altLang="zh-CN" dirty="0"/>
          </a:p>
          <a:p>
            <a:r>
              <a:rPr lang="zh-CN" altLang="en-US" dirty="0"/>
              <a:t>共性概念</a:t>
            </a:r>
            <a:endParaRPr lang="en-US" altLang="zh-CN" dirty="0"/>
          </a:p>
          <a:p>
            <a:pPr lvl="1"/>
            <a:r>
              <a:rPr lang="en-US" altLang="zh-CN" dirty="0"/>
              <a:t>center</a:t>
            </a:r>
            <a:r>
              <a:rPr lang="zh-CN" altLang="en-US" dirty="0"/>
              <a:t>、</a:t>
            </a:r>
            <a:r>
              <a:rPr lang="en-US" altLang="zh-CN" dirty="0"/>
              <a:t>move</a:t>
            </a:r>
            <a:r>
              <a:rPr lang="zh-CN" altLang="en-US" dirty="0"/>
              <a:t>、</a:t>
            </a:r>
            <a:r>
              <a:rPr lang="en-US" altLang="zh-CN" dirty="0"/>
              <a:t>rotate</a:t>
            </a:r>
            <a:r>
              <a:rPr lang="zh-CN" altLang="en-US" dirty="0"/>
              <a:t>、</a:t>
            </a:r>
            <a:r>
              <a:rPr lang="en-US" altLang="zh-CN" dirty="0"/>
              <a:t>print</a:t>
            </a:r>
          </a:p>
          <a:p>
            <a:r>
              <a:rPr lang="zh-CN" altLang="en-US" dirty="0"/>
              <a:t>允许扩展</a:t>
            </a:r>
            <a:endParaRPr lang="en-US" altLang="zh-CN" dirty="0"/>
          </a:p>
          <a:p>
            <a:pPr lvl="1"/>
            <a:r>
              <a:rPr lang="zh-CN" altLang="en-US" dirty="0"/>
              <a:t>具体形状（矩形和圆）中</a:t>
            </a:r>
            <a:r>
              <a:rPr lang="zh-CN" altLang="en-US" b="1" dirty="0"/>
              <a:t>添加新的概念</a:t>
            </a:r>
            <a:r>
              <a:rPr lang="zh-CN" altLang="en-US" dirty="0"/>
              <a:t>（成员变量或方法），</a:t>
            </a:r>
            <a:br>
              <a:rPr lang="en-US" altLang="zh-CN" dirty="0"/>
            </a:br>
            <a:r>
              <a:rPr lang="zh-CN" altLang="en-US" dirty="0"/>
              <a:t>或者重新定义上述共性概念</a:t>
            </a:r>
            <a:endParaRPr lang="en-US" altLang="zh-CN" dirty="0"/>
          </a:p>
          <a:p>
            <a:pPr lvl="1"/>
            <a:r>
              <a:rPr lang="zh-CN" altLang="en-US" b="1" dirty="0"/>
              <a:t>添加新的具体形状</a:t>
            </a:r>
            <a:endParaRPr lang="en-US" altLang="zh-CN" b="1" dirty="0"/>
          </a:p>
          <a:p>
            <a:r>
              <a:rPr lang="zh-CN" altLang="en-US" dirty="0"/>
              <a:t>易扩展性是面向对象编程的一个重要理念</a:t>
            </a:r>
          </a:p>
        </p:txBody>
      </p:sp>
    </p:spTree>
    <p:extLst>
      <p:ext uri="{BB962C8B-B14F-4D97-AF65-F5344CB8AC3E}">
        <p14:creationId xmlns:p14="http://schemas.microsoft.com/office/powerpoint/2010/main" val="2321900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46F6FFE-EDBF-396C-2FD5-4B563076585D}"/>
              </a:ext>
            </a:extLst>
          </p:cNvPr>
          <p:cNvPicPr>
            <a:picLocks noChangeAspect="1"/>
          </p:cNvPicPr>
          <p:nvPr/>
        </p:nvPicPr>
        <p:blipFill>
          <a:blip r:embed="rId2"/>
          <a:stretch>
            <a:fillRect/>
          </a:stretch>
        </p:blipFill>
        <p:spPr>
          <a:xfrm>
            <a:off x="7129292" y="70793"/>
            <a:ext cx="5062708" cy="2292440"/>
          </a:xfrm>
          <a:prstGeom prst="rect">
            <a:avLst/>
          </a:prstGeom>
        </p:spPr>
      </p:pic>
      <p:sp>
        <p:nvSpPr>
          <p:cNvPr id="2" name="标题 1">
            <a:extLst>
              <a:ext uri="{FF2B5EF4-FFF2-40B4-BE49-F238E27FC236}">
                <a16:creationId xmlns:a16="http://schemas.microsoft.com/office/drawing/2014/main" id="{527F12A1-C172-4E61-48A0-FA4B1828C473}"/>
              </a:ext>
            </a:extLst>
          </p:cNvPr>
          <p:cNvSpPr>
            <a:spLocks noGrp="1"/>
          </p:cNvSpPr>
          <p:nvPr>
            <p:ph type="title"/>
          </p:nvPr>
        </p:nvSpPr>
        <p:spPr/>
        <p:txBody>
          <a:bodyPr/>
          <a:lstStyle/>
          <a:p>
            <a:r>
              <a:rPr lang="zh-CN" altLang="en-US" dirty="0"/>
              <a:t>实例：几何图形库</a:t>
            </a:r>
          </a:p>
        </p:txBody>
      </p:sp>
      <p:sp>
        <p:nvSpPr>
          <p:cNvPr id="6" name="文本框 5">
            <a:extLst>
              <a:ext uri="{FF2B5EF4-FFF2-40B4-BE49-F238E27FC236}">
                <a16:creationId xmlns:a16="http://schemas.microsoft.com/office/drawing/2014/main" id="{518AA748-B597-47A5-00C1-AA40C7B558F0}"/>
              </a:ext>
            </a:extLst>
          </p:cNvPr>
          <p:cNvSpPr txBox="1"/>
          <p:nvPr/>
        </p:nvSpPr>
        <p:spPr>
          <a:xfrm>
            <a:off x="244332" y="1262082"/>
            <a:ext cx="6453648" cy="5478423"/>
          </a:xfrm>
          <a:prstGeom prst="rect">
            <a:avLst/>
          </a:prstGeom>
          <a:solidFill>
            <a:schemeClr val="tx1"/>
          </a:solidFill>
        </p:spPr>
        <p:txBody>
          <a:bodyPr wrap="square">
            <a:spAutoFit/>
          </a:bodyPr>
          <a:lstStyle/>
          <a:p>
            <a:pPr>
              <a:buNone/>
            </a:pPr>
            <a:r>
              <a:rPr lang="en-US" altLang="zh-CN" sz="1400" b="0" dirty="0">
                <a:solidFill>
                  <a:srgbClr val="C586C0"/>
                </a:solidFill>
                <a:effectLst/>
                <a:latin typeface="Consolas" panose="020B0609020204030204" pitchFamily="49" charset="0"/>
              </a:rPr>
              <a:t>open class</a:t>
            </a:r>
            <a:r>
              <a:rPr lang="en-US" altLang="zh-CN" sz="1400" b="0" dirty="0">
                <a:solidFill>
                  <a:srgbClr val="4EC9B0"/>
                </a:solidFill>
                <a:effectLst/>
                <a:latin typeface="Consolas" panose="020B0609020204030204" pitchFamily="49" charset="0"/>
              </a:rPr>
              <a:t> Shape</a:t>
            </a: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open </a:t>
            </a:r>
            <a:r>
              <a:rPr lang="en-US" altLang="zh-CN" sz="1400" b="0" dirty="0" err="1">
                <a:solidFill>
                  <a:srgbClr val="C586C0"/>
                </a:solidFill>
                <a:effectLst/>
                <a:latin typeface="Consolas" panose="020B0609020204030204" pitchFamily="49" charset="0"/>
              </a:rPr>
              <a:t>func</a:t>
            </a:r>
            <a:r>
              <a:rPr lang="en-US" altLang="zh-CN" sz="1400" b="0" dirty="0">
                <a:solidFill>
                  <a:srgbClr val="DCDCAA"/>
                </a:solidFill>
                <a:effectLst/>
                <a:latin typeface="Consolas" panose="020B0609020204030204" pitchFamily="49" charset="0"/>
              </a:rPr>
              <a:t> move</a:t>
            </a:r>
            <a:r>
              <a:rPr lang="en-US" altLang="zh-CN" sz="1400" b="0" dirty="0">
                <a:solidFill>
                  <a:srgbClr val="CCCCCC"/>
                </a:solidFill>
                <a:effectLst/>
                <a:latin typeface="Consolas" panose="020B0609020204030204" pitchFamily="49" charset="0"/>
              </a:rPr>
              <a:t>(</a:t>
            </a:r>
            <a:r>
              <a:rPr lang="en-US" altLang="zh-CN" sz="1400" b="0" dirty="0">
                <a:solidFill>
                  <a:srgbClr val="9CDCFE"/>
                </a:solidFill>
                <a:effectLst/>
                <a:latin typeface="Consolas" panose="020B0609020204030204" pitchFamily="49" charset="0"/>
              </a:rPr>
              <a:t>x</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Int</a:t>
            </a:r>
            <a:r>
              <a:rPr lang="en-US" altLang="zh-CN" sz="1400" b="0" dirty="0">
                <a:solidFill>
                  <a:srgbClr val="CCCCCC"/>
                </a:solidFill>
                <a:effectLst/>
                <a:latin typeface="Consolas" panose="020B0609020204030204" pitchFamily="49" charset="0"/>
              </a:rPr>
              <a:t>,</a:t>
            </a:r>
            <a:r>
              <a:rPr lang="en-US" altLang="zh-CN" sz="1400" b="0" dirty="0">
                <a:solidFill>
                  <a:srgbClr val="9CDCFE"/>
                </a:solidFill>
                <a:effectLst/>
                <a:latin typeface="Consolas" panose="020B0609020204030204" pitchFamily="49" charset="0"/>
              </a:rPr>
              <a:t> y</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Int</a:t>
            </a:r>
            <a:r>
              <a:rPr lang="en-US" altLang="zh-CN" sz="1400" b="0" dirty="0">
                <a:solidFill>
                  <a:srgbClr val="CCCCCC"/>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Unit</a:t>
            </a: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"Shape moved to ($x, $y)"</a:t>
            </a:r>
            <a:r>
              <a:rPr lang="en-US" altLang="zh-CN" sz="1400" b="0" dirty="0">
                <a:solidFill>
                  <a:srgbClr val="CCCCCC"/>
                </a:solidFill>
                <a:effectLst/>
                <a:latin typeface="Consolas" panose="020B0609020204030204" pitchFamily="49" charset="0"/>
              </a:rPr>
              <a:t>)</a:t>
            </a:r>
          </a:p>
          <a:p>
            <a:pPr>
              <a:buNone/>
            </a:pP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Other common methods for shapes</a:t>
            </a:r>
            <a:endParaRPr lang="en-US" altLang="zh-CN" sz="1400" b="0" dirty="0">
              <a:solidFill>
                <a:srgbClr val="CCCCCC"/>
              </a:solidFill>
              <a:effectLst/>
              <a:latin typeface="Consolas" panose="020B0609020204030204" pitchFamily="49" charset="0"/>
            </a:endParaRPr>
          </a:p>
          <a:p>
            <a:pPr>
              <a:buNone/>
            </a:pPr>
            <a:r>
              <a:rPr lang="en-US" altLang="zh-CN" sz="1400" b="0" dirty="0">
                <a:solidFill>
                  <a:srgbClr val="CCCCCC"/>
                </a:solidFill>
                <a:effectLst/>
                <a:latin typeface="Consolas" panose="020B0609020204030204" pitchFamily="49" charset="0"/>
              </a:rPr>
              <a:t>}</a:t>
            </a:r>
          </a:p>
          <a:p>
            <a:pPr>
              <a:buNone/>
            </a:pPr>
            <a:br>
              <a:rPr lang="en-US" altLang="zh-CN" sz="1400" b="0" dirty="0">
                <a:solidFill>
                  <a:srgbClr val="CCCCCC"/>
                </a:solidFill>
                <a:effectLst/>
                <a:latin typeface="Consolas" panose="020B0609020204030204" pitchFamily="49" charset="0"/>
              </a:rPr>
            </a:br>
            <a:r>
              <a:rPr lang="en-US" altLang="zh-CN" sz="1400" b="0" dirty="0">
                <a:solidFill>
                  <a:srgbClr val="C586C0"/>
                </a:solidFill>
                <a:effectLst/>
                <a:latin typeface="Consolas" panose="020B0609020204030204" pitchFamily="49" charset="0"/>
              </a:rPr>
              <a:t>class</a:t>
            </a:r>
            <a:r>
              <a:rPr lang="en-US" altLang="zh-CN" sz="1400" b="0" dirty="0">
                <a:solidFill>
                  <a:srgbClr val="4EC9B0"/>
                </a:solidFill>
                <a:effectLst/>
                <a:latin typeface="Consolas" panose="020B0609020204030204" pitchFamily="49" charset="0"/>
              </a:rPr>
              <a:t> Circle</a:t>
            </a:r>
            <a:r>
              <a:rPr lang="en-US" altLang="zh-CN" sz="1400" b="0" dirty="0">
                <a:solidFill>
                  <a:srgbClr val="CCCCCC"/>
                </a:solidFill>
                <a:effectLst/>
                <a:latin typeface="Consolas" panose="020B0609020204030204" pitchFamily="49" charset="0"/>
              </a:rPr>
              <a:t> &lt;: </a:t>
            </a:r>
            <a:r>
              <a:rPr lang="en-US" altLang="zh-CN" sz="1400" b="0" dirty="0">
                <a:solidFill>
                  <a:srgbClr val="4EC9B0"/>
                </a:solidFill>
                <a:effectLst/>
                <a:latin typeface="Consolas" panose="020B0609020204030204" pitchFamily="49" charset="0"/>
              </a:rPr>
              <a:t>Shape</a:t>
            </a: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dirty="0">
                <a:solidFill>
                  <a:srgbClr val="C586C0"/>
                </a:solidFill>
                <a:latin typeface="Consolas" panose="020B0609020204030204" pitchFamily="49" charset="0"/>
              </a:rPr>
              <a:t>override</a:t>
            </a:r>
            <a:r>
              <a:rPr lang="en-US" altLang="zh-CN" sz="1400" b="0" dirty="0">
                <a:solidFill>
                  <a:srgbClr val="CCCCCC"/>
                </a:solidFill>
                <a:effectLst/>
                <a:latin typeface="Consolas" panose="020B0609020204030204" pitchFamily="49" charset="0"/>
              </a:rPr>
              <a:t> </a:t>
            </a:r>
            <a:r>
              <a:rPr lang="en-US" altLang="zh-CN" sz="1400" b="0" dirty="0" err="1">
                <a:solidFill>
                  <a:srgbClr val="C586C0"/>
                </a:solidFill>
                <a:effectLst/>
                <a:latin typeface="Consolas" panose="020B0609020204030204" pitchFamily="49" charset="0"/>
              </a:rPr>
              <a:t>func</a:t>
            </a:r>
            <a:r>
              <a:rPr lang="en-US" altLang="zh-CN" sz="1400" b="0" dirty="0">
                <a:solidFill>
                  <a:srgbClr val="DCDCAA"/>
                </a:solidFill>
                <a:effectLst/>
                <a:latin typeface="Consolas" panose="020B0609020204030204" pitchFamily="49" charset="0"/>
              </a:rPr>
              <a:t> move</a:t>
            </a:r>
            <a:r>
              <a:rPr lang="en-US" altLang="zh-CN" sz="1400" b="0" dirty="0">
                <a:solidFill>
                  <a:srgbClr val="CCCCCC"/>
                </a:solidFill>
                <a:effectLst/>
                <a:latin typeface="Consolas" panose="020B0609020204030204" pitchFamily="49" charset="0"/>
              </a:rPr>
              <a:t>(</a:t>
            </a:r>
            <a:r>
              <a:rPr lang="en-US" altLang="zh-CN" sz="1400" b="0" dirty="0">
                <a:solidFill>
                  <a:srgbClr val="9CDCFE"/>
                </a:solidFill>
                <a:effectLst/>
                <a:latin typeface="Consolas" panose="020B0609020204030204" pitchFamily="49" charset="0"/>
              </a:rPr>
              <a:t>x</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Int</a:t>
            </a:r>
            <a:r>
              <a:rPr lang="en-US" altLang="zh-CN" sz="1400" b="0" dirty="0">
                <a:solidFill>
                  <a:srgbClr val="CCCCCC"/>
                </a:solidFill>
                <a:effectLst/>
                <a:latin typeface="Consolas" panose="020B0609020204030204" pitchFamily="49" charset="0"/>
              </a:rPr>
              <a:t>,</a:t>
            </a:r>
            <a:r>
              <a:rPr lang="en-US" altLang="zh-CN" sz="1400" b="0" dirty="0">
                <a:solidFill>
                  <a:srgbClr val="9CDCFE"/>
                </a:solidFill>
                <a:effectLst/>
                <a:latin typeface="Consolas" panose="020B0609020204030204" pitchFamily="49" charset="0"/>
              </a:rPr>
              <a:t> y</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Int</a:t>
            </a:r>
            <a:r>
              <a:rPr lang="en-US" altLang="zh-CN" sz="1400" b="0" dirty="0">
                <a:solidFill>
                  <a:srgbClr val="CCCCCC"/>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Unit</a:t>
            </a: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"Circle moved to ($x, $y)"</a:t>
            </a:r>
            <a:r>
              <a:rPr lang="en-US" altLang="zh-CN" sz="1400" b="0" dirty="0">
                <a:solidFill>
                  <a:srgbClr val="CCCCCC"/>
                </a:solidFill>
                <a:effectLst/>
                <a:latin typeface="Consolas" panose="020B0609020204030204" pitchFamily="49" charset="0"/>
              </a:rPr>
              <a:t>)</a:t>
            </a:r>
          </a:p>
          <a:p>
            <a:pPr>
              <a:buNone/>
            </a:pP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Other common methods for circles</a:t>
            </a:r>
            <a:endParaRPr lang="en-US" altLang="zh-CN" sz="1400" b="0" dirty="0">
              <a:solidFill>
                <a:srgbClr val="CCCCCC"/>
              </a:solidFill>
              <a:effectLst/>
              <a:latin typeface="Consolas" panose="020B0609020204030204" pitchFamily="49" charset="0"/>
            </a:endParaRPr>
          </a:p>
          <a:p>
            <a:pPr>
              <a:buNone/>
            </a:pPr>
            <a:r>
              <a:rPr lang="en-US" altLang="zh-CN" sz="1400" b="0" dirty="0">
                <a:solidFill>
                  <a:srgbClr val="CCCCCC"/>
                </a:solidFill>
                <a:effectLst/>
                <a:latin typeface="Consolas" panose="020B0609020204030204" pitchFamily="49" charset="0"/>
              </a:rPr>
              <a:t>}</a:t>
            </a:r>
          </a:p>
          <a:p>
            <a:pPr>
              <a:buNone/>
            </a:pPr>
            <a:br>
              <a:rPr lang="en-US" altLang="zh-CN" sz="1400" b="0" dirty="0">
                <a:solidFill>
                  <a:srgbClr val="CCCCCC"/>
                </a:solidFill>
                <a:effectLst/>
                <a:latin typeface="Consolas" panose="020B0609020204030204" pitchFamily="49" charset="0"/>
              </a:rPr>
            </a:br>
            <a:r>
              <a:rPr lang="en-US" altLang="zh-CN" sz="1400" b="0" dirty="0">
                <a:solidFill>
                  <a:srgbClr val="C586C0"/>
                </a:solidFill>
                <a:effectLst/>
                <a:latin typeface="Consolas" panose="020B0609020204030204" pitchFamily="49" charset="0"/>
              </a:rPr>
              <a:t>class</a:t>
            </a:r>
            <a:r>
              <a:rPr lang="en-US" altLang="zh-CN" sz="1400" b="0" dirty="0">
                <a:solidFill>
                  <a:srgbClr val="4EC9B0"/>
                </a:solidFill>
                <a:effectLst/>
                <a:latin typeface="Consolas" panose="020B0609020204030204" pitchFamily="49" charset="0"/>
              </a:rPr>
              <a:t> Rectangle</a:t>
            </a:r>
            <a:r>
              <a:rPr lang="en-US" altLang="zh-CN" sz="1400" b="0" dirty="0">
                <a:solidFill>
                  <a:srgbClr val="CCCCCC"/>
                </a:solidFill>
                <a:effectLst/>
                <a:latin typeface="Consolas" panose="020B0609020204030204" pitchFamily="49" charset="0"/>
              </a:rPr>
              <a:t> &lt;: </a:t>
            </a:r>
            <a:r>
              <a:rPr lang="en-US" altLang="zh-CN" sz="1400" b="0" dirty="0">
                <a:solidFill>
                  <a:srgbClr val="4EC9B0"/>
                </a:solidFill>
                <a:effectLst/>
                <a:latin typeface="Consolas" panose="020B0609020204030204" pitchFamily="49" charset="0"/>
              </a:rPr>
              <a:t>Shape</a:t>
            </a: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dirty="0">
                <a:solidFill>
                  <a:srgbClr val="C586C0"/>
                </a:solidFill>
                <a:latin typeface="Consolas" panose="020B0609020204030204" pitchFamily="49" charset="0"/>
              </a:rPr>
              <a:t>override </a:t>
            </a:r>
            <a:r>
              <a:rPr lang="en-US" altLang="zh-CN" sz="1400" b="0" dirty="0" err="1">
                <a:solidFill>
                  <a:srgbClr val="C586C0"/>
                </a:solidFill>
                <a:effectLst/>
                <a:latin typeface="Consolas" panose="020B0609020204030204" pitchFamily="49" charset="0"/>
              </a:rPr>
              <a:t>func</a:t>
            </a:r>
            <a:r>
              <a:rPr lang="en-US" altLang="zh-CN" sz="1400" b="0" dirty="0">
                <a:solidFill>
                  <a:srgbClr val="DCDCAA"/>
                </a:solidFill>
                <a:effectLst/>
                <a:latin typeface="Consolas" panose="020B0609020204030204" pitchFamily="49" charset="0"/>
              </a:rPr>
              <a:t> move</a:t>
            </a:r>
            <a:r>
              <a:rPr lang="en-US" altLang="zh-CN" sz="1400" b="0" dirty="0">
                <a:solidFill>
                  <a:srgbClr val="CCCCCC"/>
                </a:solidFill>
                <a:effectLst/>
                <a:latin typeface="Consolas" panose="020B0609020204030204" pitchFamily="49" charset="0"/>
              </a:rPr>
              <a:t>(</a:t>
            </a:r>
            <a:r>
              <a:rPr lang="en-US" altLang="zh-CN" sz="1400" b="0" dirty="0">
                <a:solidFill>
                  <a:srgbClr val="9CDCFE"/>
                </a:solidFill>
                <a:effectLst/>
                <a:latin typeface="Consolas" panose="020B0609020204030204" pitchFamily="49" charset="0"/>
              </a:rPr>
              <a:t>x</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Int</a:t>
            </a:r>
            <a:r>
              <a:rPr lang="en-US" altLang="zh-CN" sz="1400" b="0" dirty="0">
                <a:solidFill>
                  <a:srgbClr val="CCCCCC"/>
                </a:solidFill>
                <a:effectLst/>
                <a:latin typeface="Consolas" panose="020B0609020204030204" pitchFamily="49" charset="0"/>
              </a:rPr>
              <a:t>,</a:t>
            </a:r>
            <a:r>
              <a:rPr lang="en-US" altLang="zh-CN" sz="1400" b="0" dirty="0">
                <a:solidFill>
                  <a:srgbClr val="9CDCFE"/>
                </a:solidFill>
                <a:effectLst/>
                <a:latin typeface="Consolas" panose="020B0609020204030204" pitchFamily="49" charset="0"/>
              </a:rPr>
              <a:t> y</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Int</a:t>
            </a:r>
            <a:r>
              <a:rPr lang="en-US" altLang="zh-CN" sz="1400" b="0" dirty="0">
                <a:solidFill>
                  <a:srgbClr val="CCCCCC"/>
                </a:solidFill>
                <a:effectLst/>
                <a:latin typeface="Consolas" panose="020B0609020204030204" pitchFamily="49" charset="0"/>
              </a:rPr>
              <a:t>): </a:t>
            </a:r>
            <a:r>
              <a:rPr lang="en-US" altLang="zh-CN" sz="1400" b="0" dirty="0">
                <a:solidFill>
                  <a:srgbClr val="C586C0"/>
                </a:solidFill>
                <a:effectLst/>
                <a:latin typeface="Consolas" panose="020B0609020204030204" pitchFamily="49" charset="0"/>
              </a:rPr>
              <a:t>Unit</a:t>
            </a: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DCDCAA"/>
                </a:solidFill>
                <a:effectLst/>
                <a:latin typeface="Consolas" panose="020B0609020204030204" pitchFamily="49" charset="0"/>
              </a:rPr>
              <a:t>print</a:t>
            </a:r>
            <a:r>
              <a:rPr lang="en-US" altLang="zh-CN" sz="1400" b="0" dirty="0">
                <a:solidFill>
                  <a:srgbClr val="CCCCCC"/>
                </a:solidFill>
                <a:effectLst/>
                <a:latin typeface="Consolas" panose="020B0609020204030204" pitchFamily="49" charset="0"/>
              </a:rPr>
              <a:t>(</a:t>
            </a:r>
            <a:r>
              <a:rPr lang="en-US" altLang="zh-CN" sz="1400" b="0" dirty="0">
                <a:solidFill>
                  <a:srgbClr val="CE9178"/>
                </a:solidFill>
                <a:effectLst/>
                <a:latin typeface="Consolas" panose="020B0609020204030204" pitchFamily="49" charset="0"/>
              </a:rPr>
              <a:t>"Rectangle moved to ($x, $y)"</a:t>
            </a:r>
            <a:r>
              <a:rPr lang="en-US" altLang="zh-CN" sz="1400" b="0" dirty="0">
                <a:solidFill>
                  <a:srgbClr val="CCCCCC"/>
                </a:solidFill>
                <a:effectLst/>
                <a:latin typeface="Consolas" panose="020B0609020204030204" pitchFamily="49" charset="0"/>
              </a:rPr>
              <a:t>)</a:t>
            </a:r>
          </a:p>
          <a:p>
            <a:pPr>
              <a:buNone/>
            </a:pPr>
            <a:r>
              <a:rPr lang="en-US" altLang="zh-CN" sz="1400" b="0" dirty="0">
                <a:solidFill>
                  <a:srgbClr val="CCCCCC"/>
                </a:solidFill>
                <a:effectLst/>
                <a:latin typeface="Consolas" panose="020B0609020204030204" pitchFamily="49" charset="0"/>
              </a:rPr>
              <a:t>    }</a:t>
            </a:r>
          </a:p>
          <a:p>
            <a:pPr>
              <a:buNone/>
            </a:pP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Other common methods for rectangles</a:t>
            </a:r>
            <a:endParaRPr lang="en-US" altLang="zh-CN" sz="1400" b="0" dirty="0">
              <a:solidFill>
                <a:srgbClr val="CCCCCC"/>
              </a:solidFill>
              <a:effectLst/>
              <a:latin typeface="Consolas" panose="020B0609020204030204" pitchFamily="49" charset="0"/>
            </a:endParaRPr>
          </a:p>
          <a:p>
            <a:pPr>
              <a:buNone/>
            </a:pPr>
            <a:r>
              <a:rPr lang="en-US" altLang="zh-CN" sz="1400" b="0" dirty="0">
                <a:solidFill>
                  <a:srgbClr val="CCCCCC"/>
                </a:solidFill>
                <a:effectLst/>
                <a:latin typeface="Consolas" panose="020B0609020204030204" pitchFamily="49" charset="0"/>
              </a:rPr>
              <a:t>}</a:t>
            </a:r>
            <a:br>
              <a:rPr lang="en-US" altLang="zh-CN" sz="1400" b="0" dirty="0">
                <a:solidFill>
                  <a:srgbClr val="CCCCCC"/>
                </a:solidFill>
                <a:effectLst/>
                <a:latin typeface="Consolas" panose="020B0609020204030204" pitchFamily="49" charset="0"/>
              </a:rPr>
            </a:br>
            <a:endParaRPr lang="en-US" altLang="zh-CN" sz="1400" b="0" dirty="0">
              <a:solidFill>
                <a:srgbClr val="CCCCCC"/>
              </a:solidFill>
              <a:effectLst/>
              <a:latin typeface="Consolas" panose="020B0609020204030204" pitchFamily="49" charset="0"/>
            </a:endParaRPr>
          </a:p>
          <a:p>
            <a:pPr>
              <a:buNone/>
            </a:pPr>
            <a:r>
              <a:rPr lang="en-US" altLang="zh-CN" sz="1400" b="0" dirty="0">
                <a:solidFill>
                  <a:srgbClr val="C586C0"/>
                </a:solidFill>
                <a:effectLst/>
                <a:latin typeface="Consolas" panose="020B0609020204030204" pitchFamily="49" charset="0"/>
              </a:rPr>
              <a:t>let</a:t>
            </a:r>
            <a:r>
              <a:rPr lang="en-US" altLang="zh-CN" sz="1400" b="0" dirty="0">
                <a:solidFill>
                  <a:srgbClr val="9CDCFE"/>
                </a:solidFill>
                <a:effectLst/>
                <a:latin typeface="Consolas" panose="020B0609020204030204" pitchFamily="49" charset="0"/>
              </a:rPr>
              <a:t> s1</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Shape</a:t>
            </a:r>
            <a:r>
              <a:rPr lang="en-US" altLang="zh-CN" sz="1400" b="0" dirty="0">
                <a:solidFill>
                  <a:srgbClr val="CCCCCC"/>
                </a:solidFill>
                <a:effectLst/>
                <a:latin typeface="Consolas" panose="020B0609020204030204" pitchFamily="49" charset="0"/>
              </a:rPr>
              <a:t> = </a:t>
            </a:r>
            <a:r>
              <a:rPr lang="en-US" altLang="zh-CN" sz="1400" b="0" dirty="0">
                <a:solidFill>
                  <a:srgbClr val="DCDCAA"/>
                </a:solidFill>
                <a:effectLst/>
                <a:latin typeface="Consolas" panose="020B0609020204030204" pitchFamily="49" charset="0"/>
              </a:rPr>
              <a:t>Circle</a:t>
            </a:r>
            <a:r>
              <a:rPr lang="en-US" altLang="zh-CN" sz="1400" b="0" dirty="0">
                <a:solidFill>
                  <a:srgbClr val="CCCCCC"/>
                </a:solidFill>
                <a:effectLst/>
                <a:latin typeface="Consolas" panose="020B0609020204030204" pitchFamily="49" charset="0"/>
              </a:rPr>
              <a:t>()</a:t>
            </a:r>
          </a:p>
          <a:p>
            <a:pPr>
              <a:buNone/>
            </a:pPr>
            <a:r>
              <a:rPr lang="en-US" altLang="zh-CN" sz="1400" b="0" dirty="0">
                <a:solidFill>
                  <a:srgbClr val="C586C0"/>
                </a:solidFill>
                <a:effectLst/>
                <a:latin typeface="Consolas" panose="020B0609020204030204" pitchFamily="49" charset="0"/>
              </a:rPr>
              <a:t>let</a:t>
            </a:r>
            <a:r>
              <a:rPr lang="en-US" altLang="zh-CN" sz="1400" b="0" dirty="0">
                <a:solidFill>
                  <a:srgbClr val="9CDCFE"/>
                </a:solidFill>
                <a:effectLst/>
                <a:latin typeface="Consolas" panose="020B0609020204030204" pitchFamily="49" charset="0"/>
              </a:rPr>
              <a:t> s2</a:t>
            </a:r>
            <a:r>
              <a:rPr lang="en-US" altLang="zh-CN" sz="1400" b="0" dirty="0">
                <a:solidFill>
                  <a:srgbClr val="CCCCCC"/>
                </a:solidFill>
                <a:effectLst/>
                <a:latin typeface="Consolas" panose="020B0609020204030204" pitchFamily="49" charset="0"/>
              </a:rPr>
              <a:t>: </a:t>
            </a:r>
            <a:r>
              <a:rPr lang="en-US" altLang="zh-CN" sz="1400" b="0" dirty="0">
                <a:solidFill>
                  <a:srgbClr val="4EC9B0"/>
                </a:solidFill>
                <a:effectLst/>
                <a:latin typeface="Consolas" panose="020B0609020204030204" pitchFamily="49" charset="0"/>
              </a:rPr>
              <a:t>Shape</a:t>
            </a:r>
            <a:r>
              <a:rPr lang="en-US" altLang="zh-CN" sz="1400" b="0" dirty="0">
                <a:solidFill>
                  <a:srgbClr val="CCCCCC"/>
                </a:solidFill>
                <a:effectLst/>
                <a:latin typeface="Consolas" panose="020B0609020204030204" pitchFamily="49" charset="0"/>
              </a:rPr>
              <a:t> = </a:t>
            </a:r>
            <a:r>
              <a:rPr lang="en-US" altLang="zh-CN" sz="1400" b="0" dirty="0">
                <a:solidFill>
                  <a:srgbClr val="DCDCAA"/>
                </a:solidFill>
                <a:effectLst/>
                <a:latin typeface="Consolas" panose="020B0609020204030204" pitchFamily="49" charset="0"/>
              </a:rPr>
              <a:t>Rectangle</a:t>
            </a:r>
            <a:r>
              <a:rPr lang="en-US" altLang="zh-CN" sz="1400" b="0" dirty="0">
                <a:solidFill>
                  <a:srgbClr val="CCCCCC"/>
                </a:solidFill>
                <a:effectLst/>
                <a:latin typeface="Consolas" panose="020B0609020204030204" pitchFamily="49" charset="0"/>
              </a:rPr>
              <a:t>()</a:t>
            </a:r>
          </a:p>
          <a:p>
            <a:pPr>
              <a:buNone/>
            </a:pPr>
            <a:r>
              <a:rPr lang="en-US" altLang="zh-CN" sz="1400" b="0" dirty="0">
                <a:solidFill>
                  <a:srgbClr val="9CDCFE"/>
                </a:solidFill>
                <a:effectLst/>
                <a:latin typeface="Consolas" panose="020B0609020204030204" pitchFamily="49" charset="0"/>
              </a:rPr>
              <a:t>s1</a:t>
            </a:r>
            <a:r>
              <a:rPr lang="en-US" altLang="zh-CN" sz="1400" b="0" dirty="0">
                <a:solidFill>
                  <a:srgbClr val="CCCCCC"/>
                </a:solidFill>
                <a:effectLst/>
                <a:latin typeface="Consolas" panose="020B0609020204030204" pitchFamily="49" charset="0"/>
              </a:rPr>
              <a:t>.</a:t>
            </a:r>
            <a:r>
              <a:rPr lang="en-US" altLang="zh-CN" sz="1400" b="0" dirty="0">
                <a:solidFill>
                  <a:srgbClr val="DCDCAA"/>
                </a:solidFill>
                <a:effectLst/>
                <a:latin typeface="Consolas" panose="020B0609020204030204" pitchFamily="49" charset="0"/>
              </a:rPr>
              <a:t>move</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10</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20</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Should print "Circle moved to (10, 20)"</a:t>
            </a:r>
            <a:endParaRPr lang="en-US" altLang="zh-CN" sz="1400" b="0" dirty="0">
              <a:solidFill>
                <a:srgbClr val="CCCCCC"/>
              </a:solidFill>
              <a:effectLst/>
              <a:latin typeface="Consolas" panose="020B0609020204030204" pitchFamily="49" charset="0"/>
            </a:endParaRPr>
          </a:p>
          <a:p>
            <a:pPr>
              <a:buNone/>
            </a:pPr>
            <a:r>
              <a:rPr lang="en-US" altLang="zh-CN" sz="1400" b="0" dirty="0">
                <a:solidFill>
                  <a:srgbClr val="9CDCFE"/>
                </a:solidFill>
                <a:effectLst/>
                <a:latin typeface="Consolas" panose="020B0609020204030204" pitchFamily="49" charset="0"/>
              </a:rPr>
              <a:t>s2</a:t>
            </a:r>
            <a:r>
              <a:rPr lang="en-US" altLang="zh-CN" sz="1400" b="0" dirty="0">
                <a:solidFill>
                  <a:srgbClr val="CCCCCC"/>
                </a:solidFill>
                <a:effectLst/>
                <a:latin typeface="Consolas" panose="020B0609020204030204" pitchFamily="49" charset="0"/>
              </a:rPr>
              <a:t>.</a:t>
            </a:r>
            <a:r>
              <a:rPr lang="en-US" altLang="zh-CN" sz="1400" b="0" dirty="0">
                <a:solidFill>
                  <a:srgbClr val="DCDCAA"/>
                </a:solidFill>
                <a:effectLst/>
                <a:latin typeface="Consolas" panose="020B0609020204030204" pitchFamily="49" charset="0"/>
              </a:rPr>
              <a:t>move</a:t>
            </a:r>
            <a:r>
              <a:rPr lang="en-US" altLang="zh-CN" sz="1400" b="0" dirty="0">
                <a:solidFill>
                  <a:srgbClr val="CCCCCC"/>
                </a:solidFill>
                <a:effectLst/>
                <a:latin typeface="Consolas" panose="020B0609020204030204" pitchFamily="49" charset="0"/>
              </a:rPr>
              <a:t>(</a:t>
            </a:r>
            <a:r>
              <a:rPr lang="en-US" altLang="zh-CN" sz="1400" b="0" dirty="0">
                <a:solidFill>
                  <a:srgbClr val="B5CEA8"/>
                </a:solidFill>
                <a:effectLst/>
                <a:latin typeface="Consolas" panose="020B0609020204030204" pitchFamily="49" charset="0"/>
              </a:rPr>
              <a:t>30</a:t>
            </a:r>
            <a:r>
              <a:rPr lang="en-US" altLang="zh-CN" sz="1400" b="0" dirty="0">
                <a:solidFill>
                  <a:srgbClr val="CCCCCC"/>
                </a:solidFill>
                <a:effectLst/>
                <a:latin typeface="Consolas" panose="020B0609020204030204" pitchFamily="49" charset="0"/>
              </a:rPr>
              <a:t>, </a:t>
            </a:r>
            <a:r>
              <a:rPr lang="en-US" altLang="zh-CN" sz="1400" b="0" dirty="0">
                <a:solidFill>
                  <a:srgbClr val="B5CEA8"/>
                </a:solidFill>
                <a:effectLst/>
                <a:latin typeface="Consolas" panose="020B0609020204030204" pitchFamily="49" charset="0"/>
              </a:rPr>
              <a:t>40</a:t>
            </a:r>
            <a:r>
              <a:rPr lang="en-US" altLang="zh-CN" sz="1400" b="0" dirty="0">
                <a:solidFill>
                  <a:srgbClr val="CCCCCC"/>
                </a:solidFill>
                <a:effectLst/>
                <a:latin typeface="Consolas" panose="020B0609020204030204" pitchFamily="49" charset="0"/>
              </a:rPr>
              <a:t>) </a:t>
            </a:r>
            <a:r>
              <a:rPr lang="en-US" altLang="zh-CN" sz="1400" b="0" dirty="0">
                <a:solidFill>
                  <a:srgbClr val="6A9955"/>
                </a:solidFill>
                <a:effectLst/>
                <a:latin typeface="Consolas" panose="020B0609020204030204" pitchFamily="49" charset="0"/>
              </a:rPr>
              <a:t>// Should print "Rectangle moved to (30</a:t>
            </a:r>
            <a:r>
              <a:rPr lang="en-US" altLang="zh-CN" sz="1400" dirty="0">
                <a:solidFill>
                  <a:srgbClr val="6A9955"/>
                </a:solidFill>
                <a:latin typeface="Consolas" panose="020B0609020204030204" pitchFamily="49" charset="0"/>
              </a:rPr>
              <a:t>, 40)</a:t>
            </a:r>
            <a:r>
              <a:rPr lang="en-US" altLang="zh-CN" sz="1400" b="0" dirty="0">
                <a:solidFill>
                  <a:srgbClr val="6A9955"/>
                </a:solidFill>
                <a:effectLst/>
                <a:latin typeface="Consolas" panose="020B0609020204030204" pitchFamily="49" charset="0"/>
              </a:rPr>
              <a:t>"</a:t>
            </a:r>
            <a:endParaRPr lang="en-US" altLang="zh-CN" sz="1400" b="0" dirty="0">
              <a:solidFill>
                <a:srgbClr val="CCCCCC"/>
              </a:solidFill>
              <a:effectLst/>
              <a:latin typeface="Consolas" panose="020B0609020204030204" pitchFamily="49" charset="0"/>
            </a:endParaRPr>
          </a:p>
        </p:txBody>
      </p:sp>
      <p:sp>
        <p:nvSpPr>
          <p:cNvPr id="7" name="对话气泡: 圆角矩形 6">
            <a:extLst>
              <a:ext uri="{FF2B5EF4-FFF2-40B4-BE49-F238E27FC236}">
                <a16:creationId xmlns:a16="http://schemas.microsoft.com/office/drawing/2014/main" id="{FE2D2714-5BE1-3E75-BFAE-F2F7F9D740EF}"/>
              </a:ext>
            </a:extLst>
          </p:cNvPr>
          <p:cNvSpPr/>
          <p:nvPr/>
        </p:nvSpPr>
        <p:spPr>
          <a:xfrm>
            <a:off x="4587240" y="2232660"/>
            <a:ext cx="1981200" cy="518160"/>
          </a:xfrm>
          <a:prstGeom prst="wedgeRoundRectCallout">
            <a:avLst>
              <a:gd name="adj1" fmla="val -140636"/>
              <a:gd name="adj2" fmla="val 75735"/>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继承和</a:t>
            </a:r>
            <a:r>
              <a:rPr lang="en-US" altLang="zh-CN" b="1" dirty="0">
                <a:solidFill>
                  <a:schemeClr val="tx1"/>
                </a:solidFill>
                <a:latin typeface="微软雅黑" panose="020B0503020204020204" pitchFamily="34" charset="-122"/>
                <a:ea typeface="微软雅黑" panose="020B0503020204020204" pitchFamily="34" charset="-122"/>
              </a:rPr>
              <a:t>override</a:t>
            </a: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8" name="对话气泡: 圆角矩形 7">
            <a:extLst>
              <a:ext uri="{FF2B5EF4-FFF2-40B4-BE49-F238E27FC236}">
                <a16:creationId xmlns:a16="http://schemas.microsoft.com/office/drawing/2014/main" id="{1794E667-4D43-21EE-A502-480CF092A9EE}"/>
              </a:ext>
            </a:extLst>
          </p:cNvPr>
          <p:cNvSpPr/>
          <p:nvPr/>
        </p:nvSpPr>
        <p:spPr>
          <a:xfrm>
            <a:off x="4869180" y="5204460"/>
            <a:ext cx="1981200" cy="518160"/>
          </a:xfrm>
          <a:prstGeom prst="wedgeRoundRectCallout">
            <a:avLst>
              <a:gd name="adj1" fmla="val -132174"/>
              <a:gd name="adj2" fmla="val 140441"/>
              <a:gd name="adj3" fmla="val 16667"/>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pitchFamily="34" charset="-122"/>
                <a:ea typeface="微软雅黑" panose="020B0503020204020204" pitchFamily="34" charset="-122"/>
              </a:rPr>
              <a:t>动态派遣</a:t>
            </a:r>
          </a:p>
        </p:txBody>
      </p:sp>
      <p:grpSp>
        <p:nvGrpSpPr>
          <p:cNvPr id="33" name="组合 32">
            <a:extLst>
              <a:ext uri="{FF2B5EF4-FFF2-40B4-BE49-F238E27FC236}">
                <a16:creationId xmlns:a16="http://schemas.microsoft.com/office/drawing/2014/main" id="{84111312-49E0-A38D-A26D-C9FA2F2B542F}"/>
              </a:ext>
            </a:extLst>
          </p:cNvPr>
          <p:cNvGrpSpPr/>
          <p:nvPr/>
        </p:nvGrpSpPr>
        <p:grpSpPr>
          <a:xfrm>
            <a:off x="6979923" y="2919313"/>
            <a:ext cx="5143498" cy="3758228"/>
            <a:chOff x="6979923" y="2919313"/>
            <a:chExt cx="5143498" cy="3758228"/>
          </a:xfrm>
        </p:grpSpPr>
        <p:sp>
          <p:nvSpPr>
            <p:cNvPr id="9" name="文本框 8">
              <a:extLst>
                <a:ext uri="{FF2B5EF4-FFF2-40B4-BE49-F238E27FC236}">
                  <a16:creationId xmlns:a16="http://schemas.microsoft.com/office/drawing/2014/main" id="{FBF166C4-D33C-FA9B-D9DF-50A664380D90}"/>
                </a:ext>
              </a:extLst>
            </p:cNvPr>
            <p:cNvSpPr txBox="1"/>
            <p:nvPr/>
          </p:nvSpPr>
          <p:spPr>
            <a:xfrm>
              <a:off x="7056120" y="2919313"/>
              <a:ext cx="4685808"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循环处理</a:t>
              </a:r>
              <a:r>
                <a:rPr lang="en-US" altLang="zh-CN" sz="2000" dirty="0">
                  <a:latin typeface="微软雅黑" panose="020B0503020204020204" pitchFamily="34" charset="-122"/>
                  <a:ea typeface="微软雅黑" panose="020B0503020204020204" pitchFamily="34" charset="-122"/>
                </a:rPr>
                <a:t>Shape</a:t>
              </a:r>
              <a:r>
                <a:rPr lang="zh-CN" altLang="en-US" sz="2000" dirty="0">
                  <a:latin typeface="微软雅黑" panose="020B0503020204020204" pitchFamily="34" charset="-122"/>
                  <a:ea typeface="微软雅黑" panose="020B0503020204020204" pitchFamily="34" charset="-122"/>
                </a:rPr>
                <a:t>队列中的每一个元素：</a:t>
              </a:r>
            </a:p>
          </p:txBody>
        </p:sp>
        <p:sp>
          <p:nvSpPr>
            <p:cNvPr id="12" name="文本框 11">
              <a:extLst>
                <a:ext uri="{FF2B5EF4-FFF2-40B4-BE49-F238E27FC236}">
                  <a16:creationId xmlns:a16="http://schemas.microsoft.com/office/drawing/2014/main" id="{A2AB04B9-63AF-D78E-B2EA-3C43E4C94D38}"/>
                </a:ext>
              </a:extLst>
            </p:cNvPr>
            <p:cNvSpPr txBox="1"/>
            <p:nvPr/>
          </p:nvSpPr>
          <p:spPr>
            <a:xfrm>
              <a:off x="8159506" y="4275613"/>
              <a:ext cx="3002280"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    从队列中取出形状</a:t>
              </a:r>
              <a:r>
                <a:rPr lang="en-US" altLang="zh-CN" dirty="0">
                  <a:latin typeface="微软雅黑" panose="020B0503020204020204" pitchFamily="34" charset="-122"/>
                  <a:ea typeface="微软雅黑" panose="020B0503020204020204" pitchFamily="34" charset="-122"/>
                </a:rPr>
                <a:t>s</a:t>
              </a:r>
            </a:p>
            <a:p>
              <a:r>
                <a:rPr lang="zh-CN" altLang="en-US" dirty="0">
                  <a:latin typeface="微软雅黑" panose="020B0503020204020204" pitchFamily="34" charset="-122"/>
                  <a:ea typeface="微软雅黑" panose="020B0503020204020204" pitchFamily="34" charset="-122"/>
                </a:rPr>
                <a:t>    执行操作</a:t>
              </a:r>
              <a:r>
                <a:rPr lang="en-US" altLang="zh-CN" dirty="0" err="1">
                  <a:latin typeface="微软雅黑" panose="020B0503020204020204" pitchFamily="34" charset="-122"/>
                  <a:ea typeface="微软雅黑" panose="020B0503020204020204" pitchFamily="34" charset="-122"/>
                </a:rPr>
                <a:t>s.move</a:t>
              </a:r>
              <a:r>
                <a:rPr lang="en-US" altLang="zh-CN" dirty="0">
                  <a:latin typeface="微软雅黑" panose="020B0503020204020204" pitchFamily="34" charset="-122"/>
                  <a:ea typeface="微软雅黑" panose="020B0503020204020204" pitchFamily="34" charset="-122"/>
                </a:rPr>
                <a:t>(10, 20)</a:t>
              </a:r>
              <a:endParaRPr lang="zh-CN" altLang="en-US" dirty="0">
                <a:latin typeface="微软雅黑" panose="020B0503020204020204" pitchFamily="34" charset="-122"/>
                <a:ea typeface="微软雅黑" panose="020B0503020204020204" pitchFamily="34" charset="-122"/>
              </a:endParaRPr>
            </a:p>
          </p:txBody>
        </p:sp>
        <p:cxnSp>
          <p:nvCxnSpPr>
            <p:cNvPr id="14" name="直接连接符 13">
              <a:extLst>
                <a:ext uri="{FF2B5EF4-FFF2-40B4-BE49-F238E27FC236}">
                  <a16:creationId xmlns:a16="http://schemas.microsoft.com/office/drawing/2014/main" id="{BCDD14BB-BEFE-01C9-F1A5-175C7321522E}"/>
                </a:ext>
              </a:extLst>
            </p:cNvPr>
            <p:cNvCxnSpPr>
              <a:stCxn id="12" idx="2"/>
            </p:cNvCxnSpPr>
            <p:nvPr/>
          </p:nvCxnSpPr>
          <p:spPr>
            <a:xfrm>
              <a:off x="9660646" y="4921944"/>
              <a:ext cx="0" cy="815916"/>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3A4269F-0400-B72B-11FD-54BE5DE9BD0D}"/>
                </a:ext>
              </a:extLst>
            </p:cNvPr>
            <p:cNvCxnSpPr>
              <a:stCxn id="12" idx="0"/>
            </p:cNvCxnSpPr>
            <p:nvPr/>
          </p:nvCxnSpPr>
          <p:spPr>
            <a:xfrm flipV="1">
              <a:off x="9660646" y="3553004"/>
              <a:ext cx="0" cy="722609"/>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7C3728BA-53A9-F62E-0DD4-878037C9A00A}"/>
                </a:ext>
              </a:extLst>
            </p:cNvPr>
            <p:cNvCxnSpPr/>
            <p:nvPr/>
          </p:nvCxnSpPr>
          <p:spPr>
            <a:xfrm flipH="1">
              <a:off x="7406640" y="3553004"/>
              <a:ext cx="225400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A4B95007-9594-52E1-4FF7-D998A112A306}"/>
                </a:ext>
              </a:extLst>
            </p:cNvPr>
            <p:cNvCxnSpPr>
              <a:cxnSpLocks/>
            </p:cNvCxnSpPr>
            <p:nvPr/>
          </p:nvCxnSpPr>
          <p:spPr>
            <a:xfrm flipH="1">
              <a:off x="7406640" y="5737860"/>
              <a:ext cx="225400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E370E36-DCE3-3AC9-7F82-1D592E6F1742}"/>
                </a:ext>
              </a:extLst>
            </p:cNvPr>
            <p:cNvCxnSpPr/>
            <p:nvPr/>
          </p:nvCxnSpPr>
          <p:spPr>
            <a:xfrm>
              <a:off x="7406640" y="3553004"/>
              <a:ext cx="0" cy="218485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43F86B5-5FC0-6CF6-58A1-190A034B5054}"/>
                </a:ext>
              </a:extLst>
            </p:cNvPr>
            <p:cNvSpPr txBox="1"/>
            <p:nvPr/>
          </p:nvSpPr>
          <p:spPr>
            <a:xfrm>
              <a:off x="6979923" y="5918873"/>
              <a:ext cx="514349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队列中实际存放的形状可以是</a:t>
              </a:r>
              <a:r>
                <a:rPr lang="en-US" altLang="zh-CN" dirty="0">
                  <a:latin typeface="微软雅黑" panose="020B0503020204020204" pitchFamily="34" charset="-122"/>
                  <a:ea typeface="微软雅黑" panose="020B0503020204020204" pitchFamily="34" charset="-122"/>
                </a:rPr>
                <a:t>Circle</a:t>
              </a:r>
              <a:r>
                <a:rPr lang="zh-CN" altLang="en-US" dirty="0">
                  <a:latin typeface="微软雅黑" panose="020B0503020204020204" pitchFamily="34" charset="-122"/>
                  <a:ea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rPr>
                <a:t>Rectangle</a:t>
              </a:r>
              <a:endParaRPr lang="zh-CN" altLang="en-US"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6182DE00-BBA5-DA81-D62D-088A6D9D3E63}"/>
                </a:ext>
              </a:extLst>
            </p:cNvPr>
            <p:cNvSpPr txBox="1"/>
            <p:nvPr/>
          </p:nvSpPr>
          <p:spPr>
            <a:xfrm>
              <a:off x="6979923" y="6308209"/>
              <a:ext cx="5143498"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根据实际形状，自动调用相应的</a:t>
              </a:r>
              <a:r>
                <a:rPr lang="en-US" altLang="zh-CN" dirty="0">
                  <a:latin typeface="微软雅黑" panose="020B0503020204020204" pitchFamily="34" charset="-122"/>
                  <a:ea typeface="微软雅黑" panose="020B0503020204020204" pitchFamily="34" charset="-122"/>
                </a:rPr>
                <a:t>move</a:t>
              </a:r>
              <a:r>
                <a:rPr lang="zh-CN" altLang="en-US" dirty="0">
                  <a:latin typeface="微软雅黑" panose="020B0503020204020204" pitchFamily="34" charset="-122"/>
                  <a:ea typeface="微软雅黑" panose="020B0503020204020204" pitchFamily="34" charset="-122"/>
                </a:rPr>
                <a:t>方法</a:t>
              </a:r>
            </a:p>
          </p:txBody>
        </p:sp>
      </p:grpSp>
    </p:spTree>
    <p:extLst>
      <p:ext uri="{BB962C8B-B14F-4D97-AF65-F5344CB8AC3E}">
        <p14:creationId xmlns:p14="http://schemas.microsoft.com/office/powerpoint/2010/main" val="1250240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CE1A97-5034-4007-FC36-C8CCF66FFD60}"/>
              </a:ext>
            </a:extLst>
          </p:cNvPr>
          <p:cNvSpPr>
            <a:spLocks noGrp="1"/>
          </p:cNvSpPr>
          <p:nvPr>
            <p:ph type="title"/>
          </p:nvPr>
        </p:nvSpPr>
        <p:spPr/>
        <p:txBody>
          <a:bodyPr/>
          <a:lstStyle/>
          <a:p>
            <a:r>
              <a:rPr lang="zh-CN" altLang="en-US" dirty="0"/>
              <a:t>面向对象语言发展历史 </a:t>
            </a:r>
            <a:r>
              <a:rPr lang="en-US" altLang="zh-CN" dirty="0"/>
              <a:t>—— Simula</a:t>
            </a:r>
            <a:endParaRPr lang="zh-CN" altLang="en-US" dirty="0"/>
          </a:p>
        </p:txBody>
      </p:sp>
      <p:sp>
        <p:nvSpPr>
          <p:cNvPr id="3" name="内容占位符 2">
            <a:extLst>
              <a:ext uri="{FF2B5EF4-FFF2-40B4-BE49-F238E27FC236}">
                <a16:creationId xmlns:a16="http://schemas.microsoft.com/office/drawing/2014/main" id="{2550F707-F615-4F2B-9A6A-D33C5378D68C}"/>
              </a:ext>
            </a:extLst>
          </p:cNvPr>
          <p:cNvSpPr>
            <a:spLocks noGrp="1"/>
          </p:cNvSpPr>
          <p:nvPr>
            <p:ph idx="1"/>
          </p:nvPr>
        </p:nvSpPr>
        <p:spPr>
          <a:xfrm>
            <a:off x="838200" y="1825624"/>
            <a:ext cx="10515600" cy="5032376"/>
          </a:xfrm>
        </p:spPr>
        <p:txBody>
          <a:bodyPr>
            <a:normAutofit fontScale="92500" lnSpcReduction="10000"/>
          </a:bodyPr>
          <a:lstStyle/>
          <a:p>
            <a:pPr>
              <a:lnSpc>
                <a:spcPct val="110000"/>
              </a:lnSpc>
            </a:pPr>
            <a:r>
              <a:rPr lang="en-US" altLang="zh-CN" dirty="0"/>
              <a:t>Simula 67: </a:t>
            </a:r>
            <a:r>
              <a:rPr lang="zh-CN" altLang="en-US" dirty="0"/>
              <a:t>第一个</a:t>
            </a:r>
            <a:r>
              <a:rPr lang="en-US" altLang="zh-CN" dirty="0"/>
              <a:t>OO</a:t>
            </a:r>
            <a:r>
              <a:rPr lang="zh-CN" altLang="en-US" dirty="0"/>
              <a:t>语言</a:t>
            </a:r>
            <a:endParaRPr lang="en-US" altLang="zh-CN" dirty="0"/>
          </a:p>
          <a:p>
            <a:pPr>
              <a:lnSpc>
                <a:spcPct val="110000"/>
              </a:lnSpc>
            </a:pPr>
            <a:r>
              <a:rPr lang="zh-CN" altLang="en-US" dirty="0"/>
              <a:t>最初用于仿真</a:t>
            </a:r>
            <a:endParaRPr lang="en-US" altLang="zh-CN" dirty="0"/>
          </a:p>
          <a:p>
            <a:pPr lvl="1">
              <a:lnSpc>
                <a:spcPct val="110000"/>
              </a:lnSpc>
            </a:pPr>
            <a:r>
              <a:rPr lang="zh-CN" altLang="en-US" dirty="0"/>
              <a:t>后扩展为通用编程语言</a:t>
            </a:r>
            <a:endParaRPr lang="en-US" altLang="zh-CN" dirty="0"/>
          </a:p>
          <a:p>
            <a:pPr>
              <a:lnSpc>
                <a:spcPct val="110000"/>
              </a:lnSpc>
            </a:pPr>
            <a:r>
              <a:rPr lang="zh-CN" altLang="en-US" dirty="0"/>
              <a:t>基于</a:t>
            </a:r>
            <a:r>
              <a:rPr lang="en-US" altLang="zh-CN" dirty="0"/>
              <a:t>Algol 60</a:t>
            </a:r>
            <a:r>
              <a:rPr lang="zh-CN" altLang="en-US" dirty="0"/>
              <a:t>扩展</a:t>
            </a:r>
            <a:endParaRPr lang="en-US" altLang="zh-CN" dirty="0"/>
          </a:p>
          <a:p>
            <a:pPr>
              <a:lnSpc>
                <a:spcPct val="110000"/>
              </a:lnSpc>
            </a:pPr>
            <a:r>
              <a:rPr lang="en-US" altLang="zh-CN" dirty="0"/>
              <a:t>1977</a:t>
            </a:r>
            <a:r>
              <a:rPr lang="zh-CN" altLang="en-US" dirty="0"/>
              <a:t>年后标准化为</a:t>
            </a:r>
            <a:r>
              <a:rPr lang="en-US" altLang="zh-CN" dirty="0"/>
              <a:t>Simula</a:t>
            </a:r>
            <a:r>
              <a:rPr lang="zh-CN" altLang="en-US" dirty="0"/>
              <a:t>（不再带</a:t>
            </a:r>
            <a:r>
              <a:rPr lang="en-US" altLang="zh-CN" dirty="0"/>
              <a:t>67</a:t>
            </a:r>
            <a:r>
              <a:rPr lang="zh-CN" altLang="en-US" dirty="0"/>
              <a:t>）</a:t>
            </a:r>
            <a:endParaRPr lang="en-US" altLang="zh-CN" dirty="0"/>
          </a:p>
          <a:p>
            <a:pPr>
              <a:lnSpc>
                <a:spcPct val="110000"/>
              </a:lnSpc>
            </a:pPr>
            <a:r>
              <a:rPr lang="zh-CN" altLang="en-US" dirty="0"/>
              <a:t>影响了后续多种语言的设计</a:t>
            </a:r>
            <a:endParaRPr lang="en-US" altLang="zh-CN" dirty="0"/>
          </a:p>
          <a:p>
            <a:pPr lvl="1">
              <a:lnSpc>
                <a:spcPct val="110000"/>
              </a:lnSpc>
            </a:pPr>
            <a:r>
              <a:rPr lang="en-US" altLang="zh-CN" dirty="0"/>
              <a:t>Smalltalk</a:t>
            </a:r>
          </a:p>
          <a:p>
            <a:pPr lvl="1">
              <a:lnSpc>
                <a:spcPct val="110000"/>
              </a:lnSpc>
            </a:pPr>
            <a:r>
              <a:rPr lang="en-US" altLang="zh-CN" dirty="0"/>
              <a:t>C++</a:t>
            </a:r>
          </a:p>
          <a:p>
            <a:pPr lvl="1">
              <a:lnSpc>
                <a:spcPct val="110000"/>
              </a:lnSpc>
            </a:pPr>
            <a:r>
              <a:rPr lang="en-US" altLang="zh-CN" dirty="0"/>
              <a:t>Java</a:t>
            </a:r>
          </a:p>
          <a:p>
            <a:pPr lvl="1">
              <a:lnSpc>
                <a:spcPct val="110000"/>
              </a:lnSpc>
            </a:pPr>
            <a:r>
              <a:rPr lang="en-US" altLang="zh-CN" dirty="0"/>
              <a:t>C#</a:t>
            </a:r>
          </a:p>
          <a:p>
            <a:pPr lvl="1">
              <a:lnSpc>
                <a:spcPct val="110000"/>
              </a:lnSpc>
            </a:pPr>
            <a:r>
              <a:rPr lang="en-US" altLang="zh-CN" dirty="0"/>
              <a:t>…</a:t>
            </a:r>
            <a:endParaRPr lang="zh-CN" altLang="en-US" dirty="0"/>
          </a:p>
        </p:txBody>
      </p:sp>
    </p:spTree>
    <p:extLst>
      <p:ext uri="{BB962C8B-B14F-4D97-AF65-F5344CB8AC3E}">
        <p14:creationId xmlns:p14="http://schemas.microsoft.com/office/powerpoint/2010/main" val="1754099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951C8-F89E-4AA2-0615-5B298500C5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401CEC-1802-F4B0-BEEF-4A275AF27254}"/>
              </a:ext>
            </a:extLst>
          </p:cNvPr>
          <p:cNvSpPr>
            <a:spLocks noGrp="1"/>
          </p:cNvSpPr>
          <p:nvPr>
            <p:ph type="title"/>
          </p:nvPr>
        </p:nvSpPr>
        <p:spPr/>
        <p:txBody>
          <a:bodyPr/>
          <a:lstStyle/>
          <a:p>
            <a:r>
              <a:rPr lang="zh-CN" altLang="en-US" dirty="0"/>
              <a:t>面向对象语言发展历史 </a:t>
            </a:r>
            <a:r>
              <a:rPr lang="en-US" altLang="zh-CN" dirty="0"/>
              <a:t>—— Simula</a:t>
            </a:r>
            <a:endParaRPr lang="zh-CN" altLang="en-US" dirty="0"/>
          </a:p>
        </p:txBody>
      </p:sp>
      <p:sp>
        <p:nvSpPr>
          <p:cNvPr id="3" name="内容占位符 2">
            <a:extLst>
              <a:ext uri="{FF2B5EF4-FFF2-40B4-BE49-F238E27FC236}">
                <a16:creationId xmlns:a16="http://schemas.microsoft.com/office/drawing/2014/main" id="{41E760DF-6DA3-2621-8435-16581182615D}"/>
              </a:ext>
            </a:extLst>
          </p:cNvPr>
          <p:cNvSpPr>
            <a:spLocks noGrp="1"/>
          </p:cNvSpPr>
          <p:nvPr>
            <p:ph idx="1"/>
          </p:nvPr>
        </p:nvSpPr>
        <p:spPr>
          <a:xfrm>
            <a:off x="838200" y="1825624"/>
            <a:ext cx="10515600" cy="5032376"/>
          </a:xfrm>
        </p:spPr>
        <p:txBody>
          <a:bodyPr>
            <a:normAutofit lnSpcReduction="10000"/>
          </a:bodyPr>
          <a:lstStyle/>
          <a:p>
            <a:pPr>
              <a:lnSpc>
                <a:spcPct val="110000"/>
              </a:lnSpc>
            </a:pPr>
            <a:r>
              <a:rPr lang="zh-CN" altLang="en-US" sz="2400" dirty="0"/>
              <a:t>前身：</a:t>
            </a:r>
            <a:r>
              <a:rPr lang="en-US" altLang="zh-CN" sz="2400" dirty="0"/>
              <a:t>Simula-1</a:t>
            </a:r>
          </a:p>
          <a:p>
            <a:pPr lvl="1">
              <a:lnSpc>
                <a:spcPct val="110000"/>
              </a:lnSpc>
            </a:pPr>
            <a:r>
              <a:rPr lang="en-US" altLang="zh-CN" sz="2000" dirty="0"/>
              <a:t>1962</a:t>
            </a:r>
            <a:r>
              <a:rPr lang="zh-CN" altLang="en-US" sz="2000" dirty="0"/>
              <a:t>年发明与挪威计算中心（</a:t>
            </a:r>
            <a:r>
              <a:rPr lang="en-US" altLang="zh-CN" sz="2000" dirty="0"/>
              <a:t>Norwegian Computing Center</a:t>
            </a:r>
            <a:r>
              <a:rPr lang="zh-CN" altLang="en-US" sz="2000" dirty="0"/>
              <a:t>）</a:t>
            </a:r>
            <a:endParaRPr lang="en-US" altLang="zh-CN" sz="2000" dirty="0"/>
          </a:p>
          <a:p>
            <a:r>
              <a:rPr lang="zh-CN" altLang="en-US" sz="2400" dirty="0"/>
              <a:t>发明人</a:t>
            </a:r>
            <a:endParaRPr lang="en-US" altLang="zh-CN" sz="2400" dirty="0"/>
          </a:p>
          <a:p>
            <a:pPr lvl="1"/>
            <a:r>
              <a:rPr lang="en-US" altLang="zh-CN" sz="2000" dirty="0"/>
              <a:t>Ole-Johan Dahl, Bjørn </a:t>
            </a:r>
            <a:r>
              <a:rPr lang="en-US" altLang="zh-CN" sz="2000" dirty="0" err="1"/>
              <a:t>Myhrhaug</a:t>
            </a:r>
            <a:r>
              <a:rPr lang="en-US" altLang="zh-CN" sz="2000" dirty="0"/>
              <a:t>, and Kristen Nygaard </a:t>
            </a:r>
          </a:p>
          <a:p>
            <a:r>
              <a:rPr lang="zh-CN" altLang="en-US" sz="2400" dirty="0"/>
              <a:t>最初设计</a:t>
            </a:r>
            <a:endParaRPr lang="en-US" altLang="zh-CN" sz="2400" dirty="0"/>
          </a:p>
          <a:p>
            <a:pPr lvl="1"/>
            <a:r>
              <a:rPr lang="zh-CN" altLang="en-US" sz="2000" dirty="0"/>
              <a:t>受到</a:t>
            </a:r>
            <a:r>
              <a:rPr lang="en-US" altLang="zh-CN" sz="2000" dirty="0"/>
              <a:t>Tony Hoare</a:t>
            </a:r>
            <a:r>
              <a:rPr lang="zh-CN" altLang="en-US" sz="2000" dirty="0"/>
              <a:t>关于</a:t>
            </a:r>
            <a:r>
              <a:rPr lang="en-US" altLang="zh-CN" sz="2000" dirty="0"/>
              <a:t>data type</a:t>
            </a:r>
            <a:r>
              <a:rPr lang="zh-CN" altLang="en-US" sz="2000" dirty="0"/>
              <a:t>的想法的影响</a:t>
            </a:r>
            <a:endParaRPr lang="en-US" altLang="zh-CN" sz="2000" dirty="0"/>
          </a:p>
          <a:p>
            <a:pPr lvl="1">
              <a:lnSpc>
                <a:spcPct val="110000"/>
              </a:lnSpc>
            </a:pPr>
            <a:r>
              <a:rPr lang="zh-CN" altLang="en-US" sz="2000" dirty="0"/>
              <a:t>在</a:t>
            </a:r>
            <a:r>
              <a:rPr lang="en-US" altLang="zh-CN" sz="2000" dirty="0"/>
              <a:t>Algol 60</a:t>
            </a:r>
            <a:r>
              <a:rPr lang="zh-CN" altLang="en-US" sz="2000" dirty="0"/>
              <a:t>基础上引入类和前缀（</a:t>
            </a:r>
            <a:r>
              <a:rPr lang="en-US" altLang="zh-CN" sz="2000" dirty="0"/>
              <a:t>prefix</a:t>
            </a:r>
            <a:r>
              <a:rPr lang="zh-CN" altLang="en-US" sz="2000" dirty="0"/>
              <a:t>，实现子类型）</a:t>
            </a:r>
            <a:endParaRPr lang="en-US" altLang="zh-CN" sz="2000" dirty="0"/>
          </a:p>
          <a:p>
            <a:pPr>
              <a:lnSpc>
                <a:spcPct val="110000"/>
              </a:lnSpc>
            </a:pPr>
            <a:r>
              <a:rPr lang="en-US" altLang="zh-CN" sz="2400" dirty="0"/>
              <a:t>Nygaard</a:t>
            </a:r>
          </a:p>
          <a:p>
            <a:pPr lvl="1">
              <a:lnSpc>
                <a:spcPct val="110000"/>
              </a:lnSpc>
            </a:pPr>
            <a:r>
              <a:rPr lang="zh-CN" altLang="en-US" sz="2000" dirty="0"/>
              <a:t>运筹学专家、政治活动家</a:t>
            </a:r>
            <a:endParaRPr lang="en-US" altLang="zh-CN" sz="2000" dirty="0"/>
          </a:p>
          <a:p>
            <a:pPr lvl="1">
              <a:lnSpc>
                <a:spcPct val="110000"/>
              </a:lnSpc>
            </a:pPr>
            <a:r>
              <a:rPr lang="zh-CN" altLang="en-US" sz="2000" dirty="0"/>
              <a:t>希望语言能够描述社会和工业系统，希望普通人也能理解政治系统的变化</a:t>
            </a:r>
            <a:endParaRPr lang="en-US" altLang="zh-CN" sz="2000" dirty="0"/>
          </a:p>
          <a:p>
            <a:pPr>
              <a:lnSpc>
                <a:spcPct val="110000"/>
              </a:lnSpc>
            </a:pPr>
            <a:r>
              <a:rPr lang="en-US" altLang="zh-CN" sz="2400" dirty="0" err="1"/>
              <a:t>Myhrhaug</a:t>
            </a:r>
            <a:r>
              <a:rPr lang="en-US" altLang="zh-CN" sz="2400" dirty="0"/>
              <a:t> </a:t>
            </a:r>
            <a:r>
              <a:rPr lang="zh-CN" altLang="en-US" sz="2400" dirty="0"/>
              <a:t>和 </a:t>
            </a:r>
            <a:r>
              <a:rPr lang="en-US" altLang="zh-CN" sz="2400" dirty="0"/>
              <a:t>Nygaard</a:t>
            </a:r>
          </a:p>
          <a:p>
            <a:pPr lvl="1">
              <a:lnSpc>
                <a:spcPct val="110000"/>
              </a:lnSpc>
            </a:pPr>
            <a:r>
              <a:rPr lang="zh-CN" altLang="en-US" sz="2000" dirty="0"/>
              <a:t>计算机专家，关心通用编程</a:t>
            </a:r>
            <a:endParaRPr lang="en-US" altLang="zh-CN" sz="2000" dirty="0"/>
          </a:p>
        </p:txBody>
      </p:sp>
    </p:spTree>
    <p:extLst>
      <p:ext uri="{BB962C8B-B14F-4D97-AF65-F5344CB8AC3E}">
        <p14:creationId xmlns:p14="http://schemas.microsoft.com/office/powerpoint/2010/main" val="407203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BA612C-92E5-2ED9-754A-83415A8CEB88}"/>
              </a:ext>
            </a:extLst>
          </p:cNvPr>
          <p:cNvSpPr>
            <a:spLocks noGrp="1"/>
          </p:cNvSpPr>
          <p:nvPr>
            <p:ph type="title"/>
          </p:nvPr>
        </p:nvSpPr>
        <p:spPr/>
        <p:txBody>
          <a:bodyPr/>
          <a:lstStyle/>
          <a:p>
            <a:r>
              <a:rPr lang="en-US" altLang="zh-CN" dirty="0"/>
              <a:t>Simula</a:t>
            </a:r>
            <a:r>
              <a:rPr lang="zh-CN" altLang="en-US" dirty="0"/>
              <a:t>中的面向对象设计</a:t>
            </a:r>
          </a:p>
        </p:txBody>
      </p:sp>
      <p:sp>
        <p:nvSpPr>
          <p:cNvPr id="3" name="内容占位符 2">
            <a:extLst>
              <a:ext uri="{FF2B5EF4-FFF2-40B4-BE49-F238E27FC236}">
                <a16:creationId xmlns:a16="http://schemas.microsoft.com/office/drawing/2014/main" id="{379D3A24-7244-1800-3B94-043C0EA78D74}"/>
              </a:ext>
            </a:extLst>
          </p:cNvPr>
          <p:cNvSpPr>
            <a:spLocks noGrp="1"/>
          </p:cNvSpPr>
          <p:nvPr>
            <p:ph idx="1"/>
          </p:nvPr>
        </p:nvSpPr>
        <p:spPr/>
        <p:txBody>
          <a:bodyPr/>
          <a:lstStyle/>
          <a:p>
            <a:r>
              <a:rPr lang="zh-CN" altLang="en-US" dirty="0"/>
              <a:t>类：返回其活动记录指针的</a:t>
            </a:r>
            <a:r>
              <a:rPr lang="zh-CN" altLang="en-US" b="1" dirty="0">
                <a:solidFill>
                  <a:srgbClr val="FF0000"/>
                </a:solidFill>
              </a:rPr>
              <a:t>函数</a:t>
            </a:r>
            <a:r>
              <a:rPr lang="zh-CN" altLang="en-US" dirty="0"/>
              <a:t>（过程）</a:t>
            </a:r>
            <a:endParaRPr lang="en-US" altLang="zh-CN" dirty="0"/>
          </a:p>
          <a:p>
            <a:r>
              <a:rPr lang="zh-CN" altLang="en-US" dirty="0"/>
              <a:t>对象</a:t>
            </a:r>
            <a:endParaRPr lang="en-US" altLang="zh-CN" dirty="0"/>
          </a:p>
          <a:p>
            <a:pPr lvl="1"/>
            <a:r>
              <a:rPr lang="zh-CN" altLang="en-US" dirty="0"/>
              <a:t>每次调用类之后产生的活动记录</a:t>
            </a:r>
            <a:endParaRPr lang="en-US" altLang="zh-CN" dirty="0"/>
          </a:p>
          <a:p>
            <a:r>
              <a:rPr lang="zh-CN" altLang="en-US" dirty="0"/>
              <a:t>对象访问</a:t>
            </a:r>
            <a:endParaRPr lang="en-US" altLang="zh-CN" dirty="0"/>
          </a:p>
          <a:p>
            <a:pPr lvl="1"/>
            <a:r>
              <a:rPr lang="zh-CN" altLang="en-US" dirty="0"/>
              <a:t>用“点运算符”（</a:t>
            </a:r>
            <a:r>
              <a:rPr lang="en-US" altLang="zh-CN" dirty="0"/>
              <a:t>dot notation</a:t>
            </a:r>
            <a:r>
              <a:rPr lang="zh-CN" altLang="en-US" dirty="0"/>
              <a:t>）访问对象的成员变量</a:t>
            </a:r>
            <a:r>
              <a:rPr lang="en-US" altLang="zh-CN" dirty="0"/>
              <a:t>/</a:t>
            </a:r>
            <a:r>
              <a:rPr lang="zh-CN" altLang="en-US" dirty="0"/>
              <a:t>函数</a:t>
            </a:r>
            <a:endParaRPr lang="en-US" altLang="zh-CN" dirty="0"/>
          </a:p>
          <a:p>
            <a:pPr lvl="1"/>
            <a:r>
              <a:rPr lang="en-US" altLang="zh-CN" dirty="0" err="1"/>
              <a:t>o.var</a:t>
            </a:r>
            <a:endParaRPr lang="en-US" altLang="zh-CN" dirty="0"/>
          </a:p>
          <a:p>
            <a:r>
              <a:rPr lang="zh-CN" altLang="en-US" dirty="0"/>
              <a:t>内存管理</a:t>
            </a:r>
            <a:endParaRPr lang="en-US" altLang="zh-CN" dirty="0"/>
          </a:p>
          <a:p>
            <a:pPr lvl="1"/>
            <a:r>
              <a:rPr lang="zh-CN" altLang="en-US" dirty="0"/>
              <a:t>采用垃圾收集来自动管理</a:t>
            </a:r>
          </a:p>
        </p:txBody>
      </p:sp>
    </p:spTree>
    <p:extLst>
      <p:ext uri="{BB962C8B-B14F-4D97-AF65-F5344CB8AC3E}">
        <p14:creationId xmlns:p14="http://schemas.microsoft.com/office/powerpoint/2010/main" val="1702280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3F7F466-CA39-9E94-CD22-087C4021EAB2}"/>
              </a:ext>
            </a:extLst>
          </p:cNvPr>
          <p:cNvPicPr>
            <a:picLocks noChangeAspect="1"/>
          </p:cNvPicPr>
          <p:nvPr/>
        </p:nvPicPr>
        <p:blipFill>
          <a:blip r:embed="rId2"/>
          <a:stretch>
            <a:fillRect/>
          </a:stretch>
        </p:blipFill>
        <p:spPr>
          <a:xfrm>
            <a:off x="1585597" y="838200"/>
            <a:ext cx="10554986" cy="5996940"/>
          </a:xfrm>
          <a:prstGeom prst="rect">
            <a:avLst/>
          </a:prstGeom>
        </p:spPr>
      </p:pic>
      <p:sp>
        <p:nvSpPr>
          <p:cNvPr id="2" name="标题 1">
            <a:extLst>
              <a:ext uri="{FF2B5EF4-FFF2-40B4-BE49-F238E27FC236}">
                <a16:creationId xmlns:a16="http://schemas.microsoft.com/office/drawing/2014/main" id="{7AD1E908-4D07-1A2A-2AA0-AC172892945A}"/>
              </a:ext>
            </a:extLst>
          </p:cNvPr>
          <p:cNvSpPr>
            <a:spLocks noGrp="1"/>
          </p:cNvSpPr>
          <p:nvPr>
            <p:ph type="title"/>
          </p:nvPr>
        </p:nvSpPr>
        <p:spPr/>
        <p:txBody>
          <a:bodyPr/>
          <a:lstStyle/>
          <a:p>
            <a:r>
              <a:rPr lang="zh-CN" altLang="en-US" dirty="0"/>
              <a:t>示例</a:t>
            </a:r>
          </a:p>
        </p:txBody>
      </p:sp>
      <p:sp>
        <p:nvSpPr>
          <p:cNvPr id="6" name="矩形: 圆角 5">
            <a:extLst>
              <a:ext uri="{FF2B5EF4-FFF2-40B4-BE49-F238E27FC236}">
                <a16:creationId xmlns:a16="http://schemas.microsoft.com/office/drawing/2014/main" id="{6F07D212-1FEE-447B-FD26-66F05E777EDF}"/>
              </a:ext>
            </a:extLst>
          </p:cNvPr>
          <p:cNvSpPr/>
          <p:nvPr/>
        </p:nvSpPr>
        <p:spPr>
          <a:xfrm>
            <a:off x="2240280" y="838200"/>
            <a:ext cx="708660" cy="449580"/>
          </a:xfrm>
          <a:prstGeom prst="roundRect">
            <a:avLst/>
          </a:prstGeom>
          <a:solidFill>
            <a:schemeClr val="accent1">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对话气泡: 圆角矩形 6">
            <a:extLst>
              <a:ext uri="{FF2B5EF4-FFF2-40B4-BE49-F238E27FC236}">
                <a16:creationId xmlns:a16="http://schemas.microsoft.com/office/drawing/2014/main" id="{A368CD8F-F6E0-DD8A-FC23-74FB3A33566A}"/>
              </a:ext>
            </a:extLst>
          </p:cNvPr>
          <p:cNvSpPr/>
          <p:nvPr/>
        </p:nvSpPr>
        <p:spPr>
          <a:xfrm>
            <a:off x="3040380" y="167323"/>
            <a:ext cx="1127760" cy="419100"/>
          </a:xfrm>
          <a:prstGeom prst="wedgeRoundRectCallout">
            <a:avLst>
              <a:gd name="adj1" fmla="val -49257"/>
              <a:gd name="adj2" fmla="val 106136"/>
              <a:gd name="adj3" fmla="val 1666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FF0000"/>
                </a:solidFill>
              </a:rPr>
              <a:t>func</a:t>
            </a:r>
            <a:endParaRPr lang="zh-CN" altLang="en-US" b="1" dirty="0">
              <a:solidFill>
                <a:srgbClr val="FF0000"/>
              </a:solidFill>
            </a:endParaRPr>
          </a:p>
        </p:txBody>
      </p:sp>
    </p:spTree>
    <p:extLst>
      <p:ext uri="{BB962C8B-B14F-4D97-AF65-F5344CB8AC3E}">
        <p14:creationId xmlns:p14="http://schemas.microsoft.com/office/powerpoint/2010/main" val="505426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BBBF1F-D320-105B-6AB3-AE9E3F318DC8}"/>
              </a:ext>
            </a:extLst>
          </p:cNvPr>
          <p:cNvSpPr>
            <a:spLocks noGrp="1"/>
          </p:cNvSpPr>
          <p:nvPr>
            <p:ph type="title"/>
          </p:nvPr>
        </p:nvSpPr>
        <p:spPr/>
        <p:txBody>
          <a:bodyPr/>
          <a:lstStyle/>
          <a:p>
            <a:r>
              <a:rPr lang="zh-CN" altLang="en-US" dirty="0"/>
              <a:t>对象格式</a:t>
            </a:r>
          </a:p>
        </p:txBody>
      </p:sp>
      <p:pic>
        <p:nvPicPr>
          <p:cNvPr id="5" name="图片 4">
            <a:extLst>
              <a:ext uri="{FF2B5EF4-FFF2-40B4-BE49-F238E27FC236}">
                <a16:creationId xmlns:a16="http://schemas.microsoft.com/office/drawing/2014/main" id="{F4FA534C-E993-B72D-2C88-AE43DD3ABA7B}"/>
              </a:ext>
            </a:extLst>
          </p:cNvPr>
          <p:cNvPicPr>
            <a:picLocks noChangeAspect="1"/>
          </p:cNvPicPr>
          <p:nvPr/>
        </p:nvPicPr>
        <p:blipFill>
          <a:blip r:embed="rId2"/>
          <a:stretch>
            <a:fillRect/>
          </a:stretch>
        </p:blipFill>
        <p:spPr>
          <a:xfrm>
            <a:off x="1047713" y="1776400"/>
            <a:ext cx="10096574" cy="3305199"/>
          </a:xfrm>
          <a:prstGeom prst="rect">
            <a:avLst/>
          </a:prstGeom>
        </p:spPr>
      </p:pic>
      <p:sp>
        <p:nvSpPr>
          <p:cNvPr id="6" name="文本框 5">
            <a:extLst>
              <a:ext uri="{FF2B5EF4-FFF2-40B4-BE49-F238E27FC236}">
                <a16:creationId xmlns:a16="http://schemas.microsoft.com/office/drawing/2014/main" id="{4D8E3DB1-B34D-4CD6-5654-186362B8C18E}"/>
              </a:ext>
            </a:extLst>
          </p:cNvPr>
          <p:cNvSpPr txBox="1"/>
          <p:nvPr/>
        </p:nvSpPr>
        <p:spPr>
          <a:xfrm>
            <a:off x="1455420" y="5308341"/>
            <a:ext cx="413766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对象</a:t>
            </a:r>
            <a:r>
              <a:rPr lang="zh-CN" altLang="en-US" sz="2400" dirty="0">
                <a:latin typeface="微软雅黑" panose="020B0503020204020204" pitchFamily="34" charset="-122"/>
                <a:ea typeface="微软雅黑" panose="020B0503020204020204" pitchFamily="34" charset="-122"/>
              </a:rPr>
              <a:t> 和 </a:t>
            </a:r>
            <a:r>
              <a:rPr lang="zh-CN" altLang="en-US" sz="2400" b="1" dirty="0">
                <a:latin typeface="微软雅黑" panose="020B0503020204020204" pitchFamily="34" charset="-122"/>
                <a:ea typeface="微软雅黑" panose="020B0503020204020204" pitchFamily="34" charset="-122"/>
              </a:rPr>
              <a:t>闭包</a:t>
            </a:r>
            <a:r>
              <a:rPr lang="zh-CN" altLang="en-US" sz="2400" dirty="0">
                <a:latin typeface="微软雅黑" panose="020B0503020204020204" pitchFamily="34" charset="-122"/>
                <a:ea typeface="微软雅黑" panose="020B0503020204020204" pitchFamily="34" charset="-122"/>
              </a:rPr>
              <a:t> 的关系</a:t>
            </a:r>
          </a:p>
        </p:txBody>
      </p:sp>
      <p:sp>
        <p:nvSpPr>
          <p:cNvPr id="7" name="文本框 6">
            <a:extLst>
              <a:ext uri="{FF2B5EF4-FFF2-40B4-BE49-F238E27FC236}">
                <a16:creationId xmlns:a16="http://schemas.microsoft.com/office/drawing/2014/main" id="{ED933DAD-BBF3-32F9-8B44-39AF1ECBAC3D}"/>
              </a:ext>
            </a:extLst>
          </p:cNvPr>
          <p:cNvSpPr txBox="1"/>
          <p:nvPr/>
        </p:nvSpPr>
        <p:spPr>
          <a:xfrm>
            <a:off x="2438400" y="5875020"/>
            <a:ext cx="4137660"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对象为活动记录</a:t>
            </a:r>
          </a:p>
        </p:txBody>
      </p:sp>
      <p:sp>
        <p:nvSpPr>
          <p:cNvPr id="8" name="文本框 7">
            <a:extLst>
              <a:ext uri="{FF2B5EF4-FFF2-40B4-BE49-F238E27FC236}">
                <a16:creationId xmlns:a16="http://schemas.microsoft.com/office/drawing/2014/main" id="{7120C25D-780F-D6C9-8EF1-711CC2CD504F}"/>
              </a:ext>
            </a:extLst>
          </p:cNvPr>
          <p:cNvSpPr txBox="1"/>
          <p:nvPr/>
        </p:nvSpPr>
        <p:spPr>
          <a:xfrm>
            <a:off x="2442210" y="6275130"/>
            <a:ext cx="4137660" cy="400110"/>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rPr>
              <a:t>Access link</a:t>
            </a:r>
            <a:r>
              <a:rPr lang="zh-CN" altLang="en-US" sz="2000" dirty="0">
                <a:latin typeface="微软雅黑" panose="020B0503020204020204" pitchFamily="34" charset="-122"/>
                <a:ea typeface="微软雅黑" panose="020B0503020204020204" pitchFamily="34" charset="-122"/>
              </a:rPr>
              <a:t>用于访问全局变量</a:t>
            </a:r>
          </a:p>
        </p:txBody>
      </p:sp>
    </p:spTree>
    <p:extLst>
      <p:ext uri="{BB962C8B-B14F-4D97-AF65-F5344CB8AC3E}">
        <p14:creationId xmlns:p14="http://schemas.microsoft.com/office/powerpoint/2010/main" val="3909808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A9584BC-DB45-A9ED-C24C-7F79ADD0351D}"/>
              </a:ext>
            </a:extLst>
          </p:cNvPr>
          <p:cNvPicPr>
            <a:picLocks noChangeAspect="1"/>
          </p:cNvPicPr>
          <p:nvPr/>
        </p:nvPicPr>
        <p:blipFill>
          <a:blip r:embed="rId3"/>
          <a:stretch>
            <a:fillRect/>
          </a:stretch>
        </p:blipFill>
        <p:spPr>
          <a:xfrm>
            <a:off x="1488276" y="1249681"/>
            <a:ext cx="10566564" cy="5661660"/>
          </a:xfrm>
          <a:prstGeom prst="rect">
            <a:avLst/>
          </a:prstGeom>
        </p:spPr>
      </p:pic>
      <p:sp>
        <p:nvSpPr>
          <p:cNvPr id="2" name="标题 1">
            <a:extLst>
              <a:ext uri="{FF2B5EF4-FFF2-40B4-BE49-F238E27FC236}">
                <a16:creationId xmlns:a16="http://schemas.microsoft.com/office/drawing/2014/main" id="{914F35C9-DE22-BA66-B006-895E8D408347}"/>
              </a:ext>
            </a:extLst>
          </p:cNvPr>
          <p:cNvSpPr>
            <a:spLocks noGrp="1"/>
          </p:cNvSpPr>
          <p:nvPr>
            <p:ph type="title"/>
          </p:nvPr>
        </p:nvSpPr>
        <p:spPr/>
        <p:txBody>
          <a:bodyPr/>
          <a:lstStyle/>
          <a:p>
            <a:r>
              <a:rPr lang="zh-CN" altLang="en-US" dirty="0"/>
              <a:t>实例</a:t>
            </a:r>
            <a:r>
              <a:rPr lang="en-US" altLang="zh-CN" dirty="0"/>
              <a:t>2</a:t>
            </a:r>
            <a:endParaRPr lang="zh-CN" altLang="en-US" dirty="0"/>
          </a:p>
        </p:txBody>
      </p:sp>
      <p:sp>
        <p:nvSpPr>
          <p:cNvPr id="6" name="矩形: 圆角 5">
            <a:extLst>
              <a:ext uri="{FF2B5EF4-FFF2-40B4-BE49-F238E27FC236}">
                <a16:creationId xmlns:a16="http://schemas.microsoft.com/office/drawing/2014/main" id="{E5F582FB-D8EF-91AB-FD8C-8747C69BE211}"/>
              </a:ext>
            </a:extLst>
          </p:cNvPr>
          <p:cNvSpPr/>
          <p:nvPr/>
        </p:nvSpPr>
        <p:spPr>
          <a:xfrm>
            <a:off x="9669780" y="5059680"/>
            <a:ext cx="2385060" cy="1325563"/>
          </a:xfrm>
          <a:prstGeom prst="roundRect">
            <a:avLst/>
          </a:prstGeom>
          <a:solidFill>
            <a:schemeClr val="accent1">
              <a:alpha val="3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97529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C08911-07D6-6A75-2BAF-CF6A98C6CB8C}"/>
              </a:ext>
            </a:extLst>
          </p:cNvPr>
          <p:cNvSpPr>
            <a:spLocks noGrp="1"/>
          </p:cNvSpPr>
          <p:nvPr>
            <p:ph type="title"/>
          </p:nvPr>
        </p:nvSpPr>
        <p:spPr/>
        <p:txBody>
          <a:bodyPr/>
          <a:lstStyle/>
          <a:p>
            <a:r>
              <a:rPr lang="en-US" altLang="zh-CN" dirty="0"/>
              <a:t>Simula</a:t>
            </a:r>
            <a:r>
              <a:rPr lang="zh-CN" altLang="en-US" dirty="0"/>
              <a:t>中的继承</a:t>
            </a:r>
          </a:p>
        </p:txBody>
      </p:sp>
      <p:sp>
        <p:nvSpPr>
          <p:cNvPr id="3" name="内容占位符 2">
            <a:extLst>
              <a:ext uri="{FF2B5EF4-FFF2-40B4-BE49-F238E27FC236}">
                <a16:creationId xmlns:a16="http://schemas.microsoft.com/office/drawing/2014/main" id="{8DE3C0AE-DE20-B1FE-C1BF-8A6A9D0F7693}"/>
              </a:ext>
            </a:extLst>
          </p:cNvPr>
          <p:cNvSpPr>
            <a:spLocks noGrp="1"/>
          </p:cNvSpPr>
          <p:nvPr>
            <p:ph idx="1"/>
          </p:nvPr>
        </p:nvSpPr>
        <p:spPr/>
        <p:txBody>
          <a:bodyPr/>
          <a:lstStyle/>
          <a:p>
            <a:r>
              <a:rPr lang="zh-CN" altLang="en-US" dirty="0"/>
              <a:t>类的声明前面可以加上父类的名字作为前缀</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子类的对象是父类对象和子类对象自身的拼接</a:t>
            </a:r>
          </a:p>
        </p:txBody>
      </p:sp>
      <p:pic>
        <p:nvPicPr>
          <p:cNvPr id="5" name="图片 4">
            <a:extLst>
              <a:ext uri="{FF2B5EF4-FFF2-40B4-BE49-F238E27FC236}">
                <a16:creationId xmlns:a16="http://schemas.microsoft.com/office/drawing/2014/main" id="{FB4C0A9C-8C00-8AB1-9330-B798F036AFB7}"/>
              </a:ext>
            </a:extLst>
          </p:cNvPr>
          <p:cNvPicPr>
            <a:picLocks noChangeAspect="1"/>
          </p:cNvPicPr>
          <p:nvPr/>
        </p:nvPicPr>
        <p:blipFill>
          <a:blip r:embed="rId2"/>
          <a:stretch>
            <a:fillRect/>
          </a:stretch>
        </p:blipFill>
        <p:spPr>
          <a:xfrm>
            <a:off x="3307079" y="2398386"/>
            <a:ext cx="6589423" cy="2130415"/>
          </a:xfrm>
          <a:prstGeom prst="rect">
            <a:avLst/>
          </a:prstGeom>
        </p:spPr>
      </p:pic>
      <p:pic>
        <p:nvPicPr>
          <p:cNvPr id="7" name="图片 6">
            <a:extLst>
              <a:ext uri="{FF2B5EF4-FFF2-40B4-BE49-F238E27FC236}">
                <a16:creationId xmlns:a16="http://schemas.microsoft.com/office/drawing/2014/main" id="{96C0B98E-A6C0-79F9-4045-99850B864536}"/>
              </a:ext>
            </a:extLst>
          </p:cNvPr>
          <p:cNvPicPr>
            <a:picLocks noChangeAspect="1"/>
          </p:cNvPicPr>
          <p:nvPr/>
        </p:nvPicPr>
        <p:blipFill>
          <a:blip r:embed="rId3"/>
          <a:stretch>
            <a:fillRect/>
          </a:stretch>
        </p:blipFill>
        <p:spPr>
          <a:xfrm>
            <a:off x="3185160" y="5395027"/>
            <a:ext cx="7275225" cy="1354697"/>
          </a:xfrm>
          <a:prstGeom prst="rect">
            <a:avLst/>
          </a:prstGeom>
        </p:spPr>
      </p:pic>
    </p:spTree>
    <p:extLst>
      <p:ext uri="{BB962C8B-B14F-4D97-AF65-F5344CB8AC3E}">
        <p14:creationId xmlns:p14="http://schemas.microsoft.com/office/powerpoint/2010/main" val="3128715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B54A2B-A52B-E9BA-0CA1-9C2D99748E80}"/>
              </a:ext>
            </a:extLst>
          </p:cNvPr>
          <p:cNvSpPr>
            <a:spLocks noGrp="1"/>
          </p:cNvSpPr>
          <p:nvPr>
            <p:ph type="title"/>
          </p:nvPr>
        </p:nvSpPr>
        <p:spPr/>
        <p:txBody>
          <a:bodyPr/>
          <a:lstStyle/>
          <a:p>
            <a:r>
              <a:rPr lang="en-US" altLang="zh-CN" dirty="0"/>
              <a:t>Simula</a:t>
            </a:r>
            <a:r>
              <a:rPr lang="zh-CN" altLang="en-US" dirty="0"/>
              <a:t>主要特性总结</a:t>
            </a:r>
          </a:p>
        </p:txBody>
      </p:sp>
      <p:sp>
        <p:nvSpPr>
          <p:cNvPr id="3" name="内容占位符 2">
            <a:extLst>
              <a:ext uri="{FF2B5EF4-FFF2-40B4-BE49-F238E27FC236}">
                <a16:creationId xmlns:a16="http://schemas.microsoft.com/office/drawing/2014/main" id="{7CF764EB-25AE-B44B-AE04-9AEA59416288}"/>
              </a:ext>
            </a:extLst>
          </p:cNvPr>
          <p:cNvSpPr>
            <a:spLocks noGrp="1"/>
          </p:cNvSpPr>
          <p:nvPr>
            <p:ph idx="1"/>
          </p:nvPr>
        </p:nvSpPr>
        <p:spPr/>
        <p:txBody>
          <a:bodyPr/>
          <a:lstStyle/>
          <a:p>
            <a:r>
              <a:rPr lang="zh-CN" altLang="en-US" dirty="0"/>
              <a:t>类、对象、继承（</a:t>
            </a:r>
            <a:r>
              <a:rPr lang="en-US" altLang="zh-CN" dirty="0"/>
              <a:t>prefixing</a:t>
            </a:r>
            <a:r>
              <a:rPr lang="zh-CN" altLang="en-US" dirty="0"/>
              <a:t>）、子类型、虚方法（</a:t>
            </a:r>
            <a:r>
              <a:rPr lang="en-US" altLang="zh-CN" dirty="0"/>
              <a:t>virtual methods</a:t>
            </a:r>
            <a:r>
              <a:rPr lang="zh-CN" altLang="en-US" dirty="0"/>
              <a:t>）</a:t>
            </a:r>
            <a:r>
              <a:rPr lang="en-US" altLang="zh-CN" dirty="0"/>
              <a:t>…</a:t>
            </a:r>
          </a:p>
          <a:p>
            <a:r>
              <a:rPr lang="zh-CN" altLang="en-US" dirty="0"/>
              <a:t>协程（</a:t>
            </a:r>
            <a:r>
              <a:rPr lang="en-US" altLang="zh-CN" dirty="0"/>
              <a:t>Coroutine</a:t>
            </a:r>
            <a:r>
              <a:rPr lang="zh-CN" altLang="en-US" dirty="0"/>
              <a:t>）</a:t>
            </a:r>
            <a:endParaRPr lang="en-US" altLang="zh-CN" dirty="0"/>
          </a:p>
          <a:p>
            <a:r>
              <a:rPr lang="zh-CN" altLang="en-US" dirty="0"/>
              <a:t>垃圾收集（</a:t>
            </a:r>
            <a:r>
              <a:rPr lang="en-US" altLang="zh-CN" dirty="0"/>
              <a:t>GC</a:t>
            </a:r>
            <a:r>
              <a:rPr lang="zh-CN" altLang="en-US" dirty="0"/>
              <a:t>）</a:t>
            </a:r>
            <a:endParaRPr lang="en-US" altLang="zh-CN" dirty="0"/>
          </a:p>
          <a:p>
            <a:endParaRPr lang="en-US" altLang="zh-CN" dirty="0"/>
          </a:p>
          <a:p>
            <a:r>
              <a:rPr lang="zh-CN" altLang="en-US" dirty="0"/>
              <a:t>缺失特性</a:t>
            </a:r>
            <a:endParaRPr lang="en-US" altLang="zh-CN" dirty="0"/>
          </a:p>
          <a:p>
            <a:pPr lvl="1"/>
            <a:r>
              <a:rPr lang="zh-CN" altLang="en-US" dirty="0"/>
              <a:t>封装、</a:t>
            </a:r>
            <a:r>
              <a:rPr lang="en-US" altLang="zh-CN" dirty="0"/>
              <a:t>self/super</a:t>
            </a:r>
            <a:r>
              <a:rPr lang="zh-CN" altLang="en-US" dirty="0"/>
              <a:t>、类成员变量（静态变量）、异常</a:t>
            </a:r>
            <a:endParaRPr lang="en-US" altLang="zh-CN" dirty="0"/>
          </a:p>
          <a:p>
            <a:endParaRPr lang="zh-CN" altLang="en-US" dirty="0"/>
          </a:p>
        </p:txBody>
      </p:sp>
    </p:spTree>
    <p:extLst>
      <p:ext uri="{BB962C8B-B14F-4D97-AF65-F5344CB8AC3E}">
        <p14:creationId xmlns:p14="http://schemas.microsoft.com/office/powerpoint/2010/main" val="928803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E1F9A-F496-D06E-1952-2126551A8C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8F695F-E156-970B-B7E7-94032A0DA8D1}"/>
              </a:ext>
            </a:extLst>
          </p:cNvPr>
          <p:cNvSpPr>
            <a:spLocks noGrp="1"/>
          </p:cNvSpPr>
          <p:nvPr>
            <p:ph type="title"/>
          </p:nvPr>
        </p:nvSpPr>
        <p:spPr/>
        <p:txBody>
          <a:bodyPr/>
          <a:lstStyle/>
          <a:p>
            <a:r>
              <a:rPr lang="zh-CN" altLang="en-US" dirty="0"/>
              <a:t>面向对象语言发展历史 </a:t>
            </a:r>
            <a:r>
              <a:rPr lang="en-US" altLang="zh-CN" dirty="0"/>
              <a:t>—— Smalltalk</a:t>
            </a:r>
            <a:endParaRPr lang="zh-CN" altLang="en-US" dirty="0"/>
          </a:p>
        </p:txBody>
      </p:sp>
      <p:sp>
        <p:nvSpPr>
          <p:cNvPr id="3" name="内容占位符 2">
            <a:extLst>
              <a:ext uri="{FF2B5EF4-FFF2-40B4-BE49-F238E27FC236}">
                <a16:creationId xmlns:a16="http://schemas.microsoft.com/office/drawing/2014/main" id="{31DDC5F1-74A0-D499-78DA-D6259C056ADA}"/>
              </a:ext>
            </a:extLst>
          </p:cNvPr>
          <p:cNvSpPr>
            <a:spLocks noGrp="1"/>
          </p:cNvSpPr>
          <p:nvPr>
            <p:ph idx="1"/>
          </p:nvPr>
        </p:nvSpPr>
        <p:spPr>
          <a:xfrm>
            <a:off x="838200" y="1825624"/>
            <a:ext cx="10515600" cy="5032376"/>
          </a:xfrm>
        </p:spPr>
        <p:txBody>
          <a:bodyPr>
            <a:normAutofit/>
          </a:bodyPr>
          <a:lstStyle/>
          <a:p>
            <a:pPr>
              <a:lnSpc>
                <a:spcPct val="110000"/>
              </a:lnSpc>
            </a:pPr>
            <a:r>
              <a:rPr lang="zh-CN" altLang="en-US" dirty="0"/>
              <a:t>首次提出面向对象概念</a:t>
            </a:r>
            <a:endParaRPr lang="en-US" altLang="zh-CN" dirty="0"/>
          </a:p>
          <a:p>
            <a:r>
              <a:rPr lang="zh-CN" altLang="en-US" dirty="0"/>
              <a:t>在</a:t>
            </a:r>
            <a:r>
              <a:rPr lang="en-US" altLang="zh-CN" dirty="0"/>
              <a:t>Xerox PARC </a:t>
            </a:r>
            <a:r>
              <a:rPr lang="zh-CN" altLang="en-US" dirty="0"/>
              <a:t>开发</a:t>
            </a:r>
            <a:endParaRPr lang="en-US" altLang="zh-CN" dirty="0"/>
          </a:p>
          <a:p>
            <a:pPr>
              <a:lnSpc>
                <a:spcPct val="110000"/>
              </a:lnSpc>
            </a:pPr>
            <a:r>
              <a:rPr lang="zh-CN" altLang="en-US" dirty="0"/>
              <a:t>纯面向对象语言，一切皆对象</a:t>
            </a:r>
            <a:endParaRPr lang="en-US" altLang="zh-CN" dirty="0"/>
          </a:p>
          <a:p>
            <a:pPr lvl="1">
              <a:lnSpc>
                <a:spcPct val="110000"/>
              </a:lnSpc>
            </a:pPr>
            <a:r>
              <a:rPr lang="zh-CN" altLang="en-US" dirty="0"/>
              <a:t>类（</a:t>
            </a:r>
            <a:r>
              <a:rPr lang="en-US" altLang="zh-CN" dirty="0"/>
              <a:t>class</a:t>
            </a:r>
            <a:r>
              <a:rPr lang="zh-CN" altLang="en-US" dirty="0"/>
              <a:t>）也是对象</a:t>
            </a:r>
            <a:endParaRPr lang="en-US" altLang="zh-CN" dirty="0"/>
          </a:p>
          <a:p>
            <a:pPr lvl="1">
              <a:lnSpc>
                <a:spcPct val="110000"/>
              </a:lnSpc>
            </a:pPr>
            <a:r>
              <a:rPr lang="zh-CN" altLang="en-US" dirty="0"/>
              <a:t>所有操作变现为“向对象发送消息”</a:t>
            </a:r>
            <a:endParaRPr lang="en-US" altLang="zh-CN" dirty="0"/>
          </a:p>
          <a:p>
            <a:pPr lvl="1">
              <a:lnSpc>
                <a:spcPct val="110000"/>
              </a:lnSpc>
            </a:pPr>
            <a:r>
              <a:rPr lang="zh-CN" altLang="en-US" dirty="0"/>
              <a:t>非常灵活和强大</a:t>
            </a:r>
            <a:endParaRPr lang="en-US" altLang="zh-CN" dirty="0"/>
          </a:p>
          <a:p>
            <a:pPr lvl="2">
              <a:lnSpc>
                <a:spcPct val="110000"/>
              </a:lnSpc>
            </a:pPr>
            <a:r>
              <a:rPr lang="zh-CN" altLang="en-US" dirty="0"/>
              <a:t>类似于</a:t>
            </a:r>
            <a:r>
              <a:rPr lang="en-US" altLang="zh-CN" dirty="0"/>
              <a:t>Lisp</a:t>
            </a:r>
            <a:r>
              <a:rPr lang="zh-CN" altLang="en-US" dirty="0"/>
              <a:t>的“一切皆</a:t>
            </a:r>
            <a:r>
              <a:rPr lang="en-US" altLang="zh-CN" dirty="0"/>
              <a:t>list</a:t>
            </a:r>
            <a:r>
              <a:rPr lang="zh-CN" altLang="en-US" dirty="0"/>
              <a:t>”的思想，但更加强大</a:t>
            </a:r>
            <a:endParaRPr lang="en-US" altLang="zh-CN" dirty="0"/>
          </a:p>
          <a:p>
            <a:pPr lvl="2">
              <a:lnSpc>
                <a:spcPct val="110000"/>
              </a:lnSpc>
            </a:pPr>
            <a:r>
              <a:rPr lang="zh-CN" altLang="en-US" dirty="0"/>
              <a:t>例如：对象能够发现它收到一条自己不能理解的消息（不支持的消息</a:t>
            </a:r>
            <a:r>
              <a:rPr lang="en-US" altLang="zh-CN" dirty="0"/>
              <a:t>/</a:t>
            </a:r>
            <a:r>
              <a:rPr lang="zh-CN" altLang="en-US" dirty="0"/>
              <a:t>方法），并现场决定如何回应</a:t>
            </a:r>
          </a:p>
        </p:txBody>
      </p:sp>
    </p:spTree>
    <p:extLst>
      <p:ext uri="{BB962C8B-B14F-4D97-AF65-F5344CB8AC3E}">
        <p14:creationId xmlns:p14="http://schemas.microsoft.com/office/powerpoint/2010/main" val="2918554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176214-789F-6F3C-54D9-1A8671538BE8}"/>
              </a:ext>
            </a:extLst>
          </p:cNvPr>
          <p:cNvSpPr>
            <a:spLocks noGrp="1"/>
          </p:cNvSpPr>
          <p:nvPr>
            <p:ph type="title"/>
          </p:nvPr>
        </p:nvSpPr>
        <p:spPr/>
        <p:txBody>
          <a:bodyPr/>
          <a:lstStyle/>
          <a:p>
            <a:r>
              <a:rPr lang="zh-CN" altLang="en-US" dirty="0"/>
              <a:t>主要开发动机和核心应用</a:t>
            </a:r>
            <a:r>
              <a:rPr lang="en-US" altLang="zh-CN" dirty="0"/>
              <a:t>——Dynabook</a:t>
            </a:r>
            <a:endParaRPr lang="zh-CN" altLang="en-US" dirty="0"/>
          </a:p>
        </p:txBody>
      </p:sp>
      <p:sp>
        <p:nvSpPr>
          <p:cNvPr id="3" name="内容占位符 2">
            <a:extLst>
              <a:ext uri="{FF2B5EF4-FFF2-40B4-BE49-F238E27FC236}">
                <a16:creationId xmlns:a16="http://schemas.microsoft.com/office/drawing/2014/main" id="{75563093-A6B7-2636-1F83-2547A929C288}"/>
              </a:ext>
            </a:extLst>
          </p:cNvPr>
          <p:cNvSpPr>
            <a:spLocks noGrp="1"/>
          </p:cNvSpPr>
          <p:nvPr>
            <p:ph idx="1"/>
          </p:nvPr>
        </p:nvSpPr>
        <p:spPr/>
        <p:txBody>
          <a:bodyPr/>
          <a:lstStyle/>
          <a:p>
            <a:r>
              <a:rPr lang="zh-CN" altLang="en-US" dirty="0"/>
              <a:t>概念主要由</a:t>
            </a:r>
            <a:r>
              <a:rPr lang="en-US" altLang="zh-CN" dirty="0"/>
              <a:t>Alan Kay</a:t>
            </a:r>
            <a:r>
              <a:rPr lang="zh-CN" altLang="en-US" dirty="0"/>
              <a:t>提出</a:t>
            </a:r>
            <a:endParaRPr lang="en-US" altLang="zh-CN" dirty="0"/>
          </a:p>
          <a:p>
            <a:pPr lvl="1"/>
            <a:r>
              <a:rPr lang="en-US" altLang="zh-CN" dirty="0"/>
              <a:t>Smalltalk</a:t>
            </a:r>
            <a:r>
              <a:rPr lang="zh-CN" altLang="en-US" dirty="0"/>
              <a:t>项目的愿景领袖和命名者</a:t>
            </a:r>
            <a:endParaRPr lang="en-US" altLang="zh-CN" dirty="0"/>
          </a:p>
          <a:p>
            <a:r>
              <a:rPr lang="zh-CN" altLang="en-US" dirty="0"/>
              <a:t>小型便携计算机</a:t>
            </a:r>
            <a:endParaRPr lang="en-US" altLang="zh-CN" dirty="0"/>
          </a:p>
          <a:p>
            <a:pPr lvl="1"/>
            <a:r>
              <a:rPr lang="zh-CN" altLang="en-US" dirty="0"/>
              <a:t>在</a:t>
            </a:r>
            <a:r>
              <a:rPr lang="en-US" altLang="zh-CN" dirty="0"/>
              <a:t>1970</a:t>
            </a:r>
            <a:r>
              <a:rPr lang="zh-CN" altLang="en-US" dirty="0"/>
              <a:t>年代，是一种革命性概念</a:t>
            </a:r>
            <a:endParaRPr lang="en-US" altLang="zh-CN" dirty="0"/>
          </a:p>
          <a:p>
            <a:pPr lvl="2"/>
            <a:r>
              <a:rPr lang="zh-CN" altLang="en-US" dirty="0"/>
              <a:t>当时，所谓的</a:t>
            </a:r>
            <a:r>
              <a:rPr lang="en-US" altLang="zh-CN" dirty="0"/>
              <a:t>mini-computer</a:t>
            </a:r>
            <a:r>
              <a:rPr lang="zh-CN" altLang="en-US" dirty="0"/>
              <a:t>往往放在专门的房间里，一台机器由十余人共享</a:t>
            </a:r>
            <a:endParaRPr lang="en-US" altLang="zh-CN" dirty="0"/>
          </a:p>
          <a:p>
            <a:pPr lvl="1"/>
            <a:r>
              <a:rPr lang="zh-CN" altLang="en-US" dirty="0"/>
              <a:t>一种可以在飞机上飞行旅途中使用的计算机</a:t>
            </a:r>
            <a:endParaRPr lang="en-US" altLang="zh-CN" dirty="0"/>
          </a:p>
          <a:p>
            <a:r>
              <a:rPr lang="zh-CN" altLang="en-US" dirty="0"/>
              <a:t>对</a:t>
            </a:r>
            <a:r>
              <a:rPr lang="en-US" altLang="zh-CN" dirty="0"/>
              <a:t>Smalltalk</a:t>
            </a:r>
            <a:r>
              <a:rPr lang="zh-CN" altLang="en-US" dirty="0"/>
              <a:t>语言的影响</a:t>
            </a:r>
            <a:endParaRPr lang="en-US" altLang="zh-CN" dirty="0"/>
          </a:p>
          <a:p>
            <a:pPr lvl="1"/>
            <a:r>
              <a:rPr lang="zh-CN" altLang="en-US" dirty="0"/>
              <a:t>语言同时作为编程语言和操作系统界面</a:t>
            </a:r>
            <a:endParaRPr lang="en-US" altLang="zh-CN" dirty="0"/>
          </a:p>
          <a:p>
            <a:pPr lvl="1"/>
            <a:r>
              <a:rPr lang="zh-CN" altLang="en-US" dirty="0"/>
              <a:t>为“非程序员”设计</a:t>
            </a:r>
            <a:endParaRPr lang="en-US" altLang="zh-CN" dirty="0"/>
          </a:p>
          <a:p>
            <a:pPr lvl="1"/>
            <a:r>
              <a:rPr lang="zh-CN" altLang="en-US" dirty="0"/>
              <a:t>语法为语言相关的编辑器设计</a:t>
            </a:r>
          </a:p>
        </p:txBody>
      </p:sp>
    </p:spTree>
    <p:extLst>
      <p:ext uri="{BB962C8B-B14F-4D97-AF65-F5344CB8AC3E}">
        <p14:creationId xmlns:p14="http://schemas.microsoft.com/office/powerpoint/2010/main" val="4143139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E0964-7E34-0EDD-224C-1BE2DBCEAFC7}"/>
              </a:ext>
            </a:extLst>
          </p:cNvPr>
          <p:cNvSpPr>
            <a:spLocks noGrp="1"/>
          </p:cNvSpPr>
          <p:nvPr>
            <p:ph type="title"/>
          </p:nvPr>
        </p:nvSpPr>
        <p:spPr/>
        <p:txBody>
          <a:bodyPr/>
          <a:lstStyle/>
          <a:p>
            <a:r>
              <a:rPr lang="zh-CN" altLang="en-US" dirty="0"/>
              <a:t>程序示例：</a:t>
            </a:r>
            <a:r>
              <a:rPr lang="en-US" altLang="zh-CN" dirty="0"/>
              <a:t>Point</a:t>
            </a:r>
            <a:endParaRPr lang="zh-CN" altLang="en-US" dirty="0"/>
          </a:p>
        </p:txBody>
      </p:sp>
      <p:pic>
        <p:nvPicPr>
          <p:cNvPr id="5" name="图片 4">
            <a:extLst>
              <a:ext uri="{FF2B5EF4-FFF2-40B4-BE49-F238E27FC236}">
                <a16:creationId xmlns:a16="http://schemas.microsoft.com/office/drawing/2014/main" id="{6729091E-5F23-8FAA-E70B-BBFBF6F330AE}"/>
              </a:ext>
            </a:extLst>
          </p:cNvPr>
          <p:cNvPicPr>
            <a:picLocks noChangeAspect="1"/>
          </p:cNvPicPr>
          <p:nvPr/>
        </p:nvPicPr>
        <p:blipFill>
          <a:blip r:embed="rId2"/>
          <a:stretch>
            <a:fillRect/>
          </a:stretch>
        </p:blipFill>
        <p:spPr>
          <a:xfrm>
            <a:off x="3471843" y="1946547"/>
            <a:ext cx="5248313" cy="4648234"/>
          </a:xfrm>
          <a:prstGeom prst="rect">
            <a:avLst/>
          </a:prstGeom>
        </p:spPr>
      </p:pic>
      <p:sp>
        <p:nvSpPr>
          <p:cNvPr id="6" name="文本框 5">
            <a:extLst>
              <a:ext uri="{FF2B5EF4-FFF2-40B4-BE49-F238E27FC236}">
                <a16:creationId xmlns:a16="http://schemas.microsoft.com/office/drawing/2014/main" id="{0CE8E37E-A53B-4824-2A66-070F974D29CF}"/>
              </a:ext>
            </a:extLst>
          </p:cNvPr>
          <p:cNvSpPr txBox="1"/>
          <p:nvPr/>
        </p:nvSpPr>
        <p:spPr>
          <a:xfrm>
            <a:off x="2415886" y="1491095"/>
            <a:ext cx="2841914" cy="46166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程序写成表格形式：</a:t>
            </a:r>
          </a:p>
        </p:txBody>
      </p:sp>
    </p:spTree>
    <p:extLst>
      <p:ext uri="{BB962C8B-B14F-4D97-AF65-F5344CB8AC3E}">
        <p14:creationId xmlns:p14="http://schemas.microsoft.com/office/powerpoint/2010/main" val="453464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E6FAC-9B77-7C68-897D-78ACCF85B2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0828112-8E3F-A669-EB15-C7CD7F8B8B63}"/>
              </a:ext>
            </a:extLst>
          </p:cNvPr>
          <p:cNvSpPr>
            <a:spLocks noGrp="1"/>
          </p:cNvSpPr>
          <p:nvPr>
            <p:ph type="title"/>
          </p:nvPr>
        </p:nvSpPr>
        <p:spPr/>
        <p:txBody>
          <a:bodyPr/>
          <a:lstStyle/>
          <a:p>
            <a:r>
              <a:rPr lang="zh-CN" altLang="en-US" dirty="0"/>
              <a:t>程序示例：类消息和方法</a:t>
            </a:r>
          </a:p>
        </p:txBody>
      </p:sp>
      <p:pic>
        <p:nvPicPr>
          <p:cNvPr id="4" name="图片 3">
            <a:extLst>
              <a:ext uri="{FF2B5EF4-FFF2-40B4-BE49-F238E27FC236}">
                <a16:creationId xmlns:a16="http://schemas.microsoft.com/office/drawing/2014/main" id="{485593D1-D3E8-1405-6351-FDC859AD83CB}"/>
              </a:ext>
            </a:extLst>
          </p:cNvPr>
          <p:cNvPicPr>
            <a:picLocks noChangeAspect="1"/>
          </p:cNvPicPr>
          <p:nvPr/>
        </p:nvPicPr>
        <p:blipFill>
          <a:blip r:embed="rId3"/>
          <a:stretch>
            <a:fillRect/>
          </a:stretch>
        </p:blipFill>
        <p:spPr>
          <a:xfrm>
            <a:off x="1252105" y="1646609"/>
            <a:ext cx="10067093" cy="5216585"/>
          </a:xfrm>
          <a:prstGeom prst="rect">
            <a:avLst/>
          </a:prstGeom>
        </p:spPr>
      </p:pic>
    </p:spTree>
    <p:extLst>
      <p:ext uri="{BB962C8B-B14F-4D97-AF65-F5344CB8AC3E}">
        <p14:creationId xmlns:p14="http://schemas.microsoft.com/office/powerpoint/2010/main" val="3372695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30EE4-24EF-F779-55B6-6F783CDD07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1257FAF-740B-1D6C-6463-A23FB5E0CCD1}"/>
              </a:ext>
            </a:extLst>
          </p:cNvPr>
          <p:cNvSpPr>
            <a:spLocks noGrp="1"/>
          </p:cNvSpPr>
          <p:nvPr>
            <p:ph type="title"/>
          </p:nvPr>
        </p:nvSpPr>
        <p:spPr/>
        <p:txBody>
          <a:bodyPr/>
          <a:lstStyle/>
          <a:p>
            <a:r>
              <a:rPr lang="zh-CN" altLang="en-US" dirty="0"/>
              <a:t>程序示例：实例消息和方法</a:t>
            </a:r>
          </a:p>
        </p:txBody>
      </p:sp>
      <p:pic>
        <p:nvPicPr>
          <p:cNvPr id="5" name="图片 4">
            <a:extLst>
              <a:ext uri="{FF2B5EF4-FFF2-40B4-BE49-F238E27FC236}">
                <a16:creationId xmlns:a16="http://schemas.microsoft.com/office/drawing/2014/main" id="{54120C70-1277-CD94-4DA4-A53148E037CF}"/>
              </a:ext>
            </a:extLst>
          </p:cNvPr>
          <p:cNvPicPr>
            <a:picLocks noChangeAspect="1"/>
          </p:cNvPicPr>
          <p:nvPr/>
        </p:nvPicPr>
        <p:blipFill>
          <a:blip r:embed="rId3"/>
          <a:stretch>
            <a:fillRect/>
          </a:stretch>
        </p:blipFill>
        <p:spPr>
          <a:xfrm>
            <a:off x="1418398" y="1536711"/>
            <a:ext cx="10240281" cy="5321289"/>
          </a:xfrm>
          <a:prstGeom prst="rect">
            <a:avLst/>
          </a:prstGeom>
        </p:spPr>
      </p:pic>
    </p:spTree>
    <p:extLst>
      <p:ext uri="{BB962C8B-B14F-4D97-AF65-F5344CB8AC3E}">
        <p14:creationId xmlns:p14="http://schemas.microsoft.com/office/powerpoint/2010/main" val="1397215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AEDFA0D-1BBA-9F22-F5C4-37AC0ECEC52B}"/>
              </a:ext>
            </a:extLst>
          </p:cNvPr>
          <p:cNvPicPr>
            <a:picLocks noChangeAspect="1"/>
          </p:cNvPicPr>
          <p:nvPr/>
        </p:nvPicPr>
        <p:blipFill>
          <a:blip r:embed="rId2"/>
          <a:stretch>
            <a:fillRect/>
          </a:stretch>
        </p:blipFill>
        <p:spPr>
          <a:xfrm>
            <a:off x="1600201" y="1027906"/>
            <a:ext cx="9141626" cy="5706911"/>
          </a:xfrm>
          <a:prstGeom prst="rect">
            <a:avLst/>
          </a:prstGeom>
        </p:spPr>
      </p:pic>
      <p:sp>
        <p:nvSpPr>
          <p:cNvPr id="2" name="标题 1">
            <a:extLst>
              <a:ext uri="{FF2B5EF4-FFF2-40B4-BE49-F238E27FC236}">
                <a16:creationId xmlns:a16="http://schemas.microsoft.com/office/drawing/2014/main" id="{C4EBC68F-4CD2-EE51-3FE0-DC417ED7F250}"/>
              </a:ext>
            </a:extLst>
          </p:cNvPr>
          <p:cNvSpPr>
            <a:spLocks noGrp="1"/>
          </p:cNvSpPr>
          <p:nvPr>
            <p:ph type="title"/>
          </p:nvPr>
        </p:nvSpPr>
        <p:spPr/>
        <p:txBody>
          <a:bodyPr/>
          <a:lstStyle/>
          <a:p>
            <a:r>
              <a:rPr lang="zh-CN" altLang="en-US" dirty="0"/>
              <a:t>对象的表示</a:t>
            </a:r>
          </a:p>
        </p:txBody>
      </p:sp>
    </p:spTree>
    <p:extLst>
      <p:ext uri="{BB962C8B-B14F-4D97-AF65-F5344CB8AC3E}">
        <p14:creationId xmlns:p14="http://schemas.microsoft.com/office/powerpoint/2010/main" val="1338757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E09A36-AACF-0540-EE52-B0BB08F404C7}"/>
              </a:ext>
            </a:extLst>
          </p:cNvPr>
          <p:cNvSpPr>
            <a:spLocks noGrp="1"/>
          </p:cNvSpPr>
          <p:nvPr>
            <p:ph type="title"/>
          </p:nvPr>
        </p:nvSpPr>
        <p:spPr/>
        <p:txBody>
          <a:bodyPr/>
          <a:lstStyle/>
          <a:p>
            <a:r>
              <a:rPr lang="zh-CN" altLang="en-US" dirty="0"/>
              <a:t>子类：</a:t>
            </a:r>
            <a:r>
              <a:rPr lang="en-US" altLang="zh-CN" dirty="0" err="1"/>
              <a:t>ColorPoint</a:t>
            </a:r>
            <a:endParaRPr lang="zh-CN" altLang="en-US" dirty="0"/>
          </a:p>
        </p:txBody>
      </p:sp>
      <p:pic>
        <p:nvPicPr>
          <p:cNvPr id="5" name="图片 4">
            <a:extLst>
              <a:ext uri="{FF2B5EF4-FFF2-40B4-BE49-F238E27FC236}">
                <a16:creationId xmlns:a16="http://schemas.microsoft.com/office/drawing/2014/main" id="{A056903E-4F2B-7409-100A-175D5F085603}"/>
              </a:ext>
            </a:extLst>
          </p:cNvPr>
          <p:cNvPicPr>
            <a:picLocks noChangeAspect="1"/>
          </p:cNvPicPr>
          <p:nvPr/>
        </p:nvPicPr>
        <p:blipFill>
          <a:blip r:embed="rId2"/>
          <a:stretch>
            <a:fillRect/>
          </a:stretch>
        </p:blipFill>
        <p:spPr>
          <a:xfrm>
            <a:off x="1766856" y="1498436"/>
            <a:ext cx="8658288" cy="5191163"/>
          </a:xfrm>
          <a:prstGeom prst="rect">
            <a:avLst/>
          </a:prstGeom>
        </p:spPr>
      </p:pic>
    </p:spTree>
    <p:extLst>
      <p:ext uri="{BB962C8B-B14F-4D97-AF65-F5344CB8AC3E}">
        <p14:creationId xmlns:p14="http://schemas.microsoft.com/office/powerpoint/2010/main" val="1363756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3A13F-2CC9-89D5-E8B6-E3D4D9E1F78D}"/>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FDB35F0C-93FD-958F-A49E-7CD971827FC7}"/>
              </a:ext>
            </a:extLst>
          </p:cNvPr>
          <p:cNvPicPr>
            <a:picLocks noChangeAspect="1"/>
          </p:cNvPicPr>
          <p:nvPr/>
        </p:nvPicPr>
        <p:blipFill>
          <a:blip r:embed="rId2"/>
          <a:stretch>
            <a:fillRect/>
          </a:stretch>
        </p:blipFill>
        <p:spPr>
          <a:xfrm>
            <a:off x="1953491" y="1543653"/>
            <a:ext cx="9708572" cy="5314347"/>
          </a:xfrm>
          <a:prstGeom prst="rect">
            <a:avLst/>
          </a:prstGeom>
        </p:spPr>
      </p:pic>
      <p:sp>
        <p:nvSpPr>
          <p:cNvPr id="2" name="标题 1">
            <a:extLst>
              <a:ext uri="{FF2B5EF4-FFF2-40B4-BE49-F238E27FC236}">
                <a16:creationId xmlns:a16="http://schemas.microsoft.com/office/drawing/2014/main" id="{CAD3BF67-A685-20ED-566A-D4A436A427F2}"/>
              </a:ext>
            </a:extLst>
          </p:cNvPr>
          <p:cNvSpPr>
            <a:spLocks noGrp="1"/>
          </p:cNvSpPr>
          <p:nvPr>
            <p:ph type="title"/>
          </p:nvPr>
        </p:nvSpPr>
        <p:spPr/>
        <p:txBody>
          <a:bodyPr/>
          <a:lstStyle/>
          <a:p>
            <a:r>
              <a:rPr lang="zh-CN" altLang="en-US" dirty="0"/>
              <a:t>子类：</a:t>
            </a:r>
            <a:r>
              <a:rPr lang="en-US" altLang="zh-CN" dirty="0" err="1"/>
              <a:t>ColorPoint</a:t>
            </a:r>
            <a:endParaRPr lang="zh-CN" altLang="en-US" dirty="0"/>
          </a:p>
        </p:txBody>
      </p:sp>
    </p:spTree>
    <p:extLst>
      <p:ext uri="{BB962C8B-B14F-4D97-AF65-F5344CB8AC3E}">
        <p14:creationId xmlns:p14="http://schemas.microsoft.com/office/powerpoint/2010/main" val="3501701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02BCEEC-3A59-EF12-B0ED-92631D4B1C79}"/>
              </a:ext>
            </a:extLst>
          </p:cNvPr>
          <p:cNvSpPr txBox="1"/>
          <p:nvPr/>
        </p:nvSpPr>
        <p:spPr>
          <a:xfrm>
            <a:off x="359861" y="188780"/>
            <a:ext cx="11545037" cy="6355586"/>
          </a:xfrm>
          <a:prstGeom prst="rect">
            <a:avLst/>
          </a:prstGeom>
          <a:noFill/>
        </p:spPr>
        <p:txBody>
          <a:bodyPr wrap="square" rtlCol="0">
            <a:spAutoFit/>
          </a:bodyPr>
          <a:lstStyle/>
          <a:p>
            <a:r>
              <a:rPr lang="en-US" altLang="zh-CN" sz="1100" dirty="0"/>
              <a:t>The other answers are well worth reading. An interesting question arises about terminology: to what extent is it reasonable to try to retain original definitions versus having a term get “softer” in meaning as time passes and new and additional conceptions are formed? (The latter happens in part because of the ways we spontaneously evolve our languages, so trying to legislate against it doesn’t work.)</a:t>
            </a:r>
          </a:p>
          <a:p>
            <a:endParaRPr lang="en-US" altLang="zh-CN" sz="1100" dirty="0"/>
          </a:p>
          <a:p>
            <a:r>
              <a:rPr lang="en-US" altLang="zh-CN" sz="1100" dirty="0"/>
              <a:t>However, I think “colonizing” a term to get reflected status is not a good practice, because it really weakens the central ideas (for example, C++ is called an “object-oriented language” — and most people argue “it is!” — but it is much too far from the ways I was thinking to be included in any definition I would come up with).</a:t>
            </a:r>
          </a:p>
          <a:p>
            <a:endParaRPr lang="en-US" altLang="zh-CN" sz="1100" dirty="0"/>
          </a:p>
          <a:p>
            <a:r>
              <a:rPr lang="en-US" altLang="zh-CN" sz="1100" dirty="0"/>
              <a:t>Part of the problem here is that I made a mistake with how the term was coined — I should have picked something else — in hindsight: “server-oriented programming”?</a:t>
            </a:r>
          </a:p>
          <a:p>
            <a:endParaRPr lang="en-US" altLang="zh-CN" sz="1100" dirty="0"/>
          </a:p>
          <a:p>
            <a:r>
              <a:rPr lang="en-US" altLang="zh-CN" sz="1100" dirty="0"/>
              <a:t>In any case, the “server” metaphor — mentioned by Eric des Courtis below — is good enough here (since I’ve written about and answered questions about “objects” in the past, and especially in the “The Early History of Smalltalk” written for the ACM ca 1993.).</a:t>
            </a:r>
          </a:p>
          <a:p>
            <a:endParaRPr lang="en-US" altLang="zh-CN" sz="1100" dirty="0"/>
          </a:p>
          <a:p>
            <a:r>
              <a:rPr lang="en-US" altLang="zh-CN" sz="1100" dirty="0"/>
              <a:t>There is a bit of a red herring here because the power of a comprehensive universal building block can also be its downfall. For example, a “server” could choose to allow its encapsulation to be violated — e.g. by making its services to closely resemble data structures acted on by procedures. Here, in my opinion, we would be simulating quite the wrong kinds of things, and devolving back into weak and fragile programming styles. (That is my view of what has mostly happened with “objects” — “real objects” never showed up because most people wanted to retain their data oriented style, etc.)</a:t>
            </a:r>
          </a:p>
          <a:p>
            <a:endParaRPr lang="en-US" altLang="zh-CN" sz="1100" dirty="0"/>
          </a:p>
          <a:p>
            <a:r>
              <a:rPr lang="en-US" altLang="zh-CN" sz="1100" dirty="0"/>
              <a:t>We could argue that the definition was incomplete — even: poor. It allowed too much discretion on the parts of programmers (this was partly because we used it for our own purposes at Parc and thought — not terribly accurately — that -we- had sufficient discretion to use it wisely (certainly not 100% of the time!)</a:t>
            </a:r>
          </a:p>
          <a:p>
            <a:endParaRPr lang="en-US" altLang="zh-CN" sz="1100" dirty="0"/>
          </a:p>
          <a:p>
            <a:r>
              <a:rPr lang="en-US" altLang="zh-CN" sz="1100" dirty="0"/>
              <a:t>And … this November will be the 50th anniversary of my “recognition” of the powers of the simple idea of making everything from “encapsulated servers exchanging non-command messages”.</a:t>
            </a:r>
          </a:p>
          <a:p>
            <a:endParaRPr lang="en-US" altLang="zh-CN" sz="1100" dirty="0"/>
          </a:p>
          <a:p>
            <a:r>
              <a:rPr lang="en-US" altLang="zh-CN" sz="1100" dirty="0"/>
              <a:t>Even though — in my opinion again — the simple idea of making computation systems “be like computers on the Internet” still isn’t generally recognized, much more is needed in programming and systems building than “a great recognition” from 50 years ago which had enormous relative power for about two decades.</a:t>
            </a:r>
          </a:p>
          <a:p>
            <a:endParaRPr lang="en-US" altLang="zh-CN" sz="1100" dirty="0"/>
          </a:p>
          <a:p>
            <a:r>
              <a:rPr lang="en-US" altLang="zh-CN" sz="1100" dirty="0"/>
              <a:t>For example — today and tomorrow — we should be programming in terms of “requirements and goals” that can manifest a workable system (possibly needing a super-computer).</a:t>
            </a:r>
          </a:p>
          <a:p>
            <a:endParaRPr lang="en-US" altLang="zh-CN" sz="1100" dirty="0"/>
          </a:p>
          <a:p>
            <a:r>
              <a:rPr lang="en-US" altLang="zh-CN" sz="1100" dirty="0"/>
              <a:t>We should be able to optimize a system like this without touching the requirements and goals part, etc. The feeling of such programming should be like the CAD-SIM-FAB cycles in more developed parts of engineering. In other words, we want to devote most of our attention into “the </a:t>
            </a:r>
            <a:r>
              <a:rPr lang="en-US" altLang="zh-CN" sz="1100" dirty="0" err="1"/>
              <a:t>whats</a:t>
            </a:r>
            <a:r>
              <a:rPr lang="en-US" altLang="zh-CN" sz="1100" dirty="0"/>
              <a:t>” rather than “the </a:t>
            </a:r>
            <a:r>
              <a:rPr lang="en-US" altLang="zh-CN" sz="1100" dirty="0" err="1"/>
              <a:t>hows</a:t>
            </a:r>
            <a:r>
              <a:rPr lang="en-US" altLang="zh-CN" sz="1100" dirty="0"/>
              <a:t>”, use most of our energy for design, and we’d like to “ship the design!” (that would be a good slogan for the next few years).</a:t>
            </a:r>
          </a:p>
          <a:p>
            <a:endParaRPr lang="en-US" altLang="zh-CN" sz="1100" dirty="0"/>
          </a:p>
          <a:p>
            <a:r>
              <a:rPr lang="en-US" altLang="zh-CN" sz="1100" dirty="0"/>
              <a:t>Just as the great language Lisp was first for programming, but then became “a very high level machine code” for higher level ideas, we should see that what was powerful about direct programming with the kinds of object systems we made at Parc and subsequently so many years ago, should now be retained for structural integrity and other pragmatic reasons, but that the code should now be automatically written from much higher level sources. This doesn’t mean that “objects are now hidden”, but that they should be part of the “modeling and designing of ideas and processes” that is the center of what programming needs to be.</a:t>
            </a:r>
            <a:endParaRPr lang="zh-CN" altLang="en-US" sz="1100" dirty="0"/>
          </a:p>
        </p:txBody>
      </p:sp>
      <p:pic>
        <p:nvPicPr>
          <p:cNvPr id="6" name="图片 5">
            <a:extLst>
              <a:ext uri="{FF2B5EF4-FFF2-40B4-BE49-F238E27FC236}">
                <a16:creationId xmlns:a16="http://schemas.microsoft.com/office/drawing/2014/main" id="{460C8FC8-4F62-256A-E754-AAAC4E98ACD6}"/>
              </a:ext>
            </a:extLst>
          </p:cNvPr>
          <p:cNvPicPr>
            <a:picLocks noChangeAspect="1"/>
          </p:cNvPicPr>
          <p:nvPr/>
        </p:nvPicPr>
        <p:blipFill>
          <a:blip r:embed="rId2"/>
          <a:stretch>
            <a:fillRect/>
          </a:stretch>
        </p:blipFill>
        <p:spPr>
          <a:xfrm>
            <a:off x="359861" y="188780"/>
            <a:ext cx="6553248" cy="3019447"/>
          </a:xfrm>
          <a:prstGeom prst="rect">
            <a:avLst/>
          </a:prstGeom>
          <a:ln>
            <a:noFill/>
          </a:ln>
          <a:effectLst>
            <a:outerShdw blurRad="292100" dist="139700" dir="2700000" algn="tl" rotWithShape="0">
              <a:srgbClr val="333333">
                <a:alpha val="65000"/>
              </a:srgbClr>
            </a:outerShdw>
          </a:effectLst>
        </p:spPr>
      </p:pic>
      <p:sp>
        <p:nvSpPr>
          <p:cNvPr id="8" name="文本框 7">
            <a:extLst>
              <a:ext uri="{FF2B5EF4-FFF2-40B4-BE49-F238E27FC236}">
                <a16:creationId xmlns:a16="http://schemas.microsoft.com/office/drawing/2014/main" id="{2D292296-FED8-59E1-073C-71D6611B258D}"/>
              </a:ext>
            </a:extLst>
          </p:cNvPr>
          <p:cNvSpPr txBox="1"/>
          <p:nvPr/>
        </p:nvSpPr>
        <p:spPr>
          <a:xfrm>
            <a:off x="1626747" y="260534"/>
            <a:ext cx="6096982" cy="261610"/>
          </a:xfrm>
          <a:prstGeom prst="rect">
            <a:avLst/>
          </a:prstGeom>
          <a:noFill/>
        </p:spPr>
        <p:txBody>
          <a:bodyPr wrap="square">
            <a:spAutoFit/>
          </a:bodyPr>
          <a:lstStyle/>
          <a:p>
            <a:r>
              <a:rPr lang="zh-CN" altLang="en-US" sz="1100" b="1" dirty="0">
                <a:solidFill>
                  <a:srgbClr val="FF0000"/>
                </a:solidFill>
              </a:rPr>
              <a:t>https://www.quora.com/What-is-Alan-Kays-definition-of-Object-Oriented</a:t>
            </a:r>
          </a:p>
        </p:txBody>
      </p:sp>
    </p:spTree>
    <p:extLst>
      <p:ext uri="{BB962C8B-B14F-4D97-AF65-F5344CB8AC3E}">
        <p14:creationId xmlns:p14="http://schemas.microsoft.com/office/powerpoint/2010/main" val="264868608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10046</TotalTime>
  <Words>2453</Words>
  <Application>Microsoft Office PowerPoint</Application>
  <PresentationFormat>宽屏</PresentationFormat>
  <Paragraphs>184</Paragraphs>
  <Slides>24</Slides>
  <Notes>3</Notes>
  <HiddenSlides>1</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等线</vt:lpstr>
      <vt:lpstr>等线 Light</vt:lpstr>
      <vt:lpstr>微软雅黑</vt:lpstr>
      <vt:lpstr>Arial</vt:lpstr>
      <vt:lpstr>Consolas</vt:lpstr>
      <vt:lpstr>Courier New</vt:lpstr>
      <vt:lpstr>Office 主题​​</vt:lpstr>
      <vt:lpstr>面向对象编程（1）</vt:lpstr>
      <vt:lpstr>什么是面向对象编程</vt:lpstr>
      <vt:lpstr>PowerPoint 演示文稿</vt:lpstr>
      <vt:lpstr>面向对象的四个核心概念</vt:lpstr>
      <vt:lpstr>OO编程的程序结构</vt:lpstr>
      <vt:lpstr>实例：几何图形库</vt:lpstr>
      <vt:lpstr>实例：几何图形库</vt:lpstr>
      <vt:lpstr>面向对象语言发展历史 —— Simula</vt:lpstr>
      <vt:lpstr>面向对象语言发展历史 —— Simula</vt:lpstr>
      <vt:lpstr>Simula中的面向对象设计</vt:lpstr>
      <vt:lpstr>示例</vt:lpstr>
      <vt:lpstr>对象格式</vt:lpstr>
      <vt:lpstr>实例2</vt:lpstr>
      <vt:lpstr>Simula中的继承</vt:lpstr>
      <vt:lpstr>Simula主要特性总结</vt:lpstr>
      <vt:lpstr>面向对象语言发展历史 —— Smalltalk</vt:lpstr>
      <vt:lpstr>主要开发动机和核心应用——Dynabook</vt:lpstr>
      <vt:lpstr>程序示例：Point</vt:lpstr>
      <vt:lpstr>程序示例：类消息和方法</vt:lpstr>
      <vt:lpstr>程序示例：实例消息和方法</vt:lpstr>
      <vt:lpstr>对象的表示</vt:lpstr>
      <vt:lpstr>子类：ColorPoint</vt:lpstr>
      <vt:lpstr>子类：ColorPoint</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新宇 冯</dc:creator>
  <cp:lastModifiedBy>新宇 冯</cp:lastModifiedBy>
  <cp:revision>51</cp:revision>
  <dcterms:created xsi:type="dcterms:W3CDTF">2025-10-05T01:26:09Z</dcterms:created>
  <dcterms:modified xsi:type="dcterms:W3CDTF">2026-10-10T05:02:41Z</dcterms:modified>
</cp:coreProperties>
</file>