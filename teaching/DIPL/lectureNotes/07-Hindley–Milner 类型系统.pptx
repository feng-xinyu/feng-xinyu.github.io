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12192000" cy="6858000"/>
  <p:embeddedFontLst>
    <p:embeddedFont>
      <p:font typeface="MiSans" panose="02010600030101010101" charset="-122"/>
      <p:regular r:id="rId39"/>
    </p:embeddedFont>
    <p:embeddedFont>
      <p:font typeface="Cambria Math" panose="02040503050406030204" pitchFamily="18" charset="0"/>
      <p:regular r:id="rId40"/>
    </p:embeddedFont>
    <p:embeddedFont>
      <p:font typeface="Roboto Mono" panose="00000009000000000000" pitchFamily="49" charset="0"/>
      <p:regular r:id="rId41"/>
      <p:bold r:id="rId42"/>
      <p:italic r:id="rId43"/>
    </p:embeddedFont>
    <p:embeddedFont>
      <p:font typeface="思源宋体"/>
      <p:regular r:id="rId4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51" y="2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ine"/>
          <p:cNvSpPr/>
          <p:nvPr/>
        </p:nvSpPr>
        <p:spPr>
          <a:xfrm>
            <a:off x="609600" y="5080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3" name="course-tag"/>
          <p:cNvSpPr txBox="1"/>
          <p:nvPr/>
        </p:nvSpPr>
        <p:spPr>
          <a:xfrm>
            <a:off x="609600" y="137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程序语言理论 · 类型系统专题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17272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000" b="1" noProof="1">
                <a:solidFill>
                  <a:srgbClr val="1D4A3A"/>
                </a:solidFill>
                <a:latin typeface="思源宋体"/>
                <a:ea typeface="思源宋体"/>
              </a:rPr>
              <a:t>Hindley–Milner 类型系统</a:t>
            </a:r>
            <a:endParaRPr lang="en-US" sz="40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26416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6B6E62"/>
                </a:solidFill>
                <a:latin typeface="MiSans"/>
                <a:ea typeface="MiSans"/>
              </a:rPr>
              <a:t>The Hindley–Milner Type System —— 主类型、参数多态与类型推断</a:t>
            </a:r>
            <a:endParaRPr lang="en-US" sz="1500" noProof="1"/>
          </a:p>
        </p:txBody>
      </p:sp>
      <p:sp>
        <p:nvSpPr>
          <p:cNvPr id="6" name="accent-bar"/>
          <p:cNvSpPr/>
          <p:nvPr/>
        </p:nvSpPr>
        <p:spPr>
          <a:xfrm>
            <a:off x="609600" y="3124200"/>
            <a:ext cx="914400" cy="38100"/>
          </a:xfrm>
          <a:prstGeom prst="rect">
            <a:avLst/>
          </a:prstGeom>
          <a:solidFill>
            <a:srgbClr val="B85C28"/>
          </a:solidFill>
          <a:ln>
            <a:noFill/>
          </a:ln>
        </p:spPr>
      </p:sp>
      <p:sp>
        <p:nvSpPr>
          <p:cNvPr id="7" name="meta"/>
          <p:cNvSpPr txBox="1"/>
          <p:nvPr/>
        </p:nvSpPr>
        <p:spPr>
          <a:xfrm>
            <a:off x="609600" y="3454400"/>
            <a:ext cx="6604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90000"/>
              </a:lnSpc>
            </a:pPr>
            <a:r>
              <a:rPr lang="en-US" sz="1400" b="1" noProof="1">
                <a:solidFill>
                  <a:srgbClr val="1D4A3A"/>
                </a:solidFill>
                <a:latin typeface="MiSans"/>
                <a:ea typeface="MiSans"/>
              </a:rPr>
              <a:t>面向对象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　计算机专业高年级本科生、研究生</a:t>
            </a:r>
            <a:endParaRPr lang="en-US" sz="1400" noProof="1"/>
          </a:p>
          <a:p>
            <a:pPr>
              <a:lnSpc>
                <a:spcPct val="190000"/>
              </a:lnSpc>
            </a:pPr>
            <a:r>
              <a:rPr lang="en-US" sz="1400" b="1" noProof="1">
                <a:solidFill>
                  <a:srgbClr val="1D4A3A"/>
                </a:solidFill>
                <a:latin typeface="MiSans"/>
                <a:ea typeface="MiSans"/>
              </a:rPr>
              <a:t>先修知识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　λ 演算基础、归纳定义与归纳证明、一门函数式语言</a:t>
            </a:r>
            <a:endParaRPr lang="en-US" sz="1400" noProof="1"/>
          </a:p>
          <a:p>
            <a:pPr>
              <a:lnSpc>
                <a:spcPct val="190000"/>
              </a:lnSpc>
            </a:pPr>
            <a:r>
              <a:rPr lang="en-US" sz="1400" b="1" noProof="1">
                <a:solidFill>
                  <a:srgbClr val="1D4A3A"/>
                </a:solidFill>
                <a:latin typeface="MiSans"/>
                <a:ea typeface="MiSans"/>
              </a:rPr>
              <a:t>教学目标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　读懂类型规则、手工执行算法 W、理解设计权衡</a:t>
            </a:r>
            <a:endParaRPr lang="en-US" sz="1400" noProof="1"/>
          </a:p>
        </p:txBody>
      </p:sp>
      <p:sp>
        <p:nvSpPr>
          <p:cNvPr id="8" name="term-box"/>
          <p:cNvSpPr/>
          <p:nvPr/>
        </p:nvSpPr>
        <p:spPr>
          <a:xfrm>
            <a:off x="7620000" y="3403600"/>
            <a:ext cx="3962400" cy="17272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9" name="term-bar"/>
          <p:cNvSpPr/>
          <p:nvPr/>
        </p:nvSpPr>
        <p:spPr>
          <a:xfrm>
            <a:off x="7620000" y="3403600"/>
            <a:ext cx="3962400" cy="279400"/>
          </a:xfrm>
          <a:prstGeom prst="rect">
            <a:avLst/>
          </a:prstGeom>
          <a:solidFill>
            <a:srgbClr val="1C362B"/>
          </a:solidFill>
          <a:ln>
            <a:noFill/>
          </a:ln>
        </p:spPr>
      </p:sp>
      <p:sp>
        <p:nvSpPr>
          <p:cNvPr id="10" name="term-title"/>
          <p:cNvSpPr txBox="1"/>
          <p:nvPr/>
        </p:nvSpPr>
        <p:spPr>
          <a:xfrm>
            <a:off x="7772400" y="3441700"/>
            <a:ext cx="36576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ocaml</a:t>
            </a:r>
            <a:endParaRPr lang="en-US" sz="1200" noProof="1"/>
          </a:p>
        </p:txBody>
      </p:sp>
      <p:sp>
        <p:nvSpPr>
          <p:cNvPr id="11" name="term-code"/>
          <p:cNvSpPr txBox="1"/>
          <p:nvPr/>
        </p:nvSpPr>
        <p:spPr>
          <a:xfrm>
            <a:off x="7772400" y="3759200"/>
            <a:ext cx="36576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let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id =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fun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x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x;;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(* 无需任何类型标注 *)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val id : 'a -&gt; 'a = &lt;fun&gt;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(* 类型由系统自动推导 *)</a:t>
            </a:r>
            <a:endParaRPr lang="en-US" sz="1200" noProof="1"/>
          </a:p>
        </p:txBody>
      </p:sp>
      <p:sp>
        <p:nvSpPr>
          <p:cNvPr id="12" name="foot-line"/>
          <p:cNvSpPr/>
          <p:nvPr/>
        </p:nvSpPr>
        <p:spPr>
          <a:xfrm>
            <a:off x="609600" y="6070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3" name="foot-left"/>
          <p:cNvSpPr txBox="1"/>
          <p:nvPr/>
        </p:nvSpPr>
        <p:spPr>
          <a:xfrm>
            <a:off x="609600" y="62230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14" name="foot-right"/>
          <p:cNvSpPr txBox="1"/>
          <p:nvPr/>
        </p:nvSpPr>
        <p:spPr>
          <a:xfrm>
            <a:off x="9042400" y="6223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01 / 37</a:t>
            </a:r>
            <a:endParaRPr lang="en-US" sz="12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学习路线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title"/>
          <p:cNvSpPr txBox="1"/>
          <p:nvPr/>
        </p:nvSpPr>
        <p:spPr>
          <a:xfrm>
            <a:off x="609600" y="8382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本讲的结构：从动机到规则，再到算法与评价</a:t>
            </a:r>
            <a:endParaRPr lang="en-US" sz="2300" noProof="1"/>
          </a:p>
        </p:txBody>
      </p:sp>
      <p:sp>
        <p:nvSpPr>
          <p:cNvPr id="6" name="lead"/>
          <p:cNvSpPr txBox="1"/>
          <p:nvPr/>
        </p:nvSpPr>
        <p:spPr>
          <a:xfrm>
            <a:off x="609600" y="13462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七章内容按"为什么 —— 是什么 —— 怎么算 —— 怎么看"的顺序展开，建议按序阅读。</a:t>
            </a:r>
            <a:endParaRPr lang="en-US" sz="1400" noProof="1"/>
          </a:p>
        </p:txBody>
      </p:sp>
      <p:sp>
        <p:nvSpPr>
          <p:cNvPr id="7" name="c1-num"/>
          <p:cNvSpPr txBox="1"/>
          <p:nvPr/>
        </p:nvSpPr>
        <p:spPr>
          <a:xfrm>
            <a:off x="609600" y="19050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B85C28"/>
                </a:solidFill>
                <a:latin typeface="思源宋体"/>
                <a:ea typeface="思源宋体"/>
              </a:rPr>
              <a:t>01</a:t>
            </a:r>
            <a:endParaRPr lang="en-US" sz="1700" noProof="1"/>
          </a:p>
        </p:txBody>
      </p:sp>
      <p:sp>
        <p:nvSpPr>
          <p:cNvPr id="8" name="c1-title"/>
          <p:cNvSpPr txBox="1"/>
          <p:nvPr/>
        </p:nvSpPr>
        <p:spPr>
          <a:xfrm>
            <a:off x="1320800" y="19050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背景与动机</a:t>
            </a:r>
            <a:endParaRPr lang="en-US" sz="1500" noProof="1"/>
          </a:p>
        </p:txBody>
      </p:sp>
      <p:sp>
        <p:nvSpPr>
          <p:cNvPr id="9" name="c1-desc"/>
          <p:cNvSpPr txBox="1"/>
          <p:nvPr/>
        </p:nvSpPr>
        <p:spPr>
          <a:xfrm>
            <a:off x="1320800" y="2184400"/>
            <a:ext cx="381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历史脉络；为什么需要类型推断；参数多态的核心思想</a:t>
            </a:r>
            <a:endParaRPr lang="en-US" sz="1200" noProof="1"/>
          </a:p>
        </p:txBody>
      </p:sp>
      <p:sp>
        <p:nvSpPr>
          <p:cNvPr id="10" name="c1-page"/>
          <p:cNvSpPr txBox="1"/>
          <p:nvPr/>
        </p:nvSpPr>
        <p:spPr>
          <a:xfrm>
            <a:off x="5232400" y="19304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P.03–05</a:t>
            </a:r>
            <a:endParaRPr lang="en-US" sz="1200" noProof="1"/>
          </a:p>
        </p:txBody>
      </p:sp>
      <p:sp>
        <p:nvSpPr>
          <p:cNvPr id="11" name="c2-num"/>
          <p:cNvSpPr txBox="1"/>
          <p:nvPr/>
        </p:nvSpPr>
        <p:spPr>
          <a:xfrm>
            <a:off x="609600" y="27178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B85C28"/>
                </a:solidFill>
                <a:latin typeface="思源宋体"/>
                <a:ea typeface="思源宋体"/>
              </a:rPr>
              <a:t>02</a:t>
            </a:r>
            <a:endParaRPr lang="en-US" sz="1700" noProof="1"/>
          </a:p>
        </p:txBody>
      </p:sp>
      <p:sp>
        <p:nvSpPr>
          <p:cNvPr id="12" name="c2-title"/>
          <p:cNvSpPr txBox="1"/>
          <p:nvPr/>
        </p:nvSpPr>
        <p:spPr>
          <a:xfrm>
            <a:off x="1320800" y="27178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语法与类型的形式化</a:t>
            </a:r>
            <a:endParaRPr lang="en-US" sz="1500" noProof="1"/>
          </a:p>
        </p:txBody>
      </p:sp>
      <p:sp>
        <p:nvSpPr>
          <p:cNvPr id="13" name="c2-desc"/>
          <p:cNvSpPr txBox="1"/>
          <p:nvPr/>
        </p:nvSpPr>
        <p:spPr>
          <a:xfrm>
            <a:off x="1320800" y="2997200"/>
            <a:ext cx="381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BNF 抽象语法；单态类型与类型方案；替换、实例化与泛化</a:t>
            </a:r>
            <a:endParaRPr lang="en-US" sz="1200" noProof="1"/>
          </a:p>
        </p:txBody>
      </p:sp>
      <p:sp>
        <p:nvSpPr>
          <p:cNvPr id="14" name="c2-page"/>
          <p:cNvSpPr txBox="1"/>
          <p:nvPr/>
        </p:nvSpPr>
        <p:spPr>
          <a:xfrm>
            <a:off x="5232400" y="27432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P.06–09</a:t>
            </a:r>
            <a:endParaRPr lang="en-US" sz="1200" noProof="1"/>
          </a:p>
        </p:txBody>
      </p:sp>
      <p:sp>
        <p:nvSpPr>
          <p:cNvPr id="15" name="c3-num"/>
          <p:cNvSpPr txBox="1"/>
          <p:nvPr/>
        </p:nvSpPr>
        <p:spPr>
          <a:xfrm>
            <a:off x="609600" y="35306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B85C28"/>
                </a:solidFill>
                <a:latin typeface="思源宋体"/>
                <a:ea typeface="思源宋体"/>
              </a:rPr>
              <a:t>03</a:t>
            </a:r>
            <a:endParaRPr lang="en-US" sz="1700" noProof="1"/>
          </a:p>
        </p:txBody>
      </p:sp>
      <p:sp>
        <p:nvSpPr>
          <p:cNvPr id="16" name="c3-title"/>
          <p:cNvSpPr txBox="1"/>
          <p:nvPr/>
        </p:nvSpPr>
        <p:spPr>
          <a:xfrm>
            <a:off x="1320800" y="3530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类型规则</a:t>
            </a:r>
            <a:endParaRPr lang="en-US" sz="1500" noProof="1"/>
          </a:p>
        </p:txBody>
      </p:sp>
      <p:sp>
        <p:nvSpPr>
          <p:cNvPr id="17" name="c3-desc"/>
          <p:cNvSpPr txBox="1"/>
          <p:nvPr/>
        </p:nvSpPr>
        <p:spPr>
          <a:xfrm>
            <a:off x="1320800" y="3810000"/>
            <a:ext cx="381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判断 Γ ⊢ e : σ；六条推理规则；两个完整推导示例</a:t>
            </a:r>
            <a:endParaRPr lang="en-US" sz="1200" noProof="1"/>
          </a:p>
        </p:txBody>
      </p:sp>
      <p:sp>
        <p:nvSpPr>
          <p:cNvPr id="18" name="c3-page"/>
          <p:cNvSpPr txBox="1"/>
          <p:nvPr/>
        </p:nvSpPr>
        <p:spPr>
          <a:xfrm>
            <a:off x="5232400" y="35560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P.10–14</a:t>
            </a:r>
            <a:endParaRPr lang="en-US" sz="1200" noProof="1"/>
          </a:p>
        </p:txBody>
      </p:sp>
      <p:sp>
        <p:nvSpPr>
          <p:cNvPr id="19" name="c4-num"/>
          <p:cNvSpPr txBox="1"/>
          <p:nvPr/>
        </p:nvSpPr>
        <p:spPr>
          <a:xfrm>
            <a:off x="609600" y="43434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B85C28"/>
                </a:solidFill>
                <a:latin typeface="思源宋体"/>
                <a:ea typeface="思源宋体"/>
              </a:rPr>
              <a:t>04</a:t>
            </a:r>
            <a:endParaRPr lang="en-US" sz="1700" noProof="1"/>
          </a:p>
        </p:txBody>
      </p:sp>
      <p:sp>
        <p:nvSpPr>
          <p:cNvPr id="20" name="c4-title"/>
          <p:cNvSpPr txBox="1"/>
          <p:nvPr/>
        </p:nvSpPr>
        <p:spPr>
          <a:xfrm>
            <a:off x="1320800" y="4343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类型推断算法 W</a:t>
            </a:r>
            <a:endParaRPr lang="en-US" sz="1500" noProof="1"/>
          </a:p>
        </p:txBody>
      </p:sp>
      <p:sp>
        <p:nvSpPr>
          <p:cNvPr id="21" name="c4-desc"/>
          <p:cNvSpPr txBox="1"/>
          <p:nvPr/>
        </p:nvSpPr>
        <p:spPr>
          <a:xfrm>
            <a:off x="1320800" y="4622800"/>
            <a:ext cx="381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合一算法；算法 W 伪代码与跟踪；主类型定理</a:t>
            </a:r>
            <a:endParaRPr lang="en-US" sz="1200" noProof="1"/>
          </a:p>
        </p:txBody>
      </p:sp>
      <p:sp>
        <p:nvSpPr>
          <p:cNvPr id="22" name="c4-page"/>
          <p:cNvSpPr txBox="1"/>
          <p:nvPr/>
        </p:nvSpPr>
        <p:spPr>
          <a:xfrm>
            <a:off x="5232400" y="4368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P.15–26</a:t>
            </a:r>
            <a:endParaRPr lang="en-US" sz="1200" noProof="1"/>
          </a:p>
        </p:txBody>
      </p:sp>
      <p:sp>
        <p:nvSpPr>
          <p:cNvPr id="23" name="toc-sep"/>
          <p:cNvSpPr/>
          <p:nvPr/>
        </p:nvSpPr>
        <p:spPr>
          <a:xfrm>
            <a:off x="6299200" y="1905000"/>
            <a:ext cx="12700" cy="31496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24" name="c5-num"/>
          <p:cNvSpPr txBox="1"/>
          <p:nvPr/>
        </p:nvSpPr>
        <p:spPr>
          <a:xfrm>
            <a:off x="6705600" y="19050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B85C28"/>
                </a:solidFill>
                <a:latin typeface="思源宋体"/>
                <a:ea typeface="思源宋体"/>
              </a:rPr>
              <a:t>05</a:t>
            </a:r>
            <a:endParaRPr lang="en-US" sz="1700" noProof="1"/>
          </a:p>
        </p:txBody>
      </p:sp>
      <p:sp>
        <p:nvSpPr>
          <p:cNvPr id="25" name="c5-title"/>
          <p:cNvSpPr txBox="1"/>
          <p:nvPr/>
        </p:nvSpPr>
        <p:spPr>
          <a:xfrm>
            <a:off x="7416800" y="19050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特性与设计哲学</a:t>
            </a:r>
            <a:endParaRPr lang="en-US" sz="1500" noProof="1"/>
          </a:p>
        </p:txBody>
      </p:sp>
      <p:sp>
        <p:nvSpPr>
          <p:cNvPr id="26" name="c5-desc"/>
          <p:cNvSpPr txBox="1"/>
          <p:nvPr/>
        </p:nvSpPr>
        <p:spPr>
          <a:xfrm>
            <a:off x="7416800" y="2184400"/>
            <a:ext cx="3403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let 多态等四个特点；设计取舍；值限制等边界</a:t>
            </a:r>
            <a:endParaRPr lang="en-US" sz="1200" noProof="1"/>
          </a:p>
        </p:txBody>
      </p:sp>
      <p:sp>
        <p:nvSpPr>
          <p:cNvPr id="27" name="c5-page"/>
          <p:cNvSpPr txBox="1"/>
          <p:nvPr/>
        </p:nvSpPr>
        <p:spPr>
          <a:xfrm>
            <a:off x="10820400" y="19304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P.27–29</a:t>
            </a:r>
            <a:endParaRPr lang="en-US" sz="1200" noProof="1"/>
          </a:p>
        </p:txBody>
      </p:sp>
      <p:sp>
        <p:nvSpPr>
          <p:cNvPr id="28" name="c6-num"/>
          <p:cNvSpPr txBox="1"/>
          <p:nvPr/>
        </p:nvSpPr>
        <p:spPr>
          <a:xfrm>
            <a:off x="6705600" y="27178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B85C28"/>
                </a:solidFill>
                <a:latin typeface="思源宋体"/>
                <a:ea typeface="思源宋体"/>
              </a:rPr>
              <a:t>06</a:t>
            </a:r>
            <a:endParaRPr lang="en-US" sz="1700" noProof="1"/>
          </a:p>
        </p:txBody>
      </p:sp>
      <p:sp>
        <p:nvSpPr>
          <p:cNvPr id="29" name="c6-title"/>
          <p:cNvSpPr txBox="1"/>
          <p:nvPr/>
        </p:nvSpPr>
        <p:spPr>
          <a:xfrm>
            <a:off x="7416800" y="27178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主流语言的采纳</a:t>
            </a:r>
            <a:endParaRPr lang="en-US" sz="1500" noProof="1"/>
          </a:p>
        </p:txBody>
      </p:sp>
      <p:sp>
        <p:nvSpPr>
          <p:cNvPr id="30" name="c6-desc"/>
          <p:cNvSpPr txBox="1"/>
          <p:nvPr/>
        </p:nvSpPr>
        <p:spPr>
          <a:xfrm>
            <a:off x="7416800" y="2997200"/>
            <a:ext cx="3403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ML 家族、Haskell、Rust 等；同一代码的四种写法对照</a:t>
            </a:r>
            <a:endParaRPr lang="en-US" sz="1200" noProof="1"/>
          </a:p>
        </p:txBody>
      </p:sp>
      <p:sp>
        <p:nvSpPr>
          <p:cNvPr id="31" name="c6-page"/>
          <p:cNvSpPr txBox="1"/>
          <p:nvPr/>
        </p:nvSpPr>
        <p:spPr>
          <a:xfrm>
            <a:off x="10820400" y="27432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P.30–31</a:t>
            </a:r>
            <a:endParaRPr lang="en-US" sz="1200" noProof="1"/>
          </a:p>
        </p:txBody>
      </p:sp>
      <p:sp>
        <p:nvSpPr>
          <p:cNvPr id="32" name="c7-num"/>
          <p:cNvSpPr txBox="1"/>
          <p:nvPr/>
        </p:nvSpPr>
        <p:spPr>
          <a:xfrm>
            <a:off x="6705600" y="3530600"/>
            <a:ext cx="711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700" b="1" noProof="1">
                <a:solidFill>
                  <a:srgbClr val="B85C28"/>
                </a:solidFill>
                <a:latin typeface="思源宋体"/>
                <a:ea typeface="思源宋体"/>
              </a:rPr>
              <a:t>07</a:t>
            </a:r>
            <a:endParaRPr lang="en-US" sz="1700" noProof="1"/>
          </a:p>
        </p:txBody>
      </p:sp>
      <p:sp>
        <p:nvSpPr>
          <p:cNvPr id="33" name="c7-title"/>
          <p:cNvSpPr txBox="1"/>
          <p:nvPr/>
        </p:nvSpPr>
        <p:spPr>
          <a:xfrm>
            <a:off x="7416800" y="35306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评价、练习与文献</a:t>
            </a:r>
            <a:endParaRPr lang="en-US" sz="1500" noProof="1"/>
          </a:p>
        </p:txBody>
      </p:sp>
      <p:sp>
        <p:nvSpPr>
          <p:cNvPr id="34" name="c7-desc"/>
          <p:cNvSpPr txBox="1"/>
          <p:nvPr/>
        </p:nvSpPr>
        <p:spPr>
          <a:xfrm>
            <a:off x="7416800" y="3810000"/>
            <a:ext cx="3403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优点与局限；课堂练习；经典阅读材料</a:t>
            </a:r>
            <a:endParaRPr lang="en-US" sz="1200" noProof="1"/>
          </a:p>
        </p:txBody>
      </p:sp>
      <p:sp>
        <p:nvSpPr>
          <p:cNvPr id="35" name="c7-page"/>
          <p:cNvSpPr txBox="1"/>
          <p:nvPr/>
        </p:nvSpPr>
        <p:spPr>
          <a:xfrm>
            <a:off x="10820400" y="35560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P.32–37</a:t>
            </a:r>
            <a:endParaRPr lang="en-US" sz="1200" noProof="1"/>
          </a:p>
        </p:txBody>
      </p:sp>
      <p:sp>
        <p:nvSpPr>
          <p:cNvPr id="36" name="toc-note-bar"/>
          <p:cNvSpPr/>
          <p:nvPr/>
        </p:nvSpPr>
        <p:spPr>
          <a:xfrm>
            <a:off x="6705600" y="4368800"/>
            <a:ext cx="38100" cy="762000"/>
          </a:xfrm>
          <a:prstGeom prst="rect">
            <a:avLst/>
          </a:prstGeom>
          <a:solidFill>
            <a:srgbClr val="B85C28"/>
          </a:solidFill>
          <a:ln>
            <a:noFill/>
          </a:ln>
        </p:spPr>
      </p:sp>
      <p:sp>
        <p:nvSpPr>
          <p:cNvPr id="37" name="toc-note"/>
          <p:cNvSpPr txBox="1"/>
          <p:nvPr/>
        </p:nvSpPr>
        <p:spPr>
          <a:xfrm>
            <a:off x="6908800" y="4368800"/>
            <a:ext cx="4673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2C2A24"/>
                </a:solidFill>
                <a:latin typeface="MiSans"/>
                <a:ea typeface="MiSans"/>
              </a:rPr>
              <a:t>阅读建议</a:t>
            </a:r>
            <a:r>
              <a:rPr lang="en-US" sz="1200" noProof="1">
                <a:solidFill>
                  <a:srgbClr val="2C2A24"/>
                </a:solidFill>
                <a:latin typeface="MiSans"/>
                <a:ea typeface="MiSans"/>
              </a:rPr>
              <a:t>　第 3、4 章是全讲的理论核心，涉及归纳定义与推导树，建议配合纸笔演算；其余章节可在投影上直接讲授。</a:t>
            </a:r>
            <a:endParaRPr lang="en-US" sz="1200" noProof="1"/>
          </a:p>
        </p:txBody>
      </p:sp>
      <p:sp>
        <p:nvSpPr>
          <p:cNvPr id="38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39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40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02 / 37</a:t>
            </a:r>
            <a:endParaRPr lang="en-US" sz="12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01 章 · 背景与动机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1.1　历史脉络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HM 系统从何而来：一条六十年的演化脉络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Hindley–Milner 系统并非一次设计完成，而是 λ 演算、组合子逻辑与 ML 语言三条线索汇合的结果。</a:t>
            </a:r>
            <a:endParaRPr lang="en-US" sz="1400" noProof="1"/>
          </a:p>
        </p:txBody>
      </p:sp>
      <p:sp>
        <p:nvSpPr>
          <p:cNvPr id="8" name="tl-line"/>
          <p:cNvSpPr/>
          <p:nvPr/>
        </p:nvSpPr>
        <p:spPr>
          <a:xfrm>
            <a:off x="609600" y="3759200"/>
            <a:ext cx="10972800" cy="25400"/>
          </a:xfrm>
          <a:prstGeom prst="rect">
            <a:avLst/>
          </a:prstGeom>
          <a:solidFill>
            <a:srgbClr val="1D4A3A"/>
          </a:solidFill>
          <a:ln>
            <a:noFill/>
          </a:ln>
        </p:spPr>
      </p:sp>
      <p:sp>
        <p:nvSpPr>
          <p:cNvPr id="9" name="n1-dot"/>
          <p:cNvSpPr/>
          <p:nvPr/>
        </p:nvSpPr>
        <p:spPr>
          <a:xfrm>
            <a:off x="1054100" y="3683000"/>
            <a:ext cx="177800" cy="177800"/>
          </a:xfrm>
          <a:prstGeom prst="ellipse">
            <a:avLst/>
          </a:prstGeom>
          <a:solidFill>
            <a:srgbClr val="B85C28"/>
          </a:solidFill>
          <a:ln>
            <a:noFill/>
          </a:ln>
        </p:spPr>
      </p:sp>
      <p:sp>
        <p:nvSpPr>
          <p:cNvPr id="10" name="n1-name"/>
          <p:cNvSpPr txBox="1"/>
          <p:nvPr/>
        </p:nvSpPr>
        <p:spPr>
          <a:xfrm>
            <a:off x="393700" y="25400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Church 提出</a:t>
            </a:r>
            <a:endParaRPr lang="en-US" sz="1300" noProof="1"/>
          </a:p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λ 演算</a:t>
            </a:r>
            <a:endParaRPr lang="en-US" sz="1300" noProof="1"/>
          </a:p>
        </p:txBody>
      </p:sp>
      <p:sp>
        <p:nvSpPr>
          <p:cNvPr id="11" name="n1-year"/>
          <p:cNvSpPr txBox="1"/>
          <p:nvPr/>
        </p:nvSpPr>
        <p:spPr>
          <a:xfrm>
            <a:off x="393700" y="3200400"/>
            <a:ext cx="1498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1936</a:t>
            </a:r>
            <a:endParaRPr lang="en-US" sz="1500" noProof="1"/>
          </a:p>
        </p:txBody>
      </p:sp>
      <p:sp>
        <p:nvSpPr>
          <p:cNvPr id="12" name="n1-desc"/>
          <p:cNvSpPr txBox="1"/>
          <p:nvPr/>
        </p:nvSpPr>
        <p:spPr>
          <a:xfrm>
            <a:off x="393700" y="4064000"/>
            <a:ext cx="14986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函数抽象与应用成为计算的最小模型</a:t>
            </a:r>
            <a:endParaRPr lang="en-US" sz="1200" noProof="1"/>
          </a:p>
        </p:txBody>
      </p:sp>
      <p:sp>
        <p:nvSpPr>
          <p:cNvPr id="13" name="n2-dot"/>
          <p:cNvSpPr/>
          <p:nvPr/>
        </p:nvSpPr>
        <p:spPr>
          <a:xfrm>
            <a:off x="2705100" y="3683000"/>
            <a:ext cx="177800" cy="177800"/>
          </a:xfrm>
          <a:prstGeom prst="ellipse">
            <a:avLst/>
          </a:prstGeom>
          <a:solidFill>
            <a:srgbClr val="1D4A3A"/>
          </a:solidFill>
          <a:ln>
            <a:noFill/>
          </a:ln>
        </p:spPr>
      </p:sp>
      <p:sp>
        <p:nvSpPr>
          <p:cNvPr id="14" name="n2-name"/>
          <p:cNvSpPr txBox="1"/>
          <p:nvPr/>
        </p:nvSpPr>
        <p:spPr>
          <a:xfrm>
            <a:off x="2044700" y="25400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简单类型</a:t>
            </a:r>
            <a:endParaRPr lang="en-US" sz="1300" noProof="1"/>
          </a:p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λ 演算</a:t>
            </a:r>
            <a:endParaRPr lang="en-US" sz="1300" noProof="1"/>
          </a:p>
        </p:txBody>
      </p:sp>
      <p:sp>
        <p:nvSpPr>
          <p:cNvPr id="15" name="n2-year"/>
          <p:cNvSpPr txBox="1"/>
          <p:nvPr/>
        </p:nvSpPr>
        <p:spPr>
          <a:xfrm>
            <a:off x="2044700" y="3200400"/>
            <a:ext cx="1498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1940</a:t>
            </a:r>
            <a:endParaRPr lang="en-US" sz="1500" noProof="1"/>
          </a:p>
        </p:txBody>
      </p:sp>
      <p:sp>
        <p:nvSpPr>
          <p:cNvPr id="16" name="n2-desc"/>
          <p:cNvSpPr txBox="1"/>
          <p:nvPr/>
        </p:nvSpPr>
        <p:spPr>
          <a:xfrm>
            <a:off x="2044700" y="4064000"/>
            <a:ext cx="14986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类型排除悖论，但每个项都需显式标注</a:t>
            </a:r>
            <a:endParaRPr lang="en-US" sz="1200" noProof="1"/>
          </a:p>
        </p:txBody>
      </p:sp>
      <p:sp>
        <p:nvSpPr>
          <p:cNvPr id="17" name="n3-dot"/>
          <p:cNvSpPr/>
          <p:nvPr/>
        </p:nvSpPr>
        <p:spPr>
          <a:xfrm>
            <a:off x="4356100" y="3683000"/>
            <a:ext cx="177800" cy="177800"/>
          </a:xfrm>
          <a:prstGeom prst="ellipse">
            <a:avLst/>
          </a:prstGeom>
          <a:solidFill>
            <a:srgbClr val="B85C28"/>
          </a:solidFill>
          <a:ln>
            <a:noFill/>
          </a:ln>
        </p:spPr>
      </p:sp>
      <p:sp>
        <p:nvSpPr>
          <p:cNvPr id="18" name="n3-name"/>
          <p:cNvSpPr txBox="1"/>
          <p:nvPr/>
        </p:nvSpPr>
        <p:spPr>
          <a:xfrm>
            <a:off x="3695700" y="25400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Hindley</a:t>
            </a:r>
            <a:endParaRPr lang="en-US" sz="1300" noProof="1"/>
          </a:p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主类型方案</a:t>
            </a:r>
            <a:endParaRPr lang="en-US" sz="1300" noProof="1"/>
          </a:p>
        </p:txBody>
      </p:sp>
      <p:sp>
        <p:nvSpPr>
          <p:cNvPr id="19" name="n3-year"/>
          <p:cNvSpPr txBox="1"/>
          <p:nvPr/>
        </p:nvSpPr>
        <p:spPr>
          <a:xfrm>
            <a:off x="3695700" y="3200400"/>
            <a:ext cx="1498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1969</a:t>
            </a:r>
            <a:endParaRPr lang="en-US" sz="1500" noProof="1"/>
          </a:p>
        </p:txBody>
      </p:sp>
      <p:sp>
        <p:nvSpPr>
          <p:cNvPr id="20" name="n3-desc"/>
          <p:cNvSpPr txBox="1"/>
          <p:nvPr/>
        </p:nvSpPr>
        <p:spPr>
          <a:xfrm>
            <a:off x="3695700" y="4064000"/>
            <a:ext cx="14986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组合子逻辑中每项存在最一般的类型</a:t>
            </a:r>
            <a:endParaRPr lang="en-US" sz="1200" noProof="1"/>
          </a:p>
        </p:txBody>
      </p:sp>
      <p:sp>
        <p:nvSpPr>
          <p:cNvPr id="21" name="n4-dot"/>
          <p:cNvSpPr/>
          <p:nvPr/>
        </p:nvSpPr>
        <p:spPr>
          <a:xfrm>
            <a:off x="6007100" y="3683000"/>
            <a:ext cx="177800" cy="177800"/>
          </a:xfrm>
          <a:prstGeom prst="ellipse">
            <a:avLst/>
          </a:prstGeom>
          <a:solidFill>
            <a:srgbClr val="1D4A3A"/>
          </a:solidFill>
          <a:ln>
            <a:noFill/>
          </a:ln>
        </p:spPr>
      </p:sp>
      <p:sp>
        <p:nvSpPr>
          <p:cNvPr id="22" name="n4-name"/>
          <p:cNvSpPr txBox="1"/>
          <p:nvPr/>
        </p:nvSpPr>
        <p:spPr>
          <a:xfrm>
            <a:off x="5346700" y="25400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Milner</a:t>
            </a:r>
            <a:endParaRPr lang="en-US" sz="1300" noProof="1"/>
          </a:p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ML 与算法 W</a:t>
            </a:r>
            <a:endParaRPr lang="en-US" sz="1300" noProof="1"/>
          </a:p>
        </p:txBody>
      </p:sp>
      <p:sp>
        <p:nvSpPr>
          <p:cNvPr id="23" name="n4-year"/>
          <p:cNvSpPr txBox="1"/>
          <p:nvPr/>
        </p:nvSpPr>
        <p:spPr>
          <a:xfrm>
            <a:off x="5346700" y="3200400"/>
            <a:ext cx="1498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1973–78</a:t>
            </a:r>
            <a:endParaRPr lang="en-US" sz="1500" noProof="1"/>
          </a:p>
        </p:txBody>
      </p:sp>
      <p:sp>
        <p:nvSpPr>
          <p:cNvPr id="24" name="n4-desc"/>
          <p:cNvSpPr txBox="1"/>
          <p:nvPr/>
        </p:nvSpPr>
        <p:spPr>
          <a:xfrm>
            <a:off x="5346700" y="4064000"/>
            <a:ext cx="14986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定理证明助手 LCF 的元语言；类型多态理论</a:t>
            </a:r>
            <a:endParaRPr lang="en-US" sz="1200" noProof="1"/>
          </a:p>
        </p:txBody>
      </p:sp>
      <p:sp>
        <p:nvSpPr>
          <p:cNvPr id="25" name="n5-dot"/>
          <p:cNvSpPr/>
          <p:nvPr/>
        </p:nvSpPr>
        <p:spPr>
          <a:xfrm>
            <a:off x="7658100" y="3683000"/>
            <a:ext cx="177800" cy="177800"/>
          </a:xfrm>
          <a:prstGeom prst="ellipse">
            <a:avLst/>
          </a:prstGeom>
          <a:solidFill>
            <a:srgbClr val="B85C28"/>
          </a:solidFill>
          <a:ln>
            <a:noFill/>
          </a:ln>
        </p:spPr>
      </p:sp>
      <p:sp>
        <p:nvSpPr>
          <p:cNvPr id="26" name="n5-name"/>
          <p:cNvSpPr txBox="1"/>
          <p:nvPr/>
        </p:nvSpPr>
        <p:spPr>
          <a:xfrm>
            <a:off x="6997700" y="25400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Damas–Milner</a:t>
            </a:r>
            <a:endParaRPr lang="en-US" sz="1300" noProof="1"/>
          </a:p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完备性证明</a:t>
            </a:r>
            <a:endParaRPr lang="en-US" sz="1300" noProof="1"/>
          </a:p>
        </p:txBody>
      </p:sp>
      <p:sp>
        <p:nvSpPr>
          <p:cNvPr id="27" name="n5-year"/>
          <p:cNvSpPr txBox="1"/>
          <p:nvPr/>
        </p:nvSpPr>
        <p:spPr>
          <a:xfrm>
            <a:off x="6997700" y="3200400"/>
            <a:ext cx="1498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1982</a:t>
            </a:r>
            <a:endParaRPr lang="en-US" sz="1500" noProof="1"/>
          </a:p>
        </p:txBody>
      </p:sp>
      <p:sp>
        <p:nvSpPr>
          <p:cNvPr id="28" name="n5-desc"/>
          <p:cNvSpPr txBox="1"/>
          <p:nvPr/>
        </p:nvSpPr>
        <p:spPr>
          <a:xfrm>
            <a:off x="6997700" y="4064000"/>
            <a:ext cx="14986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严格证明算法总能算出主类型方案</a:t>
            </a:r>
            <a:endParaRPr lang="en-US" sz="1200" noProof="1"/>
          </a:p>
        </p:txBody>
      </p:sp>
      <p:sp>
        <p:nvSpPr>
          <p:cNvPr id="29" name="n6-dot"/>
          <p:cNvSpPr/>
          <p:nvPr/>
        </p:nvSpPr>
        <p:spPr>
          <a:xfrm>
            <a:off x="9309100" y="3683000"/>
            <a:ext cx="177800" cy="177800"/>
          </a:xfrm>
          <a:prstGeom prst="ellipse">
            <a:avLst/>
          </a:prstGeom>
          <a:solidFill>
            <a:srgbClr val="1D4A3A"/>
          </a:solidFill>
          <a:ln>
            <a:noFill/>
          </a:ln>
        </p:spPr>
      </p:sp>
      <p:sp>
        <p:nvSpPr>
          <p:cNvPr id="30" name="n6-name"/>
          <p:cNvSpPr txBox="1"/>
          <p:nvPr/>
        </p:nvSpPr>
        <p:spPr>
          <a:xfrm>
            <a:off x="8648700" y="25400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SML / OCaml</a:t>
            </a:r>
            <a:endParaRPr lang="en-US" sz="1300" noProof="1"/>
          </a:p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Haskell 采纳</a:t>
            </a:r>
            <a:endParaRPr lang="en-US" sz="1300" noProof="1"/>
          </a:p>
        </p:txBody>
      </p:sp>
      <p:sp>
        <p:nvSpPr>
          <p:cNvPr id="31" name="n6-year"/>
          <p:cNvSpPr txBox="1"/>
          <p:nvPr/>
        </p:nvSpPr>
        <p:spPr>
          <a:xfrm>
            <a:off x="8648700" y="3200400"/>
            <a:ext cx="1498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1990s—</a:t>
            </a:r>
            <a:endParaRPr lang="en-US" sz="1500" noProof="1"/>
          </a:p>
        </p:txBody>
      </p:sp>
      <p:sp>
        <p:nvSpPr>
          <p:cNvPr id="32" name="n6-desc"/>
          <p:cNvSpPr txBox="1"/>
          <p:nvPr/>
        </p:nvSpPr>
        <p:spPr>
          <a:xfrm>
            <a:off x="8648700" y="4064000"/>
            <a:ext cx="14986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成为函数式语言类型系统的标准底座</a:t>
            </a:r>
            <a:endParaRPr lang="en-US" sz="1200" noProof="1"/>
          </a:p>
        </p:txBody>
      </p:sp>
      <p:sp>
        <p:nvSpPr>
          <p:cNvPr id="33" name="n7-dot"/>
          <p:cNvSpPr/>
          <p:nvPr/>
        </p:nvSpPr>
        <p:spPr>
          <a:xfrm>
            <a:off x="10960100" y="3683000"/>
            <a:ext cx="177800" cy="177800"/>
          </a:xfrm>
          <a:prstGeom prst="ellipse">
            <a:avLst/>
          </a:prstGeom>
          <a:solidFill>
            <a:srgbClr val="B85C28"/>
          </a:solidFill>
          <a:ln>
            <a:noFill/>
          </a:ln>
        </p:spPr>
      </p:sp>
      <p:sp>
        <p:nvSpPr>
          <p:cNvPr id="34" name="n7-name"/>
          <p:cNvSpPr txBox="1"/>
          <p:nvPr/>
        </p:nvSpPr>
        <p:spPr>
          <a:xfrm>
            <a:off x="10083800" y="2540000"/>
            <a:ext cx="1498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Rust / Swift</a:t>
            </a:r>
            <a:endParaRPr lang="en-US" sz="1300" noProof="1"/>
          </a:p>
          <a:p>
            <a:pPr algn="ctr">
              <a:lnSpc>
                <a:spcPct val="135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局部采纳</a:t>
            </a:r>
            <a:endParaRPr lang="en-US" sz="1300" noProof="1"/>
          </a:p>
        </p:txBody>
      </p:sp>
      <p:sp>
        <p:nvSpPr>
          <p:cNvPr id="35" name="n7-year"/>
          <p:cNvSpPr txBox="1"/>
          <p:nvPr/>
        </p:nvSpPr>
        <p:spPr>
          <a:xfrm>
            <a:off x="10083800" y="3200400"/>
            <a:ext cx="1498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2010s—</a:t>
            </a:r>
            <a:endParaRPr lang="en-US" sz="1500" noProof="1"/>
          </a:p>
        </p:txBody>
      </p:sp>
      <p:sp>
        <p:nvSpPr>
          <p:cNvPr id="36" name="n7-desc"/>
          <p:cNvSpPr txBox="1"/>
          <p:nvPr/>
        </p:nvSpPr>
        <p:spPr>
          <a:xfrm>
            <a:off x="10083800" y="4064000"/>
            <a:ext cx="14986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HM 式推断进入工业级系统语言</a:t>
            </a:r>
            <a:endParaRPr lang="en-US" sz="1200" noProof="1"/>
          </a:p>
        </p:txBody>
      </p:sp>
      <p:sp>
        <p:nvSpPr>
          <p:cNvPr id="37" name="note-bar"/>
          <p:cNvSpPr/>
          <p:nvPr/>
        </p:nvSpPr>
        <p:spPr>
          <a:xfrm>
            <a:off x="609600" y="5156200"/>
            <a:ext cx="38100" cy="762000"/>
          </a:xfrm>
          <a:prstGeom prst="rect">
            <a:avLst/>
          </a:prstGeom>
          <a:solidFill>
            <a:srgbClr val="B85C28"/>
          </a:solidFill>
          <a:ln>
            <a:noFill/>
          </a:ln>
        </p:spPr>
      </p:sp>
      <p:sp>
        <p:nvSpPr>
          <p:cNvPr id="38" name="note"/>
          <p:cNvSpPr txBox="1"/>
          <p:nvPr/>
        </p:nvSpPr>
        <p:spPr>
          <a:xfrm>
            <a:off x="812800" y="5130800"/>
            <a:ext cx="10769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需要记住的两个年份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　1969 年，Roger Hindley 在组合子逻辑中证明每个对象存在</a:t>
            </a:r>
            <a:r>
              <a:rPr lang="en-US" sz="1400" i="1" noProof="1">
                <a:solidFill>
                  <a:srgbClr val="2C2A24"/>
                </a:solidFill>
                <a:latin typeface="MiSans"/>
                <a:ea typeface="MiSans"/>
              </a:rPr>
              <a:t>主类型方案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；1978 年，Robin Milner 在 JCSS 论文中给出类型多态理论与推断算法 W。1982 年 Damas 与 Milner 补全了完备性证明，故该系统亦称 </a:t>
            </a: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Damas–Hindley–Milner 系统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。</a:t>
            </a:r>
            <a:endParaRPr lang="en-US" sz="1400" noProof="1"/>
          </a:p>
        </p:txBody>
      </p:sp>
      <p:sp>
        <p:nvSpPr>
          <p:cNvPr id="39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40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41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03 / 37</a:t>
            </a:r>
            <a:endParaRPr lang="en-US" sz="12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01 章 · 背景与动机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1.2　问题所在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为什么需要 HM：类型安全与标注负担之间的矛盾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显式标注的安全语言写不动，无类型的灵活语言不敢用 —— HM 试图同时解决这两个问题。</a:t>
            </a:r>
            <a:endParaRPr lang="en-US" sz="1400" noProof="1"/>
          </a:p>
        </p:txBody>
      </p:sp>
      <p:sp>
        <p:nvSpPr>
          <p:cNvPr id="8" name="left-label"/>
          <p:cNvSpPr txBox="1"/>
          <p:nvPr/>
        </p:nvSpPr>
        <p:spPr>
          <a:xfrm>
            <a:off x="609600" y="19050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D4A3A"/>
                </a:solidFill>
                <a:latin typeface="MiSans"/>
                <a:ea typeface="MiSans"/>
              </a:rPr>
              <a:t>方案 A：显式标注（简单类型 λ 演算 / Java 风格）</a:t>
            </a:r>
            <a:endParaRPr lang="en-US" sz="1300" noProof="1"/>
          </a:p>
        </p:txBody>
      </p:sp>
      <p:sp>
        <p:nvSpPr>
          <p:cNvPr id="9" name="left-box"/>
          <p:cNvSpPr/>
          <p:nvPr/>
        </p:nvSpPr>
        <p:spPr>
          <a:xfrm>
            <a:off x="609600" y="2209800"/>
            <a:ext cx="5334000" cy="21336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0" name="left-code"/>
          <p:cNvSpPr txBox="1"/>
          <p:nvPr/>
        </p:nvSpPr>
        <p:spPr>
          <a:xfrm>
            <a:off x="812800" y="2362200"/>
            <a:ext cx="4978400" cy="185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每个绑定都必须写出类型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λ(x:</a:t>
            </a: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Int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). λ(y:</a:t>
            </a: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Int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). x + y</a:t>
            </a:r>
            <a:endParaRPr lang="en-US" sz="1200" noProof="1"/>
          </a:p>
          <a:p>
            <a:pPr>
              <a:lnSpc>
                <a:spcPct val="155000"/>
              </a:lnSpc>
            </a:pP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泛型函数也要先声明再使用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fun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compose[f,g,h] :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(g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h)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(f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g)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f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h = ...</a:t>
            </a:r>
            <a:endParaRPr lang="en-US" sz="1200" noProof="1"/>
          </a:p>
        </p:txBody>
      </p:sp>
      <p:sp>
        <p:nvSpPr>
          <p:cNvPr id="11" name="left-note"/>
          <p:cNvSpPr txBox="1"/>
          <p:nvPr/>
        </p:nvSpPr>
        <p:spPr>
          <a:xfrm>
            <a:off x="609600" y="4470400"/>
            <a:ext cx="533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安全但冗长：类型标注常常长于表达式本身；泛型实例化全靠程序员手工管理，复用成本高。</a:t>
            </a:r>
            <a:endParaRPr lang="en-US" sz="1200" noProof="1"/>
          </a:p>
        </p:txBody>
      </p:sp>
      <p:sp>
        <p:nvSpPr>
          <p:cNvPr id="12" name="right-label"/>
          <p:cNvSpPr txBox="1"/>
          <p:nvPr/>
        </p:nvSpPr>
        <p:spPr>
          <a:xfrm>
            <a:off x="6248400" y="19050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D4A3A"/>
                </a:solidFill>
                <a:latin typeface="MiSans"/>
                <a:ea typeface="MiSans"/>
              </a:rPr>
              <a:t>方案 B：无类型（纯 λ 演算 / 脚本风格）</a:t>
            </a:r>
            <a:endParaRPr lang="en-US" sz="1300" noProof="1"/>
          </a:p>
        </p:txBody>
      </p:sp>
      <p:sp>
        <p:nvSpPr>
          <p:cNvPr id="13" name="right-box"/>
          <p:cNvSpPr/>
          <p:nvPr/>
        </p:nvSpPr>
        <p:spPr>
          <a:xfrm>
            <a:off x="6248400" y="2209800"/>
            <a:ext cx="5334000" cy="21336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4" name="right-code"/>
          <p:cNvSpPr txBox="1"/>
          <p:nvPr/>
        </p:nvSpPr>
        <p:spPr>
          <a:xfrm>
            <a:off x="6451600" y="2362200"/>
            <a:ext cx="4978400" cy="185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书写自由，但错误只在运行时暴露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compose = λf. λg. λx. f (g x)</a:t>
            </a:r>
            <a:endParaRPr lang="en-US" sz="1200" noProof="1"/>
          </a:p>
          <a:p>
            <a:pPr>
              <a:lnSpc>
                <a:spcPct val="155000"/>
              </a:lnSpc>
            </a:pP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compose (</a:t>
            </a:r>
            <a:r>
              <a:rPr lang="en-US" sz="1200" noProof="1">
                <a:solidFill>
                  <a:srgbClr val="D9A06B"/>
                </a:solidFill>
                <a:latin typeface="Roboto Mono"/>
                <a:ea typeface="Roboto Mono"/>
              </a:rPr>
              <a:t>1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+ ) </a:t>
            </a:r>
            <a:r>
              <a:rPr lang="en-US" sz="1200" noProof="1">
                <a:solidFill>
                  <a:srgbClr val="D9C48F"/>
                </a:solidFill>
                <a:latin typeface="Roboto Mono"/>
                <a:ea typeface="Roboto Mono"/>
              </a:rPr>
              <a:t>"abc"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运行到此处才报错，可能已在生产环境</a:t>
            </a:r>
            <a:endParaRPr lang="en-US" sz="1200" noProof="1"/>
          </a:p>
        </p:txBody>
      </p:sp>
      <p:sp>
        <p:nvSpPr>
          <p:cNvPr id="15" name="right-note"/>
          <p:cNvSpPr txBox="1"/>
          <p:nvPr/>
        </p:nvSpPr>
        <p:spPr>
          <a:xfrm>
            <a:off x="6248400" y="4470400"/>
            <a:ext cx="533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灵活但危险：类型错误延迟到运行时；重构无保障；大型程序难以维护。</a:t>
            </a:r>
            <a:endParaRPr lang="en-US" sz="1200" noProof="1"/>
          </a:p>
        </p:txBody>
      </p:sp>
      <p:sp>
        <p:nvSpPr>
          <p:cNvPr id="16" name="vs-rule"/>
          <p:cNvSpPr/>
          <p:nvPr/>
        </p:nvSpPr>
        <p:spPr>
          <a:xfrm>
            <a:off x="609600" y="5384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7" name="concl-mark"/>
          <p:cNvSpPr/>
          <p:nvPr/>
        </p:nvSpPr>
        <p:spPr>
          <a:xfrm>
            <a:off x="609600" y="5588000"/>
            <a:ext cx="38100" cy="508000"/>
          </a:xfrm>
          <a:prstGeom prst="rect">
            <a:avLst/>
          </a:prstGeom>
          <a:solidFill>
            <a:srgbClr val="B85C28"/>
          </a:solidFill>
          <a:ln>
            <a:noFill/>
          </a:ln>
        </p:spPr>
      </p:sp>
      <p:sp>
        <p:nvSpPr>
          <p:cNvPr id="18" name="concl"/>
          <p:cNvSpPr txBox="1"/>
          <p:nvPr/>
        </p:nvSpPr>
        <p:spPr>
          <a:xfrm>
            <a:off x="812800" y="5562600"/>
            <a:ext cx="10769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HM 的回答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　保留静态类型安全的全部收益，但把书写与维护标注的工作交给编译器：类型由系统</a:t>
            </a: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自动推断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，且推断出的总是</a:t>
            </a: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最一般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的类型。</a:t>
            </a:r>
            <a:endParaRPr lang="en-US" sz="1400" noProof="1"/>
          </a:p>
        </p:txBody>
      </p:sp>
      <p:sp>
        <p:nvSpPr>
          <p:cNvPr id="19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20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1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04 / 37</a:t>
            </a:r>
            <a:endParaRPr lang="en-US" sz="12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01 章 · 背景与动机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1.3　核心思想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参数多态 + 全自动推断：同一个函数，所有合法类型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HM 的两个支柱：用类型变量表达"对任意类型都成立"，用合一算法把标注推导出来。</a:t>
            </a:r>
            <a:endParaRPr lang="en-US" sz="1400" noProof="1"/>
          </a:p>
        </p:txBody>
      </p:sp>
      <p:sp>
        <p:nvSpPr>
          <p:cNvPr id="8" name="def-label"/>
          <p:cNvSpPr txBox="1"/>
          <p:nvPr/>
        </p:nvSpPr>
        <p:spPr>
          <a:xfrm>
            <a:off x="609600" y="18796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定义（参数多态）</a:t>
            </a:r>
            <a:endParaRPr lang="en-US" sz="13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def-body"/>
              <p:cNvSpPr txBox="1"/>
              <p:nvPr/>
            </p:nvSpPr>
            <p:spPr>
              <a:xfrm>
                <a:off x="609600" y="2159000"/>
                <a:ext cx="5334000" cy="149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60000"/>
                  </a:lnSpc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若一个定义对</a:t>
                </a:r>
                <a:r>
                  <a:rPr lang="en-US" sz="1400" b="1" noProof="1">
                    <a:solidFill>
                      <a:srgbClr val="2C2A24"/>
                    </a:solidFill>
                    <a:latin typeface="MiSans"/>
                    <a:ea typeface="MiSans"/>
                  </a:rPr>
                  <a:t>任意类型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 都按同一方式工作，则称其具有</a:t>
                </a:r>
                <a:r>
                  <a:rPr lang="en-US" sz="1400" i="1" noProof="1">
                    <a:solidFill>
                      <a:srgbClr val="2C2A24"/>
                    </a:solidFill>
                    <a:latin typeface="MiSans"/>
                    <a:ea typeface="MiSans"/>
                  </a:rPr>
                  <a:t>参数多态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。其类型写成全称量化形式：</a:t>
                </a:r>
                <a:endParaRPr lang="en-US" sz="1400" noProof="1"/>
              </a:p>
              <a:p>
                <a:pPr>
                  <a:lnSpc>
                    <a:spcPct val="160000"/>
                  </a:lnSpc>
                  <a:spcBef>
                    <a:spcPts val="1000"/>
                  </a:spcBef>
                </a:pPr>
                <a14:m>
                  <m:oMath xmlns:m="http://schemas.openxmlformats.org/officeDocument/2006/math"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400" noProof="1"/>
                  <a:t> </a:t>
                </a:r>
              </a:p>
              <a:p>
                <a:pPr>
                  <a:lnSpc>
                    <a:spcPct val="160000"/>
                  </a:lnSpc>
                  <a:spcBef>
                    <a:spcPts val="1000"/>
                  </a:spcBef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读作："对所有类型 α，该值都可看作 α 到 α 的函数。"</a:t>
                </a:r>
                <a:endParaRPr lang="en-US" sz="1400" noProof="1"/>
              </a:p>
            </p:txBody>
          </p:sp>
        </mc:Choice>
        <mc:Fallback xmlns:c="http://schemas.openxmlformats.org/drawingml/2006/chart" xmlns:cx="http://schemas.microsoft.com/office/drawing/2014/chartex" xmlns:m="http://schemas.openxmlformats.org/officeDocument/2006/math" xmlns:pptd="https://kimi-design.msh.team/pptd/2026" xmlns="">
          <p:sp>
            <p:nvSpPr>
              <p:cNvPr id="9" name="def-body"/>
              <p:cNvSpPr txBox="1"/>
              <p:nvPr/>
            </p:nvSpPr>
            <p:spPr>
              <a:xfrm>
                <a:off x="609600" y="2159000"/>
                <a:ext cx="5334000" cy="149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若一个定义对</a:t>
                </a:r>
                <a:r>
                  <a:rPr lang="en-US" sz="1400" noProof="1" b="1">
                    <a:solidFill>
                      <a:srgbClr val="2C2A24"/>
                    </a:solidFill>
                    <a:latin typeface="MiSans"/>
                    <a:ea typeface="MiSans"/>
                  </a:rPr>
                  <a:t>任意类型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 \(\alpha\) 都按同一方式工作，则称其具有</a:t>
                </a:r>
                <a:r>
                  <a:rPr lang="en-US" sz="1400" noProof="1" i="1">
                    <a:solidFill>
                      <a:srgbClr val="2C2A24"/>
                    </a:solidFill>
                    <a:latin typeface="MiSans"/>
                    <a:ea typeface="MiSans"/>
                  </a:rPr>
                  <a:t>参数多态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。其类型写成全称量化形式：</a:t>
                </a:r>
                <a:endParaRPr lang="en-US" sz="1400" noProof="1"/>
              </a:p>
              <a:p>
                <a:pPr>
                  <a:lnSpc>
                    <a:spcPct val="160000"/>
                  </a:lnSpc>
                  <a:spcBef>
                    <a:spcPts val="1000"/>
                  </a:spcBef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\(\forall \alpha.\ \alpha \to \alpha\)</a:t>
                </a:r>
                <a:endParaRPr lang="en-US" sz="1400" noProof="1"/>
              </a:p>
              <a:p>
                <a:pPr>
                  <a:lnSpc>
                    <a:spcPct val="160000"/>
                  </a:lnSpc>
                  <a:spcBef>
                    <a:spcPts val="1000"/>
                  </a:spcBef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读作："对所有类型 α，该值都可看作 α 到 α 的函数。"</a:t>
                </a:r>
                <a:endParaRPr lang="en-US" sz="1400" noProof="1"/>
              </a:p>
            </p:txBody>
          </p:sp>
        </mc:Fallback>
      </mc:AlternateContent>
      <p:sp>
        <p:nvSpPr>
          <p:cNvPr id="10" name="ex-box"/>
          <p:cNvSpPr/>
          <p:nvPr/>
        </p:nvSpPr>
        <p:spPr>
          <a:xfrm>
            <a:off x="6248400" y="1879599"/>
            <a:ext cx="5334000" cy="2168525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1" name="ex-bar"/>
          <p:cNvSpPr/>
          <p:nvPr/>
        </p:nvSpPr>
        <p:spPr>
          <a:xfrm>
            <a:off x="6248400" y="1879600"/>
            <a:ext cx="5334000" cy="279400"/>
          </a:xfrm>
          <a:prstGeom prst="rect">
            <a:avLst/>
          </a:prstGeom>
          <a:solidFill>
            <a:srgbClr val="1C362B"/>
          </a:solidFill>
          <a:ln>
            <a:noFill/>
          </a:ln>
        </p:spPr>
      </p:sp>
      <p:sp>
        <p:nvSpPr>
          <p:cNvPr id="12" name="ex-title"/>
          <p:cNvSpPr txBox="1"/>
          <p:nvPr/>
        </p:nvSpPr>
        <p:spPr>
          <a:xfrm>
            <a:off x="6400800" y="1917700"/>
            <a:ext cx="5029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示例 · 恒等函数与它的三次使用</a:t>
            </a:r>
            <a:endParaRPr lang="en-US" sz="1200" noProof="1"/>
          </a:p>
        </p:txBody>
      </p:sp>
      <p:sp>
        <p:nvSpPr>
          <p:cNvPr id="13" name="ex-code"/>
          <p:cNvSpPr txBox="1"/>
          <p:nvPr/>
        </p:nvSpPr>
        <p:spPr>
          <a:xfrm>
            <a:off x="6451600" y="2260600"/>
            <a:ext cx="4978400" cy="17875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let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id =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fun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x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x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推断出 ∀α. α -&gt; α</a:t>
            </a:r>
            <a:endParaRPr lang="en-US" sz="1200" noProof="1"/>
          </a:p>
          <a:p>
            <a:pPr>
              <a:lnSpc>
                <a:spcPct val="155000"/>
              </a:lnSpc>
            </a:pP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id </a:t>
            </a:r>
            <a:r>
              <a:rPr lang="en-US" sz="1200" noProof="1">
                <a:solidFill>
                  <a:srgbClr val="D9A06B"/>
                </a:solidFill>
                <a:latin typeface="Roboto Mono"/>
                <a:ea typeface="Roboto Mono"/>
              </a:rPr>
              <a:t>3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  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α := Int，  得 Int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id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true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α := Bool， 得 Bool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id id 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α := β-&gt;β， 得 β-&gt;β</a:t>
            </a:r>
            <a:endParaRPr lang="en-US" sz="1200" noProof="1"/>
          </a:p>
        </p:txBody>
      </p:sp>
      <p:sp>
        <p:nvSpPr>
          <p:cNvPr id="14" name="pt-label"/>
          <p:cNvSpPr txBox="1"/>
          <p:nvPr/>
        </p:nvSpPr>
        <p:spPr>
          <a:xfrm>
            <a:off x="609600" y="3886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定义（主类型 / 最一般类型）</a:t>
            </a:r>
            <a:endParaRPr lang="en-US" sz="13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t-body"/>
              <p:cNvSpPr txBox="1"/>
              <p:nvPr/>
            </p:nvSpPr>
            <p:spPr>
              <a:xfrm>
                <a:off x="609600" y="4165600"/>
                <a:ext cx="53340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60000"/>
                  </a:lnSpc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表达式 e 的类型 σ 称为</a:t>
                </a:r>
                <a:r>
                  <a:rPr lang="en-US" sz="1400" b="1" noProof="1">
                    <a:solidFill>
                      <a:srgbClr val="2C2A24"/>
                    </a:solidFill>
                    <a:latin typeface="MiSans"/>
                    <a:ea typeface="MiSans"/>
                  </a:rPr>
                  <a:t>主类型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，当且仅当 e 的每个合法类型都是 σ 的实例：</a:t>
                </a:r>
                <a:endParaRPr lang="en-US" sz="1400" noProof="1"/>
              </a:p>
              <a:p>
                <a:pPr>
                  <a:lnSpc>
                    <a:spcPct val="160000"/>
                  </a:lnSpc>
                  <a:spcBef>
                    <a:spcPts val="800"/>
                  </a:spcBef>
                </a:pPr>
                <a14:m>
                  <m:oMath xmlns:m="http://schemas.openxmlformats.org/officeDocument/2006/math"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⊢</m:t>
                    </m:r>
                    <m:r>
                      <a:rPr lang="en-US" sz="1400" i="1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 ⇒ 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⊑</m:t>
                    </m:r>
                    <m:sSup>
                      <m:sSup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400" noProof="1"/>
                  <a:t> </a:t>
                </a:r>
              </a:p>
              <a:p>
                <a:pPr>
                  <a:lnSpc>
                    <a:spcPct val="160000"/>
                  </a:lnSpc>
                  <a:spcBef>
                    <a:spcPts val="800"/>
                  </a:spcBef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HM 保证：可类型化的表达式必有主类型，且算法 W 能算出它。</a:t>
                </a:r>
                <a:endParaRPr lang="en-US" sz="1400" noProof="1"/>
              </a:p>
            </p:txBody>
          </p:sp>
        </mc:Choice>
        <mc:Fallback xmlns="">
          <p:sp>
            <p:nvSpPr>
              <p:cNvPr id="15" name="pt-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165600"/>
                <a:ext cx="5334000" cy="1524000"/>
              </a:xfrm>
              <a:prstGeom prst="rect">
                <a:avLst/>
              </a:prstGeom>
              <a:blipFill>
                <a:blip r:embed="rId2"/>
                <a:stretch>
                  <a:fillRect l="-2057" r="-571" b="-72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-note-bar"/>
          <p:cNvSpPr/>
          <p:nvPr/>
        </p:nvSpPr>
        <p:spPr>
          <a:xfrm>
            <a:off x="6248400" y="4013200"/>
            <a:ext cx="38100" cy="1117600"/>
          </a:xfrm>
          <a:prstGeom prst="rect">
            <a:avLst/>
          </a:prstGeom>
          <a:solidFill>
            <a:srgbClr val="B85C28"/>
          </a:solidFill>
          <a:ln>
            <a:noFill/>
          </a:ln>
        </p:spPr>
      </p:sp>
      <p:sp>
        <p:nvSpPr>
          <p:cNvPr id="17" name="right-note"/>
          <p:cNvSpPr txBox="1"/>
          <p:nvPr/>
        </p:nvSpPr>
        <p:spPr>
          <a:xfrm>
            <a:off x="6451600" y="3987800"/>
            <a:ext cx="51308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同一性观察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　id 的三次使用分别取不同类型，却共享同一份代码与同一个主类型 —— 多态带来复用，推断带来简洁，二者共同构成 HM 的实用价值。</a:t>
            </a:r>
            <a:endParaRPr lang="en-US" sz="1400" noProof="1"/>
          </a:p>
        </p:txBody>
      </p:sp>
      <p:sp>
        <p:nvSpPr>
          <p:cNvPr id="18" name="take-rule"/>
          <p:cNvSpPr/>
          <p:nvPr/>
        </p:nvSpPr>
        <p:spPr>
          <a:xfrm>
            <a:off x="609600" y="578327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9" name="takeaway"/>
          <p:cNvSpPr txBox="1"/>
          <p:nvPr/>
        </p:nvSpPr>
        <p:spPr>
          <a:xfrm>
            <a:off x="609600" y="5894395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思源宋体"/>
                <a:ea typeface="思源宋体"/>
              </a:rPr>
              <a:t>本讲主线：形式化"什么类型合法"（第 2–3 章），再机械化"如何算出最一般类型"（第 4 章）。</a:t>
            </a:r>
            <a:endParaRPr lang="en-US" sz="1500" noProof="1"/>
          </a:p>
        </p:txBody>
      </p:sp>
      <p:sp>
        <p:nvSpPr>
          <p:cNvPr id="20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21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2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05 / 37</a:t>
            </a:r>
            <a:endParaRPr lang="en-US" sz="12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02 章 · 语法与类型的形式化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2.1　对象语言的抽象语法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用 BNF 给出研究对象：一个极小的 λ 演算核心语言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全部理论在五种语法构造上展开；常量、条件、递归等均可按需扩展，不改变核心论证。</a:t>
            </a:r>
            <a:endParaRPr lang="en-US" sz="1400" noProof="1"/>
          </a:p>
        </p:txBody>
      </p:sp>
      <p:sp>
        <p:nvSpPr>
          <p:cNvPr id="8" name="gram-box"/>
          <p:cNvSpPr/>
          <p:nvPr/>
        </p:nvSpPr>
        <p:spPr>
          <a:xfrm>
            <a:off x="609600" y="1879600"/>
            <a:ext cx="5334000" cy="33020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9" name="gram-bar"/>
          <p:cNvSpPr/>
          <p:nvPr/>
        </p:nvSpPr>
        <p:spPr>
          <a:xfrm>
            <a:off x="609600" y="1879600"/>
            <a:ext cx="5334000" cy="279400"/>
          </a:xfrm>
          <a:prstGeom prst="rect">
            <a:avLst/>
          </a:prstGeom>
          <a:solidFill>
            <a:srgbClr val="1C362B"/>
          </a:solidFill>
          <a:ln>
            <a:noFill/>
          </a:ln>
        </p:spPr>
      </p:sp>
      <p:sp>
        <p:nvSpPr>
          <p:cNvPr id="10" name="gram-title"/>
          <p:cNvSpPr txBox="1"/>
          <p:nvPr/>
        </p:nvSpPr>
        <p:spPr>
          <a:xfrm>
            <a:off x="762000" y="1917700"/>
            <a:ext cx="5029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抽象语法 · BNF</a:t>
            </a:r>
            <a:endParaRPr lang="en-US" sz="1200" noProof="1"/>
          </a:p>
        </p:txBody>
      </p:sp>
      <p:sp>
        <p:nvSpPr>
          <p:cNvPr id="11" name="gram-code"/>
          <p:cNvSpPr txBox="1"/>
          <p:nvPr/>
        </p:nvSpPr>
        <p:spPr>
          <a:xfrm>
            <a:off x="812800" y="2311400"/>
            <a:ext cx="4978400" cy="271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e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::=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x                 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变量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|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c                 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常量（整数、布尔…）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|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λ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x. e              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函数抽象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|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e₁ e₂               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函数应用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|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let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x = e₁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in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e₂  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局部绑定</a:t>
            </a:r>
            <a:endParaRPr lang="en-US" sz="1200" noProof="1"/>
          </a:p>
          <a:p>
            <a:pPr>
              <a:lnSpc>
                <a:spcPct val="155000"/>
              </a:lnSpc>
            </a:pP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元变量约定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x ∈ Var（可数无穷的变量集）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e ∈ Exp（表达式）</a:t>
            </a:r>
            <a:endParaRPr lang="en-US" sz="1200" noProof="1"/>
          </a:p>
        </p:txBody>
      </p:sp>
      <p:sp>
        <p:nvSpPr>
          <p:cNvPr id="12" name="prod-label"/>
          <p:cNvSpPr txBox="1"/>
          <p:nvPr/>
        </p:nvSpPr>
        <p:spPr>
          <a:xfrm>
            <a:off x="6248400" y="18796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逐条读法</a:t>
            </a:r>
            <a:endParaRPr lang="en-US" sz="1300" noProof="1"/>
          </a:p>
        </p:txBody>
      </p:sp>
      <p:sp>
        <p:nvSpPr>
          <p:cNvPr id="13" name="prod-body"/>
          <p:cNvSpPr txBox="1"/>
          <p:nvPr/>
        </p:nvSpPr>
        <p:spPr>
          <a:xfrm>
            <a:off x="6248400" y="2159000"/>
            <a:ext cx="53340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① </a:t>
            </a: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let 是关键构造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：它把 e₁ 绑定到名字 x，再在 e₂ 中使用 —— 多态恰恰发生在这一处。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② 抽象 </a:t>
            </a:r>
            <a:r>
              <a:rPr lang="en-US" sz="1400" noProof="1">
                <a:solidFill>
                  <a:srgbClr val="2C2A24"/>
                </a:solidFill>
                <a:latin typeface="Roboto Mono"/>
                <a:ea typeface="Roboto Mono"/>
              </a:rPr>
              <a:t>λx.e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 引入的 x 是</a:t>
            </a: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单态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的：在函数体内它只有一个待求解的类型。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③ 应用 </a:t>
            </a:r>
            <a:r>
              <a:rPr lang="en-US" sz="1400" noProof="1">
                <a:solidFill>
                  <a:srgbClr val="2C2A24"/>
                </a:solidFill>
                <a:latin typeface="Roboto Mono"/>
                <a:ea typeface="Roboto Mono"/>
              </a:rPr>
              <a:t>e₁ e₂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 左结合；</a:t>
            </a:r>
            <a:r>
              <a:rPr lang="en-US" sz="1400" noProof="1">
                <a:solidFill>
                  <a:srgbClr val="2C2A24"/>
                </a:solidFill>
                <a:latin typeface="Roboto Mono"/>
                <a:ea typeface="Roboto Mono"/>
              </a:rPr>
              <a:t>λx.e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 的函数体尽量向右延伸。</a:t>
            </a:r>
            <a:endParaRPr lang="en-US" sz="1400" noProof="1"/>
          </a:p>
        </p:txBody>
      </p:sp>
      <p:sp>
        <p:nvSpPr>
          <p:cNvPr id="14" name="ex-label"/>
          <p:cNvSpPr txBox="1"/>
          <p:nvPr/>
        </p:nvSpPr>
        <p:spPr>
          <a:xfrm>
            <a:off x="6248400" y="43688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一个语法合法的表达式</a:t>
            </a:r>
            <a:endParaRPr lang="en-US" sz="1300" noProof="1"/>
          </a:p>
        </p:txBody>
      </p:sp>
      <p:sp>
        <p:nvSpPr>
          <p:cNvPr id="15" name="ex-body"/>
          <p:cNvSpPr txBox="1"/>
          <p:nvPr/>
        </p:nvSpPr>
        <p:spPr>
          <a:xfrm>
            <a:off x="6248400" y="4648200"/>
            <a:ext cx="5334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2C2A24"/>
                </a:solidFill>
                <a:latin typeface="Roboto Mono"/>
                <a:ea typeface="Roboto Mono"/>
              </a:rPr>
              <a:t>let twice = λf. λx. f (f x) in twice (λn. n+1) 0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它把"应用两次"这件事抽象出来，再实例化到整数上 —— 第 4 章将机械地推出它的类型。</a:t>
            </a:r>
            <a:endParaRPr lang="en-US" sz="1400" noProof="1"/>
          </a:p>
        </p:txBody>
      </p:sp>
      <p:sp>
        <p:nvSpPr>
          <p:cNvPr id="16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7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18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06 / 37</a:t>
            </a:r>
            <a:endParaRPr lang="en-US" sz="12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02 章 · 语法与类型的形式化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2.2　类型的语法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两层语法：单态类型 τ 与类型方案 σ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HM 把"类型"分成两层：不带量词的单态类型用于推导过程，带全称量词的类型方案用于存放可复用的多态定义。</a:t>
            </a:r>
            <a:endParaRPr lang="en-US" sz="1400" noProof="1"/>
          </a:p>
        </p:txBody>
      </p:sp>
      <p:sp>
        <p:nvSpPr>
          <p:cNvPr id="8" name="gram-box"/>
          <p:cNvSpPr/>
          <p:nvPr/>
        </p:nvSpPr>
        <p:spPr>
          <a:xfrm>
            <a:off x="609600" y="1879600"/>
            <a:ext cx="5334000" cy="26670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9" name="gram-bar"/>
          <p:cNvSpPr/>
          <p:nvPr/>
        </p:nvSpPr>
        <p:spPr>
          <a:xfrm>
            <a:off x="609600" y="1879600"/>
            <a:ext cx="5334000" cy="279400"/>
          </a:xfrm>
          <a:prstGeom prst="rect">
            <a:avLst/>
          </a:prstGeom>
          <a:solidFill>
            <a:srgbClr val="1C362B"/>
          </a:solidFill>
          <a:ln>
            <a:noFill/>
          </a:ln>
        </p:spPr>
      </p:sp>
      <p:sp>
        <p:nvSpPr>
          <p:cNvPr id="10" name="gram-title"/>
          <p:cNvSpPr txBox="1"/>
          <p:nvPr/>
        </p:nvSpPr>
        <p:spPr>
          <a:xfrm>
            <a:off x="762000" y="1917700"/>
            <a:ext cx="5029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类型的 BNF</a:t>
            </a:r>
            <a:endParaRPr lang="en-US" sz="1200" noProof="1"/>
          </a:p>
        </p:txBody>
      </p:sp>
      <p:sp>
        <p:nvSpPr>
          <p:cNvPr id="11" name="gram-code"/>
          <p:cNvSpPr txBox="1"/>
          <p:nvPr/>
        </p:nvSpPr>
        <p:spPr>
          <a:xfrm>
            <a:off x="812800" y="2311400"/>
            <a:ext cx="4978400" cy="208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τ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::=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α       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类型变量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|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ι       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基础类型 Int, Bool…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|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τ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τ   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函数类型</a:t>
            </a:r>
            <a:endParaRPr lang="en-US" sz="1200" noProof="1"/>
          </a:p>
          <a:p>
            <a:pPr>
              <a:lnSpc>
                <a:spcPct val="155000"/>
              </a:lnSpc>
            </a:pP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σ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::=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τ       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单态类型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|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∀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α. σ   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全称量化（类型方案）</a:t>
            </a:r>
            <a:endParaRPr lang="en-US" sz="1200" noProof="1"/>
          </a:p>
        </p:txBody>
      </p:sp>
      <p:sp>
        <p:nvSpPr>
          <p:cNvPr id="12" name="note-label"/>
          <p:cNvSpPr txBox="1"/>
          <p:nvPr/>
        </p:nvSpPr>
        <p:spPr>
          <a:xfrm>
            <a:off x="6248400" y="18796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三条必须记住的约定</a:t>
            </a:r>
            <a:endParaRPr lang="en-US" sz="1300" noProof="1"/>
          </a:p>
        </p:txBody>
      </p:sp>
      <p:sp>
        <p:nvSpPr>
          <p:cNvPr id="13" name="note-body"/>
          <p:cNvSpPr txBox="1"/>
          <p:nvPr/>
        </p:nvSpPr>
        <p:spPr>
          <a:xfrm>
            <a:off x="6248400" y="2159000"/>
            <a:ext cx="53340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① </a:t>
            </a: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量词只能在最外层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（前束范式 / rank-1）：</a:t>
            </a:r>
            <a:r>
              <a:rPr lang="en-US" sz="1400" noProof="1">
                <a:solidFill>
                  <a:srgbClr val="2C2A24"/>
                </a:solidFill>
                <a:latin typeface="Roboto Mono"/>
                <a:ea typeface="Roboto Mono"/>
              </a:rPr>
              <a:t>∀α. α→α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 合法，而 </a:t>
            </a:r>
            <a:r>
              <a:rPr lang="en-US" sz="1400" noProof="1">
                <a:solidFill>
                  <a:srgbClr val="2C2A24"/>
                </a:solidFill>
                <a:latin typeface="Roboto Mono"/>
                <a:ea typeface="Roboto Mono"/>
              </a:rPr>
              <a:t>(∀α. α→α)→Int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 不属于 HM。这条限制保证了推断的可判定性。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② 单态类型是类型方案的特例：τ 即"量化零个变量"的方案。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③ 约定：α, β, γ 表示类型变量；τ 表示单态类型；σ 表示类型方案。</a:t>
            </a:r>
            <a:endParaRPr lang="en-US" sz="1400" noProof="1"/>
          </a:p>
        </p:txBody>
      </p:sp>
      <p:sp>
        <p:nvSpPr>
          <p:cNvPr id="14" name="ftv-label"/>
          <p:cNvSpPr txBox="1"/>
          <p:nvPr/>
        </p:nvSpPr>
        <p:spPr>
          <a:xfrm>
            <a:off x="609600" y="47498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自由类型变量 ftv（归纳定义）</a:t>
            </a:r>
            <a:endParaRPr lang="en-US" sz="13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ftv-body"/>
              <p:cNvSpPr txBox="1"/>
              <p:nvPr/>
            </p:nvSpPr>
            <p:spPr>
              <a:xfrm>
                <a:off x="609600" y="5029200"/>
                <a:ext cx="10972800" cy="96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70000"/>
                  </a:lnSpc>
                </a:pPr>
                <a14:m>
                  <m:oMath xmlns:m="http://schemas.openxmlformats.org/officeDocument/2006/math"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𝑓𝑡𝑣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)={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500" noProof="1">
                    <a:solidFill>
                      <a:srgbClr val="2C2A24"/>
                    </a:solidFill>
                    <a:latin typeface="MiSans"/>
                    <a:ea typeface="MiSans"/>
                  </a:rPr>
                  <a:t>　　</a:t>
                </a:r>
                <a14:m>
                  <m:oMath xmlns:m="http://schemas.openxmlformats.org/officeDocument/2006/math"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𝑓𝑡𝑣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𝜄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)=∅</m:t>
                    </m:r>
                  </m:oMath>
                </a14:m>
                <a:r>
                  <a:rPr lang="en-US" sz="1500" noProof="1">
                    <a:solidFill>
                      <a:srgbClr val="2C2A24"/>
                    </a:solidFill>
                    <a:latin typeface="MiSans"/>
                    <a:ea typeface="MiSans"/>
                  </a:rPr>
                  <a:t>　　</a:t>
                </a:r>
                <a14:m>
                  <m:oMath xmlns:m="http://schemas.openxmlformats.org/officeDocument/2006/math"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𝑓𝑡𝑣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𝑓𝑡𝑣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)∪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𝑓𝑡𝑣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noProof="1">
                    <a:solidFill>
                      <a:srgbClr val="2C2A24"/>
                    </a:solidFill>
                    <a:latin typeface="MiSans"/>
                    <a:ea typeface="MiSans"/>
                  </a:rPr>
                  <a:t>　　</a:t>
                </a:r>
                <a14:m>
                  <m:oMath xmlns:m="http://schemas.openxmlformats.org/officeDocument/2006/math"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𝑓𝑡𝑣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(∀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𝑓𝑡𝑣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)∖{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500" noProof="1"/>
                  <a:t> </a:t>
                </a:r>
              </a:p>
            </p:txBody>
          </p:sp>
        </mc:Choice>
        <mc:Fallback xmlns:c="http://schemas.openxmlformats.org/drawingml/2006/chart" xmlns:cx="http://schemas.microsoft.com/office/drawing/2014/chartex" xmlns:m="http://schemas.openxmlformats.org/officeDocument/2006/math" xmlns:pptd="https://kimi-design.msh.team/pptd/2026" xmlns="">
          <p:sp>
            <p:nvSpPr>
              <p:cNvPr id="15" name="ftv-body"/>
              <p:cNvSpPr txBox="1"/>
              <p:nvPr/>
            </p:nvSpPr>
            <p:spPr>
              <a:xfrm>
                <a:off x="609600" y="5029200"/>
                <a:ext cx="10972800" cy="96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70000"/>
                  </a:lnSpc>
                </a:pPr>
                <a:r>
                  <a:rPr lang="en-US" sz="1500" noProof="1">
                    <a:solidFill>
                      <a:srgbClr val="2C2A24"/>
                    </a:solidFill>
                    <a:latin typeface="MiSans"/>
                    <a:ea typeface="MiSans"/>
                  </a:rPr>
                  <a:t>\(\mathrm{ftv}(\alpha) = \{\alpha\}\)　　\(\mathrm{ftv}(\iota) = \varnothing\)　　\(\mathrm{ftv}(\tau_1 \to \tau_2) = \mathrm{ftv}(\tau_1) \cup \mathrm{ftv}(\tau_2)\)　　\(\mathrm{ftv}(\forall\alpha.\sigma) = \mathrm{ftv}(\sigma) \setminus \{\alpha\}\)</a:t>
                </a:r>
                <a:endParaRPr lang="en-US" sz="1500" noProof="1"/>
              </a:p>
            </p:txBody>
          </p:sp>
        </mc:Fallback>
      </mc:AlternateContent>
      <p:sp>
        <p:nvSpPr>
          <p:cNvPr id="16" name="ftv-example"/>
          <p:cNvSpPr txBox="1"/>
          <p:nvPr/>
        </p:nvSpPr>
        <p:spPr>
          <a:xfrm>
            <a:off x="609600" y="56896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例：ftv(∀α. α → β) = {β} —— α 被 ∀ 约束，β 自由。被 ∀ 约束的变量才可以实例化。</a:t>
            </a:r>
            <a:endParaRPr lang="en-US" sz="1200" noProof="1"/>
          </a:p>
        </p:txBody>
      </p:sp>
      <p:sp>
        <p:nvSpPr>
          <p:cNvPr id="17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8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19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07 / 37</a:t>
            </a:r>
            <a:endParaRPr lang="en-US" sz="12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02 章 · 语法与类型的形式化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2.3　替换与实例化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替换 S 与实例化关系 ⊑：多态如何"落地"为具体类型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实例化是多态的使用方式：把 ∀ 约束的变量替换成具体类型，得到一个较不一般的类型。</a:t>
            </a:r>
            <a:endParaRPr lang="en-US" sz="1400" noProof="1"/>
          </a:p>
        </p:txBody>
      </p:sp>
      <p:sp>
        <p:nvSpPr>
          <p:cNvPr id="8" name="subst-label"/>
          <p:cNvSpPr txBox="1"/>
          <p:nvPr/>
        </p:nvSpPr>
        <p:spPr>
          <a:xfrm>
            <a:off x="609600" y="1879600"/>
            <a:ext cx="546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类型替换（substitution）</a:t>
            </a:r>
            <a:endParaRPr lang="en-US" sz="13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subst-body"/>
              <p:cNvSpPr txBox="1"/>
              <p:nvPr/>
            </p:nvSpPr>
            <p:spPr>
              <a:xfrm>
                <a:off x="609600" y="2159000"/>
                <a:ext cx="5461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60000"/>
                  </a:lnSpc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替换 </a:t>
                </a:r>
                <a14:m>
                  <m:oMath xmlns:m="http://schemas.openxmlformats.org/officeDocument/2006/math">
                    <m:r>
                      <a:rPr lang="en-US" sz="1400" i="1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 是类型变量到类型的映射，同余地作用于类型结构：</a:t>
                </a:r>
                <a:endParaRPr lang="en-US" sz="1400" noProof="1"/>
              </a:p>
              <a:p>
                <a:pPr>
                  <a:lnSpc>
                    <a:spcPct val="160000"/>
                  </a:lnSpc>
                  <a:spcBef>
                    <a:spcPts val="800"/>
                  </a:spcBef>
                </a:pPr>
                <a14:m>
                  <m:oMath xmlns:m="http://schemas.openxmlformats.org/officeDocument/2006/math">
                    <m:r>
                      <a:rPr lang="en-US" sz="1400" i="1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1400" i="1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i="1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noProof="1"/>
                  <a:t> </a:t>
                </a:r>
              </a:p>
              <a:p>
                <a:pPr>
                  <a:lnSpc>
                    <a:spcPct val="160000"/>
                  </a:lnSpc>
                  <a:spcBef>
                    <a:spcPts val="800"/>
                  </a:spcBef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替换可复合：</a:t>
                </a:r>
                <a14:m>
                  <m:oMath xmlns:m="http://schemas.openxmlformats.org/officeDocument/2006/math"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；约定替换只作用于</a:t>
                </a:r>
                <a:r>
                  <a:rPr lang="en-US" sz="1400" b="1" noProof="1">
                    <a:solidFill>
                      <a:srgbClr val="2C2A24"/>
                    </a:solidFill>
                    <a:latin typeface="MiSans"/>
                    <a:ea typeface="MiSans"/>
                  </a:rPr>
                  <a:t>自由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变量，必要时对约束变量换名（α 变换）。</a:t>
                </a:r>
                <a:endParaRPr lang="en-US" sz="1400" noProof="1"/>
              </a:p>
            </p:txBody>
          </p:sp>
        </mc:Choice>
        <mc:Fallback xmlns:c="http://schemas.openxmlformats.org/drawingml/2006/chart" xmlns:cx="http://schemas.microsoft.com/office/drawing/2014/chartex" xmlns:m="http://schemas.openxmlformats.org/officeDocument/2006/math" xmlns:pptd="https://kimi-design.msh.team/pptd/2026" xmlns="">
          <p:sp>
            <p:nvSpPr>
              <p:cNvPr id="9" name="subst-body"/>
              <p:cNvSpPr txBox="1"/>
              <p:nvPr/>
            </p:nvSpPr>
            <p:spPr>
              <a:xfrm>
                <a:off x="609600" y="2159000"/>
                <a:ext cx="5461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替换 \(S = [\alpha_1 \mapsto \tau_1, \dots, \alpha_n \mapsto \tau_n]\) 是类型变量到类型的映射，同余地作用于类型结构：</a:t>
                </a:r>
                <a:endParaRPr lang="en-US" sz="1400" noProof="1"/>
              </a:p>
              <a:p>
                <a:pPr>
                  <a:lnSpc>
                    <a:spcPct val="160000"/>
                  </a:lnSpc>
                  <a:spcBef>
                    <a:spcPts val="800"/>
                  </a:spcBef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\(S(\tau_1 \to \tau_2) = S\tau_1 \to S\tau_2\)</a:t>
                </a:r>
                <a:endParaRPr lang="en-US" sz="1400" noProof="1"/>
              </a:p>
              <a:p>
                <a:pPr>
                  <a:lnSpc>
                    <a:spcPct val="160000"/>
                  </a:lnSpc>
                  <a:spcBef>
                    <a:spcPts val="800"/>
                  </a:spcBef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替换可复合：\((S_1 \circ S_2)\tau = S_1(S_2\tau)\)；约定替换只作用于</a:t>
                </a:r>
                <a:r>
                  <a:rPr lang="en-US" sz="1400" noProof="1" b="1">
                    <a:solidFill>
                      <a:srgbClr val="2C2A24"/>
                    </a:solidFill>
                    <a:latin typeface="MiSans"/>
                    <a:ea typeface="MiSans"/>
                  </a:rPr>
                  <a:t>自由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变量，必要时对约束变量换名（α 变换）。</a:t>
                </a:r>
                <a:endParaRPr lang="en-US" sz="1400" noProof="1"/>
              </a:p>
            </p:txBody>
          </p:sp>
        </mc:Fallback>
      </mc:AlternateContent>
      <p:sp>
        <p:nvSpPr>
          <p:cNvPr id="10" name="inst-label"/>
          <p:cNvSpPr txBox="1"/>
          <p:nvPr/>
        </p:nvSpPr>
        <p:spPr>
          <a:xfrm>
            <a:off x="6375400" y="1879600"/>
            <a:ext cx="520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实例化关系 σ ⊑ σ′</a:t>
            </a:r>
            <a:endParaRPr lang="en-US" sz="13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inst-body"/>
              <p:cNvSpPr txBox="1"/>
              <p:nvPr/>
            </p:nvSpPr>
            <p:spPr>
              <a:xfrm>
                <a:off x="6375400" y="2159000"/>
                <a:ext cx="5207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 ⊑ </m:t>
                    </m:r>
                    <m:sSup>
                      <m:sSup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 当且仅当存在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 使</a:t>
                </a:r>
                <a:endParaRPr lang="en-US" sz="1400" noProof="1"/>
              </a:p>
              <a:p>
                <a:pPr>
                  <a:lnSpc>
                    <a:spcPct val="16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↦</m:t>
                    </m:r>
                    <m:sSub>
                      <m:sSub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] 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400" noProof="1"/>
                  <a:t> </a:t>
                </a:r>
              </a:p>
              <a:p>
                <a:pPr>
                  <a:lnSpc>
                    <a:spcPct val="160000"/>
                  </a:lnSpc>
                  <a:spcBef>
                    <a:spcPts val="800"/>
                  </a:spcBef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即：σ′ 是 σ 的一个</a:t>
                </a:r>
                <a:r>
                  <a:rPr lang="en-US" sz="1400" b="1" noProof="1">
                    <a:solidFill>
                      <a:srgbClr val="2C2A24"/>
                    </a:solidFill>
                    <a:latin typeface="MiSans"/>
                    <a:ea typeface="MiSans"/>
                  </a:rPr>
                  <a:t>实例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。⊑ 是"比……更一般"的偏序：σ 越一般，实例越多。</a:t>
                </a:r>
                <a:endParaRPr lang="en-US" sz="1400" noProof="1"/>
              </a:p>
            </p:txBody>
          </p:sp>
        </mc:Choice>
        <mc:Fallback xmlns:c="http://schemas.openxmlformats.org/drawingml/2006/chart" xmlns:cx="http://schemas.microsoft.com/office/drawing/2014/chartex" xmlns:m="http://schemas.openxmlformats.org/officeDocument/2006/math" xmlns:pptd="https://kimi-design.msh.team/pptd/2026" xmlns="">
          <p:sp>
            <p:nvSpPr>
              <p:cNvPr id="11" name="inst-body"/>
              <p:cNvSpPr txBox="1"/>
              <p:nvPr/>
            </p:nvSpPr>
            <p:spPr>
              <a:xfrm>
                <a:off x="6375400" y="2159000"/>
                <a:ext cx="5207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\(\forall\alpha_1\dots\alpha_n.\tau \;\sqsubseteq\; \tau'\) 当且仅当存在 \(\tau_1,\dots,\tau_n\) 使</a:t>
                </a:r>
                <a:endParaRPr lang="en-US" sz="1400" noProof="1"/>
              </a:p>
              <a:p>
                <a:pPr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\(\tau' = [\alpha_i \mapsto \tau_i]\,\tau\)</a:t>
                </a:r>
                <a:endParaRPr lang="en-US" sz="1400" noProof="1"/>
              </a:p>
              <a:p>
                <a:pPr>
                  <a:lnSpc>
                    <a:spcPct val="160000"/>
                  </a:lnSpc>
                  <a:spcBef>
                    <a:spcPts val="800"/>
                  </a:spcBef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即：σ′ 是 σ 的一个</a:t>
                </a:r>
                <a:r>
                  <a:rPr lang="en-US" sz="1400" noProof="1" b="1">
                    <a:solidFill>
                      <a:srgbClr val="2C2A24"/>
                    </a:solidFill>
                    <a:latin typeface="MiSans"/>
                    <a:ea typeface="MiSans"/>
                  </a:rPr>
                  <a:t>实例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。⊑ 是"比……更一般"的偏序：σ 越一般，实例越多。</a:t>
                </a:r>
                <a:endParaRPr lang="en-US" sz="1400" noProof="1"/>
              </a:p>
            </p:txBody>
          </p:sp>
        </mc:Fallback>
      </mc:AlternateContent>
      <p:sp>
        <p:nvSpPr>
          <p:cNvPr id="12" name="ex-box"/>
          <p:cNvSpPr/>
          <p:nvPr/>
        </p:nvSpPr>
        <p:spPr>
          <a:xfrm>
            <a:off x="609600" y="4521200"/>
            <a:ext cx="10972800" cy="1320800"/>
          </a:xfrm>
          <a:prstGeom prst="rect">
            <a:avLst/>
          </a:prstGeom>
          <a:solidFill>
            <a:srgbClr val="EFE8D8"/>
          </a:solidFill>
          <a:ln>
            <a:noFill/>
          </a:ln>
        </p:spPr>
      </p:sp>
      <p:sp>
        <p:nvSpPr>
          <p:cNvPr id="13" name="ex-bar"/>
          <p:cNvSpPr/>
          <p:nvPr/>
        </p:nvSpPr>
        <p:spPr>
          <a:xfrm>
            <a:off x="609600" y="4521200"/>
            <a:ext cx="38100" cy="1320800"/>
          </a:xfrm>
          <a:prstGeom prst="rect">
            <a:avLst/>
          </a:prstGeom>
          <a:solidFill>
            <a:srgbClr val="B85C28"/>
          </a:solidFill>
          <a:ln>
            <a:noFill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x-text"/>
              <p:cNvSpPr txBox="1"/>
              <p:nvPr/>
            </p:nvSpPr>
            <p:spPr>
              <a:xfrm>
                <a:off x="863600" y="4673600"/>
                <a:ext cx="10515600" cy="10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60000"/>
                  </a:lnSpc>
                </a:pPr>
                <a:r>
                  <a:rPr lang="en-US" sz="1400" b="1" noProof="1">
                    <a:solidFill>
                      <a:srgbClr val="2C2A24"/>
                    </a:solidFill>
                    <a:latin typeface="MiSans"/>
                    <a:ea typeface="MiSans"/>
                  </a:rPr>
                  <a:t>例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　取 σ = ∀α. α → α：</a:t>
                </a:r>
                <a:endParaRPr lang="en-US" sz="1400" noProof="1"/>
              </a:p>
              <a:p>
                <a:pPr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· </a:t>
                </a:r>
                <a14:m>
                  <m:oMath xmlns:m="http://schemas.openxmlformats.org/officeDocument/2006/math"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𝐼𝑛𝑡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 给出实例 </a:t>
                </a:r>
                <a14:m>
                  <m:oMath xmlns:m="http://schemas.openxmlformats.org/officeDocument/2006/math"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𝐼𝑛𝑡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𝐼𝑛𝑡</m:t>
                    </m:r>
                  </m:oMath>
                </a14:m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；　· </a:t>
                </a:r>
                <a14:m>
                  <m:oMath xmlns:m="http://schemas.openxmlformats.org/officeDocument/2006/math"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 给出实例 </a:t>
                </a:r>
                <a14:m>
                  <m:oMath xmlns:m="http://schemas.openxmlformats.org/officeDocument/2006/math"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)→(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。</a:t>
                </a:r>
                <a:endParaRPr lang="en-US" sz="1400" noProof="1"/>
              </a:p>
              <a:p>
                <a:pPr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en-US" sz="1400" b="1" noProof="1">
                    <a:solidFill>
                      <a:srgbClr val="2C2A24"/>
                    </a:solidFill>
                    <a:latin typeface="MiSans"/>
                    <a:ea typeface="MiSans"/>
                  </a:rPr>
                  <a:t>反向不成立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：</a:t>
                </a:r>
                <a14:m>
                  <m:oMath xmlns:m="http://schemas.openxmlformats.org/officeDocument/2006/math"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𝐼𝑛𝑡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𝐼𝑛𝑡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̸⊑∀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 —— 具体类型无法"反推"出更一般的方案。泛化只能发生在第 3 章的 Gen / let 规则中。</a:t>
                </a:r>
                <a:endParaRPr lang="en-US" sz="1400" noProof="1"/>
              </a:p>
            </p:txBody>
          </p:sp>
        </mc:Choice>
        <mc:Fallback xmlns:c="http://schemas.openxmlformats.org/drawingml/2006/chart" xmlns:cx="http://schemas.microsoft.com/office/drawing/2014/chartex" xmlns:m="http://schemas.openxmlformats.org/officeDocument/2006/math" xmlns:pptd="https://kimi-design.msh.team/pptd/2026" xmlns="">
          <p:sp>
            <p:nvSpPr>
              <p:cNvPr id="14" name="ex-text"/>
              <p:cNvSpPr txBox="1"/>
              <p:nvPr/>
            </p:nvSpPr>
            <p:spPr>
              <a:xfrm>
                <a:off x="863600" y="4673600"/>
                <a:ext cx="10515600" cy="106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400" noProof="1" b="1">
                    <a:solidFill>
                      <a:srgbClr val="2C2A24"/>
                    </a:solidFill>
                    <a:latin typeface="MiSans"/>
                    <a:ea typeface="MiSans"/>
                  </a:rPr>
                  <a:t>例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　取 σ = ∀α. α → α：</a:t>
                </a:r>
                <a:endParaRPr lang="en-US" sz="1400" noProof="1"/>
              </a:p>
              <a:p>
                <a:pPr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· \([\alpha \mapsto \mathrm{Int}]\) 给出实例 \(\mathrm{Int}\to\mathrm{Int}\)；　· \([\alpha \mapsto \beta\to\beta]\) 给出实例 \((\beta\to\beta)\to(\beta\to\beta)\)。</a:t>
                </a:r>
                <a:endParaRPr lang="en-US" sz="1400" noProof="1"/>
              </a:p>
              <a:p>
                <a:pPr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en-US" sz="1400" noProof="1" b="1">
                    <a:solidFill>
                      <a:srgbClr val="2C2A24"/>
                    </a:solidFill>
                    <a:latin typeface="MiSans"/>
                    <a:ea typeface="MiSans"/>
                  </a:rPr>
                  <a:t>反向不成立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：\(\mathrm{Int}\to\mathrm{Int} \not\sqsubseteq \forall\alpha.\alpha\to\alpha\) —— 具体类型无法"反推"出更一般的方案。泛化只能发生在第 3 章的 Gen / let 规则中。</a:t>
                </a:r>
                <a:endParaRPr lang="en-US" sz="1400" noProof="1"/>
              </a:p>
            </p:txBody>
          </p:sp>
        </mc:Fallback>
      </mc:AlternateContent>
      <p:sp>
        <p:nvSpPr>
          <p:cNvPr id="15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6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17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08 / 37</a:t>
            </a:r>
            <a:endParaRPr lang="en-US" sz="12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02 章 · 语法与类型的形式化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2.4　类型环境与泛化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类型环境 Γ 与泛化 gen：什么时候允许加量词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泛化是 HM 中唯一"制造多态"的操作；它的附加条件是整套系统安全性的要害。</a:t>
            </a:r>
            <a:endParaRPr lang="en-US" sz="1400" noProof="1"/>
          </a:p>
        </p:txBody>
      </p:sp>
      <p:sp>
        <p:nvSpPr>
          <p:cNvPr id="8" name="ctx-label"/>
          <p:cNvSpPr txBox="1"/>
          <p:nvPr/>
        </p:nvSpPr>
        <p:spPr>
          <a:xfrm>
            <a:off x="609600" y="1879600"/>
            <a:ext cx="546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类型环境 Γ</a:t>
            </a:r>
            <a:endParaRPr lang="en-US" sz="13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tx-body"/>
              <p:cNvSpPr txBox="1"/>
              <p:nvPr/>
            </p:nvSpPr>
            <p:spPr>
              <a:xfrm>
                <a:off x="609600" y="2159000"/>
                <a:ext cx="54610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60000"/>
                  </a:lnSpc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类型环境是变量的有限映射 </a:t>
                </a:r>
                <a14:m>
                  <m:oMath xmlns:m="http://schemas.openxmlformats.org/officeDocument/2006/math"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𝛤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，记录每个自由变量</a:t>
                </a:r>
                <a:r>
                  <a:rPr lang="en-US" sz="1400" b="1" noProof="1">
                    <a:solidFill>
                      <a:srgbClr val="2C2A24"/>
                    </a:solidFill>
                    <a:latin typeface="MiSans"/>
                    <a:ea typeface="MiSans"/>
                  </a:rPr>
                  <a:t>当前已知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的类型方案。</a:t>
                </a:r>
                <a:endParaRPr lang="en-US" sz="1400" noProof="1"/>
              </a:p>
              <a:p>
                <a:pPr>
                  <a:lnSpc>
                    <a:spcPct val="160000"/>
                  </a:lnSpc>
                  <a:spcBef>
                    <a:spcPts val="800"/>
                  </a:spcBef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环境的自由变量：</a:t>
                </a:r>
                <a14:m>
                  <m:oMath xmlns:m="http://schemas.openxmlformats.org/officeDocument/2006/math"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𝑓𝑡𝑣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𝛤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⋃"/>
                        <m:limLoc m:val="undOvr"/>
                        <m:supHide m:val="on"/>
                        <m:ctrlP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</m:sub>
                      <m:sup/>
                      <m:e/>
                    </m:nary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𝑓𝑡𝑣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。</a:t>
                </a:r>
                <a:endParaRPr lang="en-US" sz="1400" noProof="1"/>
              </a:p>
            </p:txBody>
          </p:sp>
        </mc:Choice>
        <mc:Fallback xmlns:c="http://schemas.openxmlformats.org/drawingml/2006/chart" xmlns:cx="http://schemas.microsoft.com/office/drawing/2014/chartex" xmlns:m="http://schemas.openxmlformats.org/officeDocument/2006/math" xmlns:pptd="https://kimi-design.msh.team/pptd/2026" xmlns="">
          <p:sp>
            <p:nvSpPr>
              <p:cNvPr id="9" name="ctx-body"/>
              <p:cNvSpPr txBox="1"/>
              <p:nvPr/>
            </p:nvSpPr>
            <p:spPr>
              <a:xfrm>
                <a:off x="609600" y="2159000"/>
                <a:ext cx="54610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类型环境是变量的有限映射 \(\Gamma = \{x_1:\sigma_1,\dots,x_n:\sigma_n\}\)，记录每个自由变量</a:t>
                </a:r>
                <a:r>
                  <a:rPr lang="en-US" sz="1400" noProof="1" b="1">
                    <a:solidFill>
                      <a:srgbClr val="2C2A24"/>
                    </a:solidFill>
                    <a:latin typeface="MiSans"/>
                    <a:ea typeface="MiSans"/>
                  </a:rPr>
                  <a:t>当前已知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的类型方案。</a:t>
                </a:r>
                <a:endParaRPr lang="en-US" sz="1400" noProof="1"/>
              </a:p>
              <a:p>
                <a:pPr>
                  <a:lnSpc>
                    <a:spcPct val="160000"/>
                  </a:lnSpc>
                  <a:spcBef>
                    <a:spcPts val="800"/>
                  </a:spcBef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环境的自由变量：\(\mathrm{ftv}(\Gamma) = \bigcup_{x:\sigma\in\Gamma}\mathrm{ftv}(\sigma)\)。</a:t>
                </a:r>
                <a:endParaRPr lang="en-US" sz="1400" noProof="1"/>
              </a:p>
            </p:txBody>
          </p:sp>
        </mc:Fallback>
      </mc:AlternateContent>
      <p:sp>
        <p:nvSpPr>
          <p:cNvPr id="10" name="gen-label"/>
          <p:cNvSpPr txBox="1"/>
          <p:nvPr/>
        </p:nvSpPr>
        <p:spPr>
          <a:xfrm>
            <a:off x="609600" y="3810000"/>
            <a:ext cx="546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泛化操作 gen(Γ, τ)</a:t>
            </a:r>
            <a:endParaRPr lang="en-US" sz="13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en-body"/>
              <p:cNvSpPr txBox="1"/>
              <p:nvPr/>
            </p:nvSpPr>
            <p:spPr>
              <a:xfrm>
                <a:off x="609600" y="4089400"/>
                <a:ext cx="5461000" cy="177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𝑔𝑒𝑛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𝛤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)=∀</m:t>
                    </m:r>
                    <m:acc>
                      <m:accPr>
                        <m:chr m:val="̄"/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，其中 </a:t>
                </a:r>
                <a14:m>
                  <m:oMath xmlns:m="http://schemas.openxmlformats.org/officeDocument/2006/math">
                    <m:acc>
                      <m:accPr>
                        <m:chr m:val="̄"/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𝑓𝑡𝑣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)∖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𝑓𝑡𝑣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𝛤</m:t>
                    </m:r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noProof="1"/>
              </a:p>
              <a:p>
                <a:pPr>
                  <a:lnSpc>
                    <a:spcPct val="160000"/>
                  </a:lnSpc>
                  <a:spcBef>
                    <a:spcPts val="800"/>
                  </a:spcBef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即：把 τ 中</a:t>
                </a:r>
                <a:r>
                  <a:rPr lang="en-US" sz="1400" b="1" noProof="1">
                    <a:solidFill>
                      <a:srgbClr val="2C2A24"/>
                    </a:solidFill>
                    <a:latin typeface="MiSans"/>
                    <a:ea typeface="MiSans"/>
                  </a:rPr>
                  <a:t>未被环境提及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的自由变量全部量化。已在 Γ 中出现的变量表示"外部上下文也在用"，量化它等于擅自替调用者做决定，因而不安全。</a:t>
                </a:r>
                <a:endParaRPr lang="en-US" sz="1400" noProof="1"/>
              </a:p>
            </p:txBody>
          </p:sp>
        </mc:Choice>
        <mc:Fallback xmlns:c="http://schemas.openxmlformats.org/drawingml/2006/chart" xmlns:cx="http://schemas.microsoft.com/office/drawing/2014/chartex" xmlns:m="http://schemas.openxmlformats.org/officeDocument/2006/math" xmlns:pptd="https://kimi-design.msh.team/pptd/2026" xmlns="">
          <p:sp>
            <p:nvSpPr>
              <p:cNvPr id="11" name="gen-body"/>
              <p:cNvSpPr txBox="1"/>
              <p:nvPr/>
            </p:nvSpPr>
            <p:spPr>
              <a:xfrm>
                <a:off x="609600" y="4089400"/>
                <a:ext cx="5461000" cy="177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\(\mathrm{gen}(\Gamma,\tau) = \forall\bar{\alpha}.\,\tau\)，其中 \(\bar{\alpha} = \mathrm{ftv}(\tau)\setminus\mathrm{ftv}(\Gamma)\)</a:t>
                </a:r>
                <a:endParaRPr lang="en-US" sz="1400" noProof="1"/>
              </a:p>
              <a:p>
                <a:pPr>
                  <a:lnSpc>
                    <a:spcPct val="160000"/>
                  </a:lnSpc>
                  <a:spcBef>
                    <a:spcPts val="800"/>
                  </a:spcBef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即：把 τ 中</a:t>
                </a:r>
                <a:r>
                  <a:rPr lang="en-US" sz="1400" noProof="1" b="1">
                    <a:solidFill>
                      <a:srgbClr val="2C2A24"/>
                    </a:solidFill>
                    <a:latin typeface="MiSans"/>
                    <a:ea typeface="MiSans"/>
                  </a:rPr>
                  <a:t>未被环境提及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的自由变量全部量化。已在 Γ 中出现的变量表示"外部上下文也在用"，量化它等于擅自替调用者做决定，因而不安全。</a:t>
                </a:r>
                <a:endParaRPr lang="en-US" sz="1400" noProof="1"/>
              </a:p>
            </p:txBody>
          </p:sp>
        </mc:Fallback>
      </mc:AlternateContent>
      <p:sp>
        <p:nvSpPr>
          <p:cNvPr id="12" name="ex-box"/>
          <p:cNvSpPr/>
          <p:nvPr/>
        </p:nvSpPr>
        <p:spPr>
          <a:xfrm>
            <a:off x="6375400" y="1879600"/>
            <a:ext cx="5207000" cy="34036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3" name="ex-bar"/>
          <p:cNvSpPr/>
          <p:nvPr/>
        </p:nvSpPr>
        <p:spPr>
          <a:xfrm>
            <a:off x="6375400" y="1879600"/>
            <a:ext cx="5207000" cy="279400"/>
          </a:xfrm>
          <a:prstGeom prst="rect">
            <a:avLst/>
          </a:prstGeom>
          <a:solidFill>
            <a:srgbClr val="1C362B"/>
          </a:solidFill>
          <a:ln>
            <a:noFill/>
          </a:ln>
        </p:spPr>
      </p:sp>
      <p:sp>
        <p:nvSpPr>
          <p:cNvPr id="14" name="ex-title"/>
          <p:cNvSpPr txBox="1"/>
          <p:nvPr/>
        </p:nvSpPr>
        <p:spPr>
          <a:xfrm>
            <a:off x="6527800" y="1917700"/>
            <a:ext cx="4902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例 · 同一 τ、不同 Γ，泛化结果不同</a:t>
            </a:r>
            <a:endParaRPr lang="en-US" sz="1200" noProof="1"/>
          </a:p>
        </p:txBody>
      </p:sp>
      <p:sp>
        <p:nvSpPr>
          <p:cNvPr id="15" name="ex-code"/>
          <p:cNvSpPr txBox="1"/>
          <p:nvPr/>
        </p:nvSpPr>
        <p:spPr>
          <a:xfrm>
            <a:off x="6578600" y="2336800"/>
            <a:ext cx="4800600" cy="287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情形 1：空环境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gen(∅, α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β)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= </a:t>
            </a: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∀α. ∀β. α -&gt; β</a:t>
            </a:r>
            <a:endParaRPr lang="en-US" sz="1200" noProof="1"/>
          </a:p>
          <a:p>
            <a:pPr>
              <a:lnSpc>
                <a:spcPct val="155000"/>
              </a:lnSpc>
            </a:pP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情形 2：环境中含 β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Γ = { y : β }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gen(Γ, α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β)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= </a:t>
            </a: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∀α. α -&gt; β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β 不可量化</a:t>
            </a:r>
            <a:endParaRPr lang="en-US" sz="1200" noProof="1"/>
          </a:p>
          <a:p>
            <a:pPr>
              <a:lnSpc>
                <a:spcPct val="155000"/>
              </a:lnSpc>
            </a:pP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y 的类型也含 β，量化会脱钩</a:t>
            </a:r>
            <a:endParaRPr lang="en-US" sz="1200" noProof="1"/>
          </a:p>
        </p:txBody>
      </p:sp>
      <p:sp>
        <p:nvSpPr>
          <p:cNvPr id="16" name="rule-note"/>
          <p:cNvSpPr txBox="1"/>
          <p:nvPr/>
        </p:nvSpPr>
        <p:spPr>
          <a:xfrm>
            <a:off x="609600" y="56896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第 3 章的 Gen 规则与 let 规则将分别显式、隐式地调用这一操作；第 4 章算法 W 在 let 处调用 gen。</a:t>
            </a:r>
            <a:endParaRPr lang="en-US" sz="1200" noProof="1"/>
          </a:p>
        </p:txBody>
      </p:sp>
      <p:sp>
        <p:nvSpPr>
          <p:cNvPr id="17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8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19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09 / 37</a:t>
            </a:r>
            <a:endParaRPr lang="en-US" sz="12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03 章 · 类型规则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3.1　类型判断与规则全览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判断 Γ ⊢ e : σ 与六条推理规则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Γ ⊢ e : σ 读作："在环境 Γ 下，表达式 e 具有类型 σ"。该关系由以下六条规则归纳定义。</a:t>
            </a:r>
            <a:endParaRPr lang="en-US" sz="14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ule-var"/>
              <p:cNvSpPr txBox="1"/>
              <p:nvPr/>
            </p:nvSpPr>
            <p:spPr>
              <a:xfrm>
                <a:off x="609600" y="1930400"/>
                <a:ext cx="5334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4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</m:num>
                      <m:den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noProof="1"/>
                  <a:t> </a:t>
                </a:r>
              </a:p>
            </p:txBody>
          </p:sp>
        </mc:Choice>
        <mc:Fallback xmlns="">
          <p:sp>
            <p:nvSpPr>
              <p:cNvPr id="8" name="rule-va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930400"/>
                <a:ext cx="5334000" cy="76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ule-abs"/>
              <p:cNvSpPr txBox="1"/>
              <p:nvPr/>
            </p:nvSpPr>
            <p:spPr>
              <a:xfrm>
                <a:off x="609600" y="2844800"/>
                <a:ext cx="53340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4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𝐴𝑏𝑠</m:t>
                    </m:r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noProof="1"/>
                  <a:t> </a:t>
                </a:r>
              </a:p>
            </p:txBody>
          </p:sp>
        </mc:Choice>
        <mc:Fallback xmlns="">
          <p:sp>
            <p:nvSpPr>
              <p:cNvPr id="9" name="rule-ab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844800"/>
                <a:ext cx="5334000" cy="812800"/>
              </a:xfrm>
              <a:prstGeom prst="rect">
                <a:avLst/>
              </a:prstGeom>
              <a:blipFill>
                <a:blip r:embed="rId3"/>
                <a:stretch>
                  <a:fillRect l="-11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ule-app"/>
              <p:cNvSpPr txBox="1"/>
              <p:nvPr/>
            </p:nvSpPr>
            <p:spPr>
              <a:xfrm>
                <a:off x="609600" y="3810000"/>
                <a:ext cx="53340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4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sSub>
                          <m:sSubPr>
                            <m:ctrlP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sSub>
                          <m:sSubPr>
                            <m:ctrlP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sSub>
                          <m:sSubPr>
                            <m:ctrlP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den>
                    </m:f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𝐴𝑝𝑝</m:t>
                    </m:r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noProof="1"/>
                  <a:t> </a:t>
                </a:r>
              </a:p>
            </p:txBody>
          </p:sp>
        </mc:Choice>
        <mc:Fallback xmlns="">
          <p:sp>
            <p:nvSpPr>
              <p:cNvPr id="10" name="rule-app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810000"/>
                <a:ext cx="5334000" cy="812800"/>
              </a:xfrm>
              <a:prstGeom prst="rect">
                <a:avLst/>
              </a:prstGeom>
              <a:blipFill>
                <a:blip r:embed="rId4"/>
                <a:stretch>
                  <a:fillRect l="-11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ule-let"/>
              <p:cNvSpPr txBox="1"/>
              <p:nvPr/>
            </p:nvSpPr>
            <p:spPr>
              <a:xfrm>
                <a:off x="6375400" y="1930400"/>
                <a:ext cx="53340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4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sSub>
                          <m:sSubPr>
                            <m:ctrlP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sSub>
                          <m:sSubPr>
                            <m:ctrlP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num>
                      <m:den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r>
                          <a:rPr lang="en-US" sz="2000" b="1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𝑙𝑒𝑡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den>
                    </m:f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𝐿𝑒𝑡</m:t>
                    </m:r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noProof="1"/>
                  <a:t> </a:t>
                </a:r>
              </a:p>
            </p:txBody>
          </p:sp>
        </mc:Choice>
        <mc:Fallback xmlns="">
          <p:sp>
            <p:nvSpPr>
              <p:cNvPr id="11" name="rule-le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400" y="1930400"/>
                <a:ext cx="5334000" cy="812800"/>
              </a:xfrm>
              <a:prstGeom prst="rect">
                <a:avLst/>
              </a:prstGeom>
              <a:blipFill>
                <a:blip r:embed="rId5"/>
                <a:stretch>
                  <a:fillRect l="-11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ule-gen"/>
              <p:cNvSpPr txBox="1"/>
              <p:nvPr/>
            </p:nvSpPr>
            <p:spPr>
              <a:xfrm>
                <a:off x="6375400" y="2895600"/>
                <a:ext cx="53340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4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∉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𝑓𝑡𝑣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:∀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𝐺𝑒𝑛</m:t>
                    </m:r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noProof="1"/>
                  <a:t> </a:t>
                </a:r>
              </a:p>
            </p:txBody>
          </p:sp>
        </mc:Choice>
        <mc:Fallback xmlns="">
          <p:sp>
            <p:nvSpPr>
              <p:cNvPr id="12" name="rule-ge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400" y="2895600"/>
                <a:ext cx="5334000" cy="812800"/>
              </a:xfrm>
              <a:prstGeom prst="rect">
                <a:avLst/>
              </a:prstGeom>
              <a:blipFill>
                <a:blip r:embed="rId6"/>
                <a:stretch>
                  <a:fillRect l="-1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ule-inst"/>
              <p:cNvSpPr txBox="1"/>
              <p:nvPr/>
            </p:nvSpPr>
            <p:spPr>
              <a:xfrm>
                <a:off x="6375400" y="3860800"/>
                <a:ext cx="53340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4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⊑</m:t>
                        </m:r>
                        <m:sSup>
                          <m:sSupPr>
                            <m:ctrlP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sSupPr>
                            <m:ctrlP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𝐼𝑛𝑠𝑡</m:t>
                    </m:r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noProof="1"/>
                  <a:t> </a:t>
                </a:r>
              </a:p>
            </p:txBody>
          </p:sp>
        </mc:Choice>
        <mc:Fallback xmlns="">
          <p:sp>
            <p:nvSpPr>
              <p:cNvPr id="13" name="rule-ins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400" y="3860800"/>
                <a:ext cx="5334000" cy="812800"/>
              </a:xfrm>
              <a:prstGeom prst="rect">
                <a:avLst/>
              </a:prstGeom>
              <a:blipFill>
                <a:blip r:embed="rId7"/>
                <a:stretch>
                  <a:fillRect l="-1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ol-sep"/>
          <p:cNvSpPr/>
          <p:nvPr/>
        </p:nvSpPr>
        <p:spPr>
          <a:xfrm>
            <a:off x="6096000" y="1905000"/>
            <a:ext cx="12700" cy="29210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5" name="note-box"/>
          <p:cNvSpPr/>
          <p:nvPr/>
        </p:nvSpPr>
        <p:spPr>
          <a:xfrm>
            <a:off x="609600" y="4978400"/>
            <a:ext cx="10972800" cy="990600"/>
          </a:xfrm>
          <a:prstGeom prst="rect">
            <a:avLst/>
          </a:prstGeom>
          <a:solidFill>
            <a:srgbClr val="EFE8D8"/>
          </a:solidFill>
          <a:ln>
            <a:noFill/>
          </a:ln>
        </p:spPr>
      </p:sp>
      <p:sp>
        <p:nvSpPr>
          <p:cNvPr id="16" name="note-bar"/>
          <p:cNvSpPr/>
          <p:nvPr/>
        </p:nvSpPr>
        <p:spPr>
          <a:xfrm>
            <a:off x="609600" y="4978400"/>
            <a:ext cx="38100" cy="990600"/>
          </a:xfrm>
          <a:prstGeom prst="rect">
            <a:avLst/>
          </a:prstGeom>
          <a:solidFill>
            <a:srgbClr val="B85C28"/>
          </a:solidFill>
          <a:ln>
            <a:noFill/>
          </a:ln>
        </p:spPr>
      </p:sp>
      <p:sp>
        <p:nvSpPr>
          <p:cNvPr id="17" name="note"/>
          <p:cNvSpPr txBox="1"/>
          <p:nvPr/>
        </p:nvSpPr>
        <p:spPr>
          <a:xfrm>
            <a:off x="863600" y="5105400"/>
            <a:ext cx="10515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结构上分成两组：</a:t>
            </a: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语法导向规则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 Var / Abs / App / Let 由表达式的形状唯一决定；</a:t>
            </a: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结构性规则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 Gen / Inst 可在推导中任意时机插入。规则是</a:t>
            </a:r>
            <a:r>
              <a:rPr lang="en-US" sz="1400" i="1" noProof="1">
                <a:solidFill>
                  <a:srgbClr val="2C2A24"/>
                </a:solidFill>
                <a:latin typeface="MiSans"/>
                <a:ea typeface="MiSans"/>
              </a:rPr>
              <a:t>说明性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的 —— 它定义"什么推导合法"，并不直接给出"怎么找推导"，后者是第 4 章算法 W 的任务。</a:t>
            </a:r>
            <a:endParaRPr lang="en-US" sz="1400" noProof="1"/>
          </a:p>
        </p:txBody>
      </p:sp>
      <p:sp>
        <p:nvSpPr>
          <p:cNvPr id="18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9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0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10 / 37</a:t>
            </a:r>
            <a:endParaRPr lang="en-US" sz="12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03 章 · 类型规则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3.2　规则解读（一）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Var / Abs / App：由表达式形状驱动的三条规则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读规则的方式：横线上方是前提，下方是结论；要证明结论，先递归地证明全部前提。</a:t>
            </a:r>
            <a:endParaRPr lang="en-US" sz="1400" noProof="1"/>
          </a:p>
        </p:txBody>
      </p:sp>
      <p:sp>
        <p:nvSpPr>
          <p:cNvPr id="8" name="r1-tag"/>
          <p:cNvSpPr txBox="1"/>
          <p:nvPr/>
        </p:nvSpPr>
        <p:spPr>
          <a:xfrm>
            <a:off x="609600" y="18796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B85C28"/>
                </a:solidFill>
                <a:latin typeface="MiSans"/>
                <a:ea typeface="MiSans"/>
              </a:rPr>
              <a:t>Var</a:t>
            </a:r>
            <a:endParaRPr lang="en-US" sz="14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1-rule"/>
              <p:cNvSpPr txBox="1"/>
              <p:nvPr/>
            </p:nvSpPr>
            <p:spPr>
              <a:xfrm>
                <a:off x="1498600" y="1828800"/>
                <a:ext cx="3810000" cy="6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</m:num>
                      <m:den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en-US" sz="2000" noProof="1"/>
                  <a:t> </a:t>
                </a:r>
              </a:p>
            </p:txBody>
          </p:sp>
        </mc:Choice>
        <mc:Fallback xmlns="">
          <p:sp>
            <p:nvSpPr>
              <p:cNvPr id="9" name="r1-ru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600" y="1828800"/>
                <a:ext cx="3810000" cy="660400"/>
              </a:xfrm>
              <a:prstGeom prst="rect">
                <a:avLst/>
              </a:prstGeom>
              <a:blipFill>
                <a:blip r:embed="rId2"/>
                <a:stretch>
                  <a:fillRect l="-1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1-body"/>
          <p:cNvSpPr txBox="1"/>
          <p:nvPr/>
        </p:nvSpPr>
        <p:spPr>
          <a:xfrm>
            <a:off x="5461000" y="1854200"/>
            <a:ext cx="6121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变量的类型</a:t>
            </a: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查环境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即得。环境里存的是方案 σ，故查出的可以是 ∀α. α→α 这样的多态类型 —— 这是 let 绑定被多次复用的入口。</a:t>
            </a:r>
            <a:endParaRPr lang="en-US" sz="1400" noProof="1"/>
          </a:p>
        </p:txBody>
      </p:sp>
      <p:sp>
        <p:nvSpPr>
          <p:cNvPr id="11" name="r1-line"/>
          <p:cNvSpPr/>
          <p:nvPr/>
        </p:nvSpPr>
        <p:spPr>
          <a:xfrm>
            <a:off x="609600" y="2641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2" name="r2-tag"/>
          <p:cNvSpPr txBox="1"/>
          <p:nvPr/>
        </p:nvSpPr>
        <p:spPr>
          <a:xfrm>
            <a:off x="609600" y="28194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B85C28"/>
                </a:solidFill>
                <a:latin typeface="MiSans"/>
                <a:ea typeface="MiSans"/>
              </a:rPr>
              <a:t>Abs</a:t>
            </a:r>
            <a:endParaRPr lang="en-US" sz="14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2-rule"/>
              <p:cNvSpPr txBox="1"/>
              <p:nvPr/>
            </p:nvSpPr>
            <p:spPr>
              <a:xfrm>
                <a:off x="1498600" y="2768600"/>
                <a:ext cx="3810000" cy="6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noProof="1"/>
                  <a:t> </a:t>
                </a:r>
              </a:p>
            </p:txBody>
          </p:sp>
        </mc:Choice>
        <mc:Fallback xmlns="">
          <p:sp>
            <p:nvSpPr>
              <p:cNvPr id="13" name="r2-ru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600" y="2768600"/>
                <a:ext cx="3810000" cy="660400"/>
              </a:xfrm>
              <a:prstGeom prst="rect">
                <a:avLst/>
              </a:prstGeom>
              <a:blipFill>
                <a:blip r:embed="rId3"/>
                <a:stretch>
                  <a:fillRect l="-16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2-body"/>
          <p:cNvSpPr txBox="1"/>
          <p:nvPr/>
        </p:nvSpPr>
        <p:spPr>
          <a:xfrm>
            <a:off x="5461000" y="2794000"/>
            <a:ext cx="6121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为参数 x </a:t>
            </a: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假设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一个类型 τ₁，在扩展后的环境中推导函数体，得 τ₁→τ₂。注意 τ₁ 是</a:t>
            </a: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单态类型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：λ 绑定的参数在同一函数体内只有一个类型。</a:t>
            </a:r>
            <a:endParaRPr lang="en-US" sz="1400" noProof="1"/>
          </a:p>
        </p:txBody>
      </p:sp>
      <p:sp>
        <p:nvSpPr>
          <p:cNvPr id="15" name="r2-line"/>
          <p:cNvSpPr/>
          <p:nvPr/>
        </p:nvSpPr>
        <p:spPr>
          <a:xfrm>
            <a:off x="609600" y="35814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6" name="r3-tag"/>
          <p:cNvSpPr txBox="1"/>
          <p:nvPr/>
        </p:nvSpPr>
        <p:spPr>
          <a:xfrm>
            <a:off x="609600" y="37592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B85C28"/>
                </a:solidFill>
                <a:latin typeface="MiSans"/>
                <a:ea typeface="MiSans"/>
              </a:rPr>
              <a:t>App</a:t>
            </a:r>
            <a:endParaRPr lang="en-US" sz="14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3-rule"/>
              <p:cNvSpPr txBox="1"/>
              <p:nvPr/>
            </p:nvSpPr>
            <p:spPr>
              <a:xfrm>
                <a:off x="1498600" y="3708400"/>
                <a:ext cx="3937000" cy="66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sSub>
                          <m:sSubPr>
                            <m:ctrlP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sSub>
                          <m:sSubPr>
                            <m:ctrlP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sSub>
                          <m:sSubPr>
                            <m:ctrlP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den>
                    </m:f>
                  </m:oMath>
                </a14:m>
                <a:r>
                  <a:rPr lang="en-US" sz="2000" noProof="1"/>
                  <a:t> </a:t>
                </a:r>
              </a:p>
            </p:txBody>
          </p:sp>
        </mc:Choice>
        <mc:Fallback xmlns="">
          <p:sp>
            <p:nvSpPr>
              <p:cNvPr id="17" name="r3-ru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600" y="3708400"/>
                <a:ext cx="3937000" cy="660400"/>
              </a:xfrm>
              <a:prstGeom prst="rect">
                <a:avLst/>
              </a:prstGeom>
              <a:blipFill>
                <a:blip r:embed="rId4"/>
                <a:stretch>
                  <a:fillRect l="-15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3-body"/>
          <p:cNvSpPr txBox="1"/>
          <p:nvPr/>
        </p:nvSpPr>
        <p:spPr>
          <a:xfrm>
            <a:off x="5461000" y="3733800"/>
            <a:ext cx="63119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应用要求左右两个前提</a:t>
            </a: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共享同一个 τ₂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：函数的定义域必须恰好等于实参的类型。这个"必须相等"在算法层面就是合一（第 4 章）。</a:t>
            </a:r>
            <a:endParaRPr lang="en-US" sz="1400" noProof="1"/>
          </a:p>
        </p:txBody>
      </p:sp>
      <p:sp>
        <p:nvSpPr>
          <p:cNvPr id="19" name="r3-line"/>
          <p:cNvSpPr/>
          <p:nvPr/>
        </p:nvSpPr>
        <p:spPr>
          <a:xfrm>
            <a:off x="609600" y="45212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20" name="warn-box"/>
          <p:cNvSpPr/>
          <p:nvPr/>
        </p:nvSpPr>
        <p:spPr>
          <a:xfrm>
            <a:off x="609600" y="4724400"/>
            <a:ext cx="10972800" cy="1219200"/>
          </a:xfrm>
          <a:prstGeom prst="rect">
            <a:avLst/>
          </a:prstGeom>
          <a:solidFill>
            <a:srgbClr val="EFE8D8"/>
          </a:solidFill>
          <a:ln>
            <a:noFill/>
          </a:ln>
        </p:spPr>
      </p:sp>
      <p:sp>
        <p:nvSpPr>
          <p:cNvPr id="21" name="warn-bar"/>
          <p:cNvSpPr/>
          <p:nvPr/>
        </p:nvSpPr>
        <p:spPr>
          <a:xfrm>
            <a:off x="609600" y="4724400"/>
            <a:ext cx="38100" cy="1219200"/>
          </a:xfrm>
          <a:prstGeom prst="rect">
            <a:avLst/>
          </a:prstGeom>
          <a:solidFill>
            <a:srgbClr val="B85C28"/>
          </a:solidFill>
          <a:ln>
            <a:noFill/>
          </a:ln>
        </p:spPr>
      </p:sp>
      <p:sp>
        <p:nvSpPr>
          <p:cNvPr id="22" name="warn-text"/>
          <p:cNvSpPr txBox="1"/>
          <p:nvPr/>
        </p:nvSpPr>
        <p:spPr>
          <a:xfrm>
            <a:off x="863600" y="4851400"/>
            <a:ext cx="105156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易错点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　λx. (x 1, x true) 不能类型化：第一次应用要求 x : Int→α，第二次要求 x : Bool→β，而 Abs 规则中 x 的类型 τ₁ 是单一的，两个要求无法同时满足。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这正是 </a:t>
            </a: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λ 绑定单态、let 绑定多态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 的不对称性 —— 它是 HM 最重要的设计决定，第 5 章将分析其原因。</a:t>
            </a:r>
            <a:endParaRPr lang="en-US" sz="1400" noProof="1"/>
          </a:p>
        </p:txBody>
      </p:sp>
      <p:sp>
        <p:nvSpPr>
          <p:cNvPr id="23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24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5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11 / 37</a:t>
            </a:r>
            <a:endParaRPr lang="en-US" sz="12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03 章 · 类型规则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3.3　规则解读（二）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Let / Gen / Inst：多态的引入、使用与代价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这三条规则共同完成一件事：让 let 绑定以"模板"形式存入环境，再按需实例化。</a:t>
            </a:r>
            <a:endParaRPr lang="en-US" sz="1400" noProof="1"/>
          </a:p>
        </p:txBody>
      </p:sp>
      <p:sp>
        <p:nvSpPr>
          <p:cNvPr id="8" name="r1-tag"/>
          <p:cNvSpPr txBox="1"/>
          <p:nvPr/>
        </p:nvSpPr>
        <p:spPr>
          <a:xfrm>
            <a:off x="609600" y="18796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B85C28"/>
                </a:solidFill>
                <a:latin typeface="MiSans"/>
                <a:ea typeface="MiSans"/>
              </a:rPr>
              <a:t>Let</a:t>
            </a:r>
            <a:endParaRPr lang="en-US" sz="14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1-rule"/>
              <p:cNvSpPr txBox="1"/>
              <p:nvPr/>
            </p:nvSpPr>
            <p:spPr>
              <a:xfrm>
                <a:off x="1498600" y="1828800"/>
                <a:ext cx="4318000" cy="71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sSub>
                          <m:sSubPr>
                            <m:ctrlP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sSub>
                          <m:sSubPr>
                            <m:ctrlP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num>
                      <m:den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r>
                          <a:rPr lang="en-US" sz="2000" b="1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𝑙𝑒𝑡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1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den>
                    </m:f>
                  </m:oMath>
                </a14:m>
                <a:r>
                  <a:rPr lang="en-US" sz="2000" noProof="1"/>
                  <a:t> </a:t>
                </a:r>
                <a:endParaRPr lang="en-US" sz="1500" noProof="1"/>
              </a:p>
            </p:txBody>
          </p:sp>
        </mc:Choice>
        <mc:Fallback>
          <p:sp>
            <p:nvSpPr>
              <p:cNvPr id="9" name="r1-ru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600" y="1828800"/>
                <a:ext cx="4318000" cy="711200"/>
              </a:xfrm>
              <a:prstGeom prst="rect">
                <a:avLst/>
              </a:prstGeom>
              <a:blipFill>
                <a:blip r:embed="rId2"/>
                <a:stretch>
                  <a:fillRect l="-14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1-body"/>
          <p:cNvSpPr txBox="1"/>
          <p:nvPr/>
        </p:nvSpPr>
        <p:spPr>
          <a:xfrm>
            <a:off x="5969000" y="1854200"/>
            <a:ext cx="5613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先单独推出 e₁ 的类型 σ（可以是方案），再把 </a:t>
            </a: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x : σ 存入环境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推导 e₂。σ 若含量词，x 在 e₂ 中就是多态的。</a:t>
            </a:r>
            <a:endParaRPr lang="en-US" sz="1400" noProof="1"/>
          </a:p>
        </p:txBody>
      </p:sp>
      <p:sp>
        <p:nvSpPr>
          <p:cNvPr id="11" name="r1-line"/>
          <p:cNvSpPr/>
          <p:nvPr/>
        </p:nvSpPr>
        <p:spPr>
          <a:xfrm>
            <a:off x="609600" y="26924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2" name="r2-tag"/>
          <p:cNvSpPr txBox="1"/>
          <p:nvPr/>
        </p:nvSpPr>
        <p:spPr>
          <a:xfrm>
            <a:off x="609600" y="28702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B85C28"/>
                </a:solidFill>
                <a:latin typeface="MiSans"/>
                <a:ea typeface="MiSans"/>
              </a:rPr>
              <a:t>Gen</a:t>
            </a:r>
            <a:endParaRPr lang="en-US" sz="14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2-rule"/>
              <p:cNvSpPr txBox="1"/>
              <p:nvPr/>
            </p:nvSpPr>
            <p:spPr>
              <a:xfrm>
                <a:off x="1498600" y="2819400"/>
                <a:ext cx="4318000" cy="71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∉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𝑓𝑡𝑣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:∀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en-US" sz="2000" noProof="1"/>
                  <a:t> </a:t>
                </a:r>
                <a:endParaRPr lang="en-US" sz="1500" noProof="1"/>
              </a:p>
            </p:txBody>
          </p:sp>
        </mc:Choice>
        <mc:Fallback>
          <p:sp>
            <p:nvSpPr>
              <p:cNvPr id="13" name="r2-ru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600" y="2819400"/>
                <a:ext cx="4318000" cy="711200"/>
              </a:xfrm>
              <a:prstGeom prst="rect">
                <a:avLst/>
              </a:prstGeom>
              <a:blipFill>
                <a:blip r:embed="rId3"/>
                <a:stretch>
                  <a:fillRect l="-1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2-body"/>
          <p:cNvSpPr txBox="1"/>
          <p:nvPr/>
        </p:nvSpPr>
        <p:spPr>
          <a:xfrm>
            <a:off x="5969000" y="2844800"/>
            <a:ext cx="5613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把"与上下文无关"的自由变量提升为约束变量。附加条件 α ∉ ftv(Γ) 是</a:t>
            </a: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安全性前提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：环境在用 α，就不能擅自量化它（回顾 2.4 节）。</a:t>
            </a:r>
            <a:endParaRPr lang="en-US" sz="1400" noProof="1"/>
          </a:p>
        </p:txBody>
      </p:sp>
      <p:sp>
        <p:nvSpPr>
          <p:cNvPr id="15" name="r2-line"/>
          <p:cNvSpPr/>
          <p:nvPr/>
        </p:nvSpPr>
        <p:spPr>
          <a:xfrm>
            <a:off x="609600" y="36322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6" name="r3-tag"/>
          <p:cNvSpPr txBox="1"/>
          <p:nvPr/>
        </p:nvSpPr>
        <p:spPr>
          <a:xfrm>
            <a:off x="609600" y="3810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B85C28"/>
                </a:solidFill>
                <a:latin typeface="MiSans"/>
                <a:ea typeface="MiSans"/>
              </a:rPr>
              <a:t>Inst</a:t>
            </a:r>
            <a:endParaRPr lang="en-US" sz="1400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3-rule"/>
              <p:cNvSpPr txBox="1"/>
              <p:nvPr/>
            </p:nvSpPr>
            <p:spPr>
              <a:xfrm>
                <a:off x="1498600" y="3759200"/>
                <a:ext cx="4318000" cy="71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⊑</m:t>
                        </m:r>
                        <m:sSup>
                          <m:sSupPr>
                            <m:ctrlP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⊢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sSupPr>
                            <m:ctrlP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1500" noProof="1"/>
                  <a:t> </a:t>
                </a:r>
              </a:p>
            </p:txBody>
          </p:sp>
        </mc:Choice>
        <mc:Fallback>
          <p:sp>
            <p:nvSpPr>
              <p:cNvPr id="17" name="r3-ru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600" y="3759200"/>
                <a:ext cx="4318000" cy="711200"/>
              </a:xfrm>
              <a:prstGeom prst="rect">
                <a:avLst/>
              </a:prstGeom>
              <a:blipFill>
                <a:blip r:embed="rId4"/>
                <a:stretch>
                  <a:fillRect l="-1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3-body"/>
          <p:cNvSpPr txBox="1"/>
          <p:nvPr/>
        </p:nvSpPr>
        <p:spPr>
          <a:xfrm>
            <a:off x="5969000" y="3784600"/>
            <a:ext cx="5613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把已建立的类型换成它的任意实例。与 Gen 互为对偶：Gen 沿推导树"向上"加量词，Inst "向下"拆量词。</a:t>
            </a:r>
            <a:endParaRPr lang="en-US" sz="1400" noProof="1"/>
          </a:p>
        </p:txBody>
      </p:sp>
      <p:sp>
        <p:nvSpPr>
          <p:cNvPr id="19" name="r3-line"/>
          <p:cNvSpPr/>
          <p:nvPr/>
        </p:nvSpPr>
        <p:spPr>
          <a:xfrm>
            <a:off x="609600" y="45720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20" name="coop-box"/>
          <p:cNvSpPr/>
          <p:nvPr/>
        </p:nvSpPr>
        <p:spPr>
          <a:xfrm>
            <a:off x="609600" y="4775200"/>
            <a:ext cx="10972800" cy="1511300"/>
          </a:xfrm>
          <a:prstGeom prst="rect">
            <a:avLst/>
          </a:prstGeom>
          <a:solidFill>
            <a:srgbClr val="EFE8D8"/>
          </a:solidFill>
          <a:ln>
            <a:noFill/>
          </a:ln>
        </p:spPr>
      </p:sp>
      <p:sp>
        <p:nvSpPr>
          <p:cNvPr id="21" name="coop-bar"/>
          <p:cNvSpPr/>
          <p:nvPr/>
        </p:nvSpPr>
        <p:spPr>
          <a:xfrm>
            <a:off x="609599" y="4775199"/>
            <a:ext cx="45719" cy="1402049"/>
          </a:xfrm>
          <a:prstGeom prst="rect">
            <a:avLst/>
          </a:prstGeom>
          <a:solidFill>
            <a:srgbClr val="B85C28"/>
          </a:solidFill>
          <a:ln>
            <a:noFill/>
          </a:ln>
        </p:spPr>
      </p:sp>
      <p:sp>
        <p:nvSpPr>
          <p:cNvPr id="22" name="coop-text"/>
          <p:cNvSpPr txBox="1"/>
          <p:nvPr/>
        </p:nvSpPr>
        <p:spPr>
          <a:xfrm>
            <a:off x="863600" y="4902200"/>
            <a:ext cx="10515600" cy="1384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三条规则如何配合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　推导 let x = e₁ in e₂ 时：先推 e₁ 得 τ；用 Gen 把不在 ftv(Γ) 中的变量量化，得 σ = ∀ᾱ.τ；以 x : σ 推 e₂；e₂ 中每次用到 x，经 Var 查出 σ，再经 Inst 取一个具体实例。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问题：Gen 和 Inst 可以在推导中</a:t>
            </a: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任意位置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插入，选择空间无限 —— 下一节将看到，算法 W 用"let 处泛化、var 处实例化"的固定策略消除这种任意性。</a:t>
            </a:r>
            <a:endParaRPr lang="en-US" sz="1400" noProof="1"/>
          </a:p>
        </p:txBody>
      </p:sp>
      <p:sp>
        <p:nvSpPr>
          <p:cNvPr id="23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24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5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12 / 37</a:t>
            </a:r>
            <a:endParaRPr lang="en-US" sz="12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03 章 · 类型规则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3.4　推导示例 ①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手工推导：⊢ λx.x : α→α，再泛化为 ∀α. α→α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推导树自底向上读：从目标出发，每一步选择一条规则，直到所有叶子都是公理。</a:t>
            </a:r>
            <a:endParaRPr lang="en-US" sz="1400" noProof="1"/>
          </a:p>
        </p:txBody>
      </p:sp>
      <p:sp>
        <p:nvSpPr>
          <p:cNvPr id="8" name="tree-box"/>
          <p:cNvSpPr/>
          <p:nvPr/>
        </p:nvSpPr>
        <p:spPr>
          <a:xfrm>
            <a:off x="609600" y="1879600"/>
            <a:ext cx="5824538" cy="3048000"/>
          </a:xfrm>
          <a:prstGeom prst="rect">
            <a:avLst/>
          </a:prstGeom>
          <a:solidFill>
            <a:srgbClr val="EFE8D8"/>
          </a:solidFill>
          <a:ln>
            <a:noFill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ree"/>
              <p:cNvSpPr txBox="1"/>
              <p:nvPr/>
            </p:nvSpPr>
            <p:spPr>
              <a:xfrm>
                <a:off x="914400" y="2133600"/>
                <a:ext cx="5281613" cy="254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∈{</m:t>
                            </m:r>
                            <m: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num>
                          <m:den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}⊢</m:t>
                            </m:r>
                            <m:r>
                              <a:rPr lang="en-US" sz="2000" i="1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sz="2000" i="0" noProof="1">
                                <a:solidFill>
                                  <a:srgbClr val="2C2A24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den>
                        </m:f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𝑉𝑎𝑟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∅⊢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den>
                    </m:f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𝐴𝑏𝑠</m:t>
                    </m:r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noProof="1"/>
                  <a:t> </a:t>
                </a:r>
              </a:p>
              <a:p>
                <a:pPr algn="ctr">
                  <a:lnSpc>
                    <a:spcPct val="150000"/>
                  </a:lnSpc>
                  <a:spcBef>
                    <a:spcPts val="140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∅⊢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∉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𝑓𝑡𝑣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(∅)</m:t>
                        </m:r>
                      </m:num>
                      <m:den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∅⊢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:∀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. 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den>
                    </m:f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𝐺𝑒𝑛</m:t>
                    </m:r>
                    <m:r>
                      <a:rPr lang="en-US" sz="20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noProof="1"/>
                  <a:t> </a:t>
                </a:r>
              </a:p>
            </p:txBody>
          </p:sp>
        </mc:Choice>
        <mc:Fallback xmlns="">
          <p:sp>
            <p:nvSpPr>
              <p:cNvPr id="9" name="tre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133600"/>
                <a:ext cx="5281613" cy="2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teps-label"/>
          <p:cNvSpPr txBox="1"/>
          <p:nvPr/>
        </p:nvSpPr>
        <p:spPr>
          <a:xfrm>
            <a:off x="6500813" y="2312996"/>
            <a:ext cx="5081587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逐步说明</a:t>
            </a:r>
            <a:endParaRPr lang="en-US" sz="1300" noProof="1"/>
          </a:p>
        </p:txBody>
      </p:sp>
      <p:sp>
        <p:nvSpPr>
          <p:cNvPr id="11" name="steps"/>
          <p:cNvSpPr txBox="1"/>
          <p:nvPr/>
        </p:nvSpPr>
        <p:spPr>
          <a:xfrm>
            <a:off x="6500813" y="2592396"/>
            <a:ext cx="5081587" cy="20653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第 1 步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　目标是 ⊢ λx.x : ?，表达式是抽象，只能用 Abs。</a:t>
            </a: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第 2 步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　为 x 假设一个类型变量 α，新目标：{x:α} ⊢ x : α。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第 3 步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　x:α 恰在环境中，Var 公理直接成立，子树闭合。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第 4 步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　α 不出现在空环境中，Gen 的附加条件满足，可量化。</a:t>
            </a:r>
            <a:endParaRPr lang="en-US" sz="1400" noProof="1"/>
          </a:p>
        </p:txBody>
      </p:sp>
      <p:sp>
        <p:nvSpPr>
          <p:cNvPr id="12" name="note-box"/>
          <p:cNvSpPr/>
          <p:nvPr/>
        </p:nvSpPr>
        <p:spPr>
          <a:xfrm>
            <a:off x="609600" y="5130800"/>
            <a:ext cx="10972800" cy="8382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3" name="note"/>
          <p:cNvSpPr txBox="1"/>
          <p:nvPr/>
        </p:nvSpPr>
        <p:spPr>
          <a:xfrm>
            <a:off x="812800" y="5257800"/>
            <a:ext cx="10566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b="1" noProof="1">
                <a:solidFill>
                  <a:srgbClr val="E0975C"/>
                </a:solidFill>
                <a:latin typeface="MiSans"/>
                <a:ea typeface="MiSans"/>
              </a:rPr>
              <a:t>观察</a:t>
            </a:r>
            <a:r>
              <a:rPr lang="en-US" sz="1400" noProof="1">
                <a:solidFill>
                  <a:srgbClr val="DCE4D8"/>
                </a:solidFill>
                <a:latin typeface="MiSans"/>
                <a:ea typeface="MiSans"/>
              </a:rPr>
              <a:t>　α→α 是 λx.x 的</a:t>
            </a:r>
            <a:r>
              <a:rPr lang="en-US" sz="1400" b="1" noProof="1">
                <a:solidFill>
                  <a:srgbClr val="DCE4D8"/>
                </a:solidFill>
                <a:latin typeface="MiSans"/>
                <a:ea typeface="MiSans"/>
              </a:rPr>
              <a:t>主类型</a:t>
            </a:r>
            <a:r>
              <a:rPr lang="en-US" sz="1400" noProof="1">
                <a:solidFill>
                  <a:srgbClr val="DCE4D8"/>
                </a:solidFill>
                <a:latin typeface="MiSans"/>
                <a:ea typeface="MiSans"/>
              </a:rPr>
              <a:t>：Int→Int、(Bool→Bool)→(Bool→Bool) 等一切合法类型都是 ∀α. α→α 的实例。推导中一旦把 α 替换成具体类型，就只能得到更特殊的结论。</a:t>
            </a:r>
            <a:endParaRPr lang="en-US" sz="1400" noProof="1"/>
          </a:p>
        </p:txBody>
      </p:sp>
      <p:sp>
        <p:nvSpPr>
          <p:cNvPr id="14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5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16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13 / 37</a:t>
            </a:r>
            <a:endParaRPr lang="en-US" sz="12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03 章 · 类型规则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3.5　推导示例 ②：let 多态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let id = λx.x in (id 1, id true)：一次定义，两种用法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为本例扩展语法：加入二元组 (e₁, e₂) 与积类型 τ₁ × τ₂，规则为通常的直积引入。</a:t>
            </a:r>
            <a:endParaRPr lang="en-US" sz="1400" noProof="1"/>
          </a:p>
        </p:txBody>
      </p:sp>
      <p:sp>
        <p:nvSpPr>
          <p:cNvPr id="8" name="step-label"/>
          <p:cNvSpPr txBox="1"/>
          <p:nvPr/>
        </p:nvSpPr>
        <p:spPr>
          <a:xfrm>
            <a:off x="609600" y="187960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推导的骨架（自底向上构造）</a:t>
            </a:r>
            <a:endParaRPr lang="en-US" sz="1300" noProof="1"/>
          </a:p>
        </p:txBody>
      </p:sp>
      <p:sp>
        <p:nvSpPr>
          <p:cNvPr id="9" name="step-body"/>
          <p:cNvSpPr txBox="1"/>
          <p:nvPr/>
        </p:nvSpPr>
        <p:spPr>
          <a:xfrm>
            <a:off x="609600" y="2159000"/>
            <a:ext cx="584200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①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 由 3.4 节得 ∅ ⊢ λx.x : α→α；α ∉ ftv(∅)，经 Gen 得 ∅ ⊢ λx.x : ∀α. α→α。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700"/>
              </a:spcBef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②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 以 Γ₁ = {id : ∀α. α→α} 推右手边。第一次使用：Var 查出 ∀α. α→α，Inst 取 [α↦Int]，得 id : Int→Int；故 id 1 : Int。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700"/>
              </a:spcBef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③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 第二次使用：同一方案换一组实例 [α↦Bool]，得 id : Bool→Bool；故 id true : Bool。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700"/>
              </a:spcBef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④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 积引入得 Γ₁ ⊢ (id 1, id true) : Int × Bool；Let 规则闭合整个推导。</a:t>
            </a:r>
            <a:endParaRPr lang="en-US" sz="1400" noProof="1"/>
          </a:p>
        </p:txBody>
      </p:sp>
      <p:sp>
        <p:nvSpPr>
          <p:cNvPr id="10" name="code-box"/>
          <p:cNvSpPr/>
          <p:nvPr/>
        </p:nvSpPr>
        <p:spPr>
          <a:xfrm>
            <a:off x="6756400" y="1879600"/>
            <a:ext cx="4826000" cy="24892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1" name="code-bar"/>
          <p:cNvSpPr/>
          <p:nvPr/>
        </p:nvSpPr>
        <p:spPr>
          <a:xfrm>
            <a:off x="6756400" y="1879600"/>
            <a:ext cx="4826000" cy="279400"/>
          </a:xfrm>
          <a:prstGeom prst="rect">
            <a:avLst/>
          </a:prstGeom>
          <a:solidFill>
            <a:srgbClr val="1C362B"/>
          </a:solidFill>
          <a:ln>
            <a:noFill/>
          </a:ln>
        </p:spPr>
      </p:sp>
      <p:sp>
        <p:nvSpPr>
          <p:cNvPr id="12" name="code-title"/>
          <p:cNvSpPr txBox="1"/>
          <p:nvPr/>
        </p:nvSpPr>
        <p:spPr>
          <a:xfrm>
            <a:off x="6908800" y="1917700"/>
            <a:ext cx="4521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对照：OCaml 的实际推断结果</a:t>
            </a:r>
            <a:endParaRPr lang="en-US" sz="1200" noProof="1"/>
          </a:p>
        </p:txBody>
      </p:sp>
      <p:sp>
        <p:nvSpPr>
          <p:cNvPr id="13" name="code-body"/>
          <p:cNvSpPr txBox="1"/>
          <p:nvPr/>
        </p:nvSpPr>
        <p:spPr>
          <a:xfrm>
            <a:off x="6959600" y="2286000"/>
            <a:ext cx="4419600" cy="193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let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id =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fun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x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x;;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val id : 'a -&gt; 'a = &lt;fun&gt;</a:t>
            </a:r>
            <a:endParaRPr lang="en-US" sz="1200" noProof="1"/>
          </a:p>
          <a:p>
            <a:pPr>
              <a:lnSpc>
                <a:spcPct val="155000"/>
              </a:lnSpc>
            </a:pP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(id </a:t>
            </a:r>
            <a:r>
              <a:rPr lang="en-US" sz="1200" noProof="1">
                <a:solidFill>
                  <a:srgbClr val="D9A06B"/>
                </a:solidFill>
                <a:latin typeface="Roboto Mono"/>
                <a:ea typeface="Roboto Mono"/>
              </a:rPr>
              <a:t>1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, id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true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);;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- : int * bool = (1, true)</a:t>
            </a:r>
            <a:endParaRPr lang="en-US" sz="1200" noProof="1"/>
          </a:p>
          <a:p>
            <a:pPr>
              <a:lnSpc>
                <a:spcPct val="155000"/>
              </a:lnSpc>
            </a:pP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两次使用取不同类型，均成立</a:t>
            </a:r>
            <a:endParaRPr lang="en-US" sz="1200" noProof="1"/>
          </a:p>
        </p:txBody>
      </p:sp>
      <p:sp>
        <p:nvSpPr>
          <p:cNvPr id="14" name="contrast-box"/>
          <p:cNvSpPr/>
          <p:nvPr/>
        </p:nvSpPr>
        <p:spPr>
          <a:xfrm>
            <a:off x="6756400" y="4572000"/>
            <a:ext cx="4826000" cy="1371600"/>
          </a:xfrm>
          <a:prstGeom prst="rect">
            <a:avLst/>
          </a:prstGeom>
          <a:solidFill>
            <a:srgbClr val="EFE8D8"/>
          </a:solidFill>
          <a:ln>
            <a:noFill/>
          </a:ln>
        </p:spPr>
      </p:sp>
      <p:sp>
        <p:nvSpPr>
          <p:cNvPr id="15" name="contrast-bar"/>
          <p:cNvSpPr/>
          <p:nvPr/>
        </p:nvSpPr>
        <p:spPr>
          <a:xfrm>
            <a:off x="6756400" y="4572000"/>
            <a:ext cx="38100" cy="1371600"/>
          </a:xfrm>
          <a:prstGeom prst="rect">
            <a:avLst/>
          </a:prstGeom>
          <a:solidFill>
            <a:srgbClr val="B85C28"/>
          </a:solidFill>
          <a:ln>
            <a:noFill/>
          </a:ln>
        </p:spPr>
      </p:sp>
      <p:sp>
        <p:nvSpPr>
          <p:cNvPr id="16" name="contrast-text"/>
          <p:cNvSpPr txBox="1"/>
          <p:nvPr/>
        </p:nvSpPr>
        <p:spPr>
          <a:xfrm>
            <a:off x="6959600" y="4673600"/>
            <a:ext cx="44704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对照失败情形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若写成 λid. (id 1, id true)，id 由 Abs 引入、只能取单一类型，Int→α 与 Bool→β 不可调和，推导无法完成。</a:t>
            </a:r>
            <a:endParaRPr lang="en-US" sz="1300" noProof="1"/>
          </a:p>
        </p:txBody>
      </p:sp>
      <p:sp>
        <p:nvSpPr>
          <p:cNvPr id="17" name="take"/>
          <p:cNvSpPr txBox="1"/>
          <p:nvPr/>
        </p:nvSpPr>
        <p:spPr>
          <a:xfrm>
            <a:off x="609600" y="5283200"/>
            <a:ext cx="5842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要点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　let 把"一份定义"变成"一个类型方案"，使用处各自实例化 —— 这就是 </a:t>
            </a: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let 多态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，HM 区别于简单类型 λ 演算的本质。</a:t>
            </a:r>
            <a:endParaRPr lang="en-US" sz="1400" noProof="1"/>
          </a:p>
        </p:txBody>
      </p:sp>
      <p:sp>
        <p:nvSpPr>
          <p:cNvPr id="18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9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0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14 / 37</a:t>
            </a:r>
            <a:endParaRPr lang="en-US" sz="12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04 章 · 类型推断算法 W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4.1　从规则到算法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说明性规则不能直接运行：两个"任意性"必须消除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六条规则定义了合法推导的集合，但要变成算法，先要回答"每一步该用哪条规则、量词何时加、实例取什么"。</a:t>
            </a:r>
            <a:endParaRPr lang="en-US" sz="1400" noProof="1"/>
          </a:p>
        </p:txBody>
      </p:sp>
      <p:sp>
        <p:nvSpPr>
          <p:cNvPr id="8" name="prob-label"/>
          <p:cNvSpPr txBox="1"/>
          <p:nvPr/>
        </p:nvSpPr>
        <p:spPr>
          <a:xfrm>
            <a:off x="609600" y="18796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规则层面的两个非确定性来源</a:t>
            </a:r>
            <a:endParaRPr lang="en-US" sz="1300" noProof="1"/>
          </a:p>
        </p:txBody>
      </p:sp>
      <p:sp>
        <p:nvSpPr>
          <p:cNvPr id="9" name="prob-body"/>
          <p:cNvSpPr txBox="1"/>
          <p:nvPr/>
        </p:nvSpPr>
        <p:spPr>
          <a:xfrm>
            <a:off x="609600" y="2159000"/>
            <a:ext cx="5334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① Gen / Inst 可在任意位置插入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：推导树不唯一，搜索空间无穷。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② Abs 中的 τ₁ 自由出现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：为参数假设哪个类型？选小了不够用，选大了不够一般。</a:t>
            </a:r>
            <a:endParaRPr lang="en-US" sz="1400" noProof="1"/>
          </a:p>
        </p:txBody>
      </p:sp>
      <p:sp>
        <p:nvSpPr>
          <p:cNvPr id="10" name="sol-label"/>
          <p:cNvSpPr txBox="1"/>
          <p:nvPr/>
        </p:nvSpPr>
        <p:spPr>
          <a:xfrm>
            <a:off x="6248400" y="18796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算法的对策：两条固定策略</a:t>
            </a:r>
            <a:endParaRPr lang="en-US" sz="1300" noProof="1"/>
          </a:p>
        </p:txBody>
      </p:sp>
      <p:sp>
        <p:nvSpPr>
          <p:cNvPr id="11" name="sol-body"/>
          <p:cNvSpPr txBox="1"/>
          <p:nvPr/>
        </p:nvSpPr>
        <p:spPr>
          <a:xfrm>
            <a:off x="6248400" y="2159000"/>
            <a:ext cx="5334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① 固定量词的位置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：只在 let 处泛化，只在 Var 处实例化 —— 语法导向，规则由表达式形状唯一决定。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② 推迟选择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：为参数取</a:t>
            </a: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全新的类型变量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 β，把约束留到应用处用合一求解 —— "先做最一般的假设，再按需收窄"。</a:t>
            </a:r>
            <a:endParaRPr lang="en-US" sz="1400" noProof="1"/>
          </a:p>
        </p:txBody>
      </p:sp>
      <p:sp>
        <p:nvSpPr>
          <p:cNvPr id="12" name="arrow-rule"/>
          <p:cNvSpPr/>
          <p:nvPr/>
        </p:nvSpPr>
        <p:spPr>
          <a:xfrm>
            <a:off x="609600" y="42164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3" name="flow-1"/>
          <p:cNvSpPr txBox="1"/>
          <p:nvPr/>
        </p:nvSpPr>
        <p:spPr>
          <a:xfrm>
            <a:off x="609600" y="4470400"/>
            <a:ext cx="254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说明性规则</a:t>
            </a:r>
            <a:endParaRPr lang="en-US" sz="1300" noProof="1"/>
          </a:p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6B6E62"/>
                </a:solidFill>
                <a:latin typeface="MiSans"/>
                <a:ea typeface="MiSans"/>
              </a:rPr>
              <a:t>六条规则，定义合法的推导树集合</a:t>
            </a:r>
            <a:endParaRPr lang="en-US" sz="1300" noProof="1"/>
          </a:p>
        </p:txBody>
      </p:sp>
      <p:sp>
        <p:nvSpPr>
          <p:cNvPr id="14" name="flow-a1"/>
          <p:cNvSpPr txBox="1"/>
          <p:nvPr/>
        </p:nvSpPr>
        <p:spPr>
          <a:xfrm>
            <a:off x="3200400" y="4673600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B85C28"/>
                </a:solidFill>
                <a:latin typeface="MiSans"/>
                <a:ea typeface="MiSans"/>
              </a:rPr>
              <a:t>→</a:t>
            </a:r>
            <a:endParaRPr lang="en-US" sz="1800" noProof="1"/>
          </a:p>
        </p:txBody>
      </p:sp>
      <p:sp>
        <p:nvSpPr>
          <p:cNvPr id="15" name="flow-2"/>
          <p:cNvSpPr txBox="1"/>
          <p:nvPr/>
        </p:nvSpPr>
        <p:spPr>
          <a:xfrm>
            <a:off x="3657600" y="4470400"/>
            <a:ext cx="279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语法导向规则</a:t>
            </a:r>
            <a:endParaRPr lang="en-US" sz="1300" noProof="1"/>
          </a:p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6B6E62"/>
                </a:solidFill>
                <a:latin typeface="MiSans"/>
                <a:ea typeface="MiSans"/>
              </a:rPr>
              <a:t>Gen 并入 let，Inst 并入 var，规则随语法唯一确定</a:t>
            </a:r>
            <a:endParaRPr lang="en-US" sz="1300" noProof="1"/>
          </a:p>
        </p:txBody>
      </p:sp>
      <p:sp>
        <p:nvSpPr>
          <p:cNvPr id="16" name="flow-a2"/>
          <p:cNvSpPr txBox="1"/>
          <p:nvPr/>
        </p:nvSpPr>
        <p:spPr>
          <a:xfrm>
            <a:off x="6502400" y="4673600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B85C28"/>
                </a:solidFill>
                <a:latin typeface="MiSans"/>
                <a:ea typeface="MiSans"/>
              </a:rPr>
              <a:t>→</a:t>
            </a:r>
            <a:endParaRPr lang="en-US" sz="1800" noProof="1"/>
          </a:p>
        </p:txBody>
      </p:sp>
      <p:sp>
        <p:nvSpPr>
          <p:cNvPr id="17" name="flow-3"/>
          <p:cNvSpPr txBox="1"/>
          <p:nvPr/>
        </p:nvSpPr>
        <p:spPr>
          <a:xfrm>
            <a:off x="6959600" y="4470400"/>
            <a:ext cx="2667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算法 W</a:t>
            </a:r>
            <a:endParaRPr lang="en-US" sz="1300" noProof="1"/>
          </a:p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6B6E62"/>
                </a:solidFill>
                <a:latin typeface="MiSans"/>
                <a:ea typeface="MiSans"/>
              </a:rPr>
              <a:t>新变量 + 合一，替换沿推导树流动与复合</a:t>
            </a:r>
            <a:endParaRPr lang="en-US" sz="1300" noProof="1"/>
          </a:p>
        </p:txBody>
      </p:sp>
      <p:sp>
        <p:nvSpPr>
          <p:cNvPr id="18" name="flow-a3"/>
          <p:cNvSpPr txBox="1"/>
          <p:nvPr/>
        </p:nvSpPr>
        <p:spPr>
          <a:xfrm>
            <a:off x="9677400" y="4673600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noProof="1">
                <a:solidFill>
                  <a:srgbClr val="B85C28"/>
                </a:solidFill>
                <a:latin typeface="MiSans"/>
                <a:ea typeface="MiSans"/>
              </a:rPr>
              <a:t>→</a:t>
            </a:r>
            <a:endParaRPr lang="en-US" sz="1800" noProof="1"/>
          </a:p>
        </p:txBody>
      </p:sp>
      <p:sp>
        <p:nvSpPr>
          <p:cNvPr id="19" name="flow-4"/>
          <p:cNvSpPr txBox="1"/>
          <p:nvPr/>
        </p:nvSpPr>
        <p:spPr>
          <a:xfrm>
            <a:off x="10134600" y="4470400"/>
            <a:ext cx="1447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主类型</a:t>
            </a:r>
            <a:endParaRPr lang="en-US" sz="1300" noProof="1"/>
          </a:p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6B6E62"/>
                </a:solidFill>
                <a:latin typeface="MiSans"/>
                <a:ea typeface="MiSans"/>
              </a:rPr>
              <a:t>最一般的类型方案</a:t>
            </a:r>
            <a:endParaRPr lang="en-US" sz="1300" noProof="1"/>
          </a:p>
        </p:txBody>
      </p:sp>
      <p:sp>
        <p:nvSpPr>
          <p:cNvPr id="20" name="note"/>
          <p:cNvSpPr txBox="1"/>
          <p:nvPr/>
        </p:nvSpPr>
        <p:spPr>
          <a:xfrm>
            <a:off x="609600" y="55880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这一改造的正确性不是显然的：需要证明语法导向版本与原规则</a:t>
            </a:r>
            <a:r>
              <a:rPr lang="en-US" sz="1200" b="1" noProof="1">
                <a:solidFill>
                  <a:srgbClr val="6B6E62"/>
                </a:solidFill>
                <a:latin typeface="MiSans"/>
                <a:ea typeface="MiSans"/>
              </a:rPr>
              <a:t>可推导性一致</a:t>
            </a: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（Damas–Milner 1982 的核心工作），见 4.5 节定理。</a:t>
            </a:r>
            <a:endParaRPr lang="en-US" sz="1200" noProof="1"/>
          </a:p>
        </p:txBody>
      </p:sp>
      <p:sp>
        <p:nvSpPr>
          <p:cNvPr id="21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22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3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15 / 37</a:t>
            </a:r>
            <a:endParaRPr lang="en-US" sz="12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04 章 · 类型推断算法 W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4.2　合一（unification）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Robinson 合一算法：求"使两个类型相等"的最一般替换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App 规则要求"函数定义域 = 实参类型"；合一就是求解这类类型等式约束的子算法。</a:t>
            </a:r>
            <a:endParaRPr lang="en-US" sz="1400" noProof="1"/>
          </a:p>
        </p:txBody>
      </p:sp>
      <p:sp>
        <p:nvSpPr>
          <p:cNvPr id="8" name="def-label"/>
          <p:cNvSpPr txBox="1"/>
          <p:nvPr/>
        </p:nvSpPr>
        <p:spPr>
          <a:xfrm>
            <a:off x="609600" y="18796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定义（最一般合一子，mgu）</a:t>
            </a:r>
            <a:endParaRPr lang="en-US" sz="13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def-body"/>
              <p:cNvSpPr txBox="1"/>
              <p:nvPr/>
            </p:nvSpPr>
            <p:spPr>
              <a:xfrm>
                <a:off x="609600" y="2159000"/>
                <a:ext cx="5334000" cy="165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60000"/>
                  </a:lnSpc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替换 S 是 τ₁ 与 τ₂ 的</a:t>
                </a:r>
                <a:r>
                  <a:rPr lang="en-US" sz="1400" b="1" noProof="1">
                    <a:solidFill>
                      <a:srgbClr val="2C2A24"/>
                    </a:solidFill>
                    <a:latin typeface="MiSans"/>
                    <a:ea typeface="MiSans"/>
                  </a:rPr>
                  <a:t>合一子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，若 </a:t>
                </a:r>
                <a14:m>
                  <m:oMath xmlns:m="http://schemas.openxmlformats.org/officeDocument/2006/math">
                    <m:r>
                      <a:rPr lang="en-US" sz="1400" i="1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。</a:t>
                </a:r>
                <a:endParaRPr lang="en-US" sz="1400" noProof="1"/>
              </a:p>
              <a:p>
                <a:pPr>
                  <a:lnSpc>
                    <a:spcPct val="160000"/>
                  </a:lnSpc>
                  <a:spcBef>
                    <a:spcPts val="800"/>
                  </a:spcBef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若 τ₁、τ₂ 可合一，则存在</a:t>
                </a:r>
                <a:r>
                  <a:rPr lang="en-US" sz="1400" b="1" noProof="1">
                    <a:solidFill>
                      <a:srgbClr val="2C2A24"/>
                    </a:solidFill>
                    <a:latin typeface="MiSans"/>
                    <a:ea typeface="MiSans"/>
                  </a:rPr>
                  <a:t>最一般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合一子 U：任何合一子 S 都是 U 的实例（即存在 R 使 S = R ∘ U）。合一算法（Robinson, 1965）求出 U 或报告不可合一。</a:t>
                </a:r>
                <a:endParaRPr lang="en-US" sz="1400" noProof="1"/>
              </a:p>
            </p:txBody>
          </p:sp>
        </mc:Choice>
        <mc:Fallback xmlns:c="http://schemas.openxmlformats.org/drawingml/2006/chart" xmlns:cx="http://schemas.microsoft.com/office/drawing/2014/chartex" xmlns:m="http://schemas.openxmlformats.org/officeDocument/2006/math" xmlns:pptd="https://kimi-design.msh.team/pptd/2026" xmlns="">
          <p:sp>
            <p:nvSpPr>
              <p:cNvPr id="9" name="def-body"/>
              <p:cNvSpPr txBox="1"/>
              <p:nvPr/>
            </p:nvSpPr>
            <p:spPr>
              <a:xfrm>
                <a:off x="609600" y="2159000"/>
                <a:ext cx="5334000" cy="165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替换 S 是 τ₁ 与 τ₂ 的</a:t>
                </a:r>
                <a:r>
                  <a:rPr lang="en-US" sz="1400" noProof="1" b="1">
                    <a:solidFill>
                      <a:srgbClr val="2C2A24"/>
                    </a:solidFill>
                    <a:latin typeface="MiSans"/>
                    <a:ea typeface="MiSans"/>
                  </a:rPr>
                  <a:t>合一子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，若 \(S\tau_1 = S\tau_2\)。</a:t>
                </a:r>
                <a:endParaRPr lang="en-US" sz="1400" noProof="1"/>
              </a:p>
              <a:p>
                <a:pPr>
                  <a:lnSpc>
                    <a:spcPct val="160000"/>
                  </a:lnSpc>
                  <a:spcBef>
                    <a:spcPts val="800"/>
                  </a:spcBef>
                </a:pP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若 τ₁、τ₂ 可合一，则存在</a:t>
                </a:r>
                <a:r>
                  <a:rPr lang="en-US" sz="1400" noProof="1" b="1">
                    <a:solidFill>
                      <a:srgbClr val="2C2A24"/>
                    </a:solidFill>
                    <a:latin typeface="MiSans"/>
                    <a:ea typeface="MiSans"/>
                  </a:rPr>
                  <a:t>最一般</a:t>
                </a:r>
                <a:r>
                  <a:rPr lang="en-US" sz="1400" noProof="1">
                    <a:solidFill>
                      <a:srgbClr val="2C2A24"/>
                    </a:solidFill>
                    <a:latin typeface="MiSans"/>
                    <a:ea typeface="MiSans"/>
                  </a:rPr>
                  <a:t>合一子 U：任何合一子 S 都是 U 的实例（即存在 R 使 S = R ∘ U）。合一算法（Robinson, 1965）求出 U 或报告不可合一。</a:t>
                </a:r>
                <a:endParaRPr lang="en-US" sz="1400" noProof="1"/>
              </a:p>
            </p:txBody>
          </p:sp>
        </mc:Fallback>
      </mc:AlternateContent>
      <p:sp>
        <p:nvSpPr>
          <p:cNvPr id="10" name="ex-label"/>
          <p:cNvSpPr txBox="1"/>
          <p:nvPr/>
        </p:nvSpPr>
        <p:spPr>
          <a:xfrm>
            <a:off x="609600" y="39878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例子</a:t>
            </a:r>
            <a:endParaRPr lang="en-US" sz="1300" noProof="1"/>
          </a:p>
        </p:txBody>
      </p:sp>
      <p:sp>
        <p:nvSpPr>
          <p:cNvPr id="11" name="ex-body"/>
          <p:cNvSpPr txBox="1"/>
          <p:nvPr/>
        </p:nvSpPr>
        <p:spPr>
          <a:xfrm>
            <a:off x="609600" y="4267200"/>
            <a:ext cx="5334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· mgu(α→β, Int→γ) = [α↦Int, β↦γ]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500"/>
              </a:spcBef>
            </a:pP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· mgu(α→α, Int→Bool) = </a:t>
            </a: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失败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（Int ≠ Bool）</a:t>
            </a:r>
            <a:endParaRPr lang="en-US" sz="1400" noProof="1"/>
          </a:p>
          <a:p>
            <a:pPr>
              <a:lnSpc>
                <a:spcPct val="160000"/>
              </a:lnSpc>
              <a:spcBef>
                <a:spcPts val="500"/>
              </a:spcBef>
            </a:pP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· mgu(α, α→β) = </a:t>
            </a: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失败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（发生检查：α 出现在右端）</a:t>
            </a:r>
            <a:endParaRPr lang="en-US" sz="1400" noProof="1"/>
          </a:p>
        </p:txBody>
      </p:sp>
      <p:sp>
        <p:nvSpPr>
          <p:cNvPr id="12" name="algo-box"/>
          <p:cNvSpPr/>
          <p:nvPr/>
        </p:nvSpPr>
        <p:spPr>
          <a:xfrm>
            <a:off x="6248400" y="1879600"/>
            <a:ext cx="5334000" cy="36576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3" name="algo-bar"/>
          <p:cNvSpPr/>
          <p:nvPr/>
        </p:nvSpPr>
        <p:spPr>
          <a:xfrm>
            <a:off x="6248400" y="1879600"/>
            <a:ext cx="5334000" cy="279400"/>
          </a:xfrm>
          <a:prstGeom prst="rect">
            <a:avLst/>
          </a:prstGeom>
          <a:solidFill>
            <a:srgbClr val="1C362B"/>
          </a:solidFill>
          <a:ln>
            <a:noFill/>
          </a:ln>
        </p:spPr>
      </p:sp>
      <p:sp>
        <p:nvSpPr>
          <p:cNvPr id="14" name="algo-title"/>
          <p:cNvSpPr txBox="1"/>
          <p:nvPr/>
        </p:nvSpPr>
        <p:spPr>
          <a:xfrm>
            <a:off x="6400800" y="1917700"/>
            <a:ext cx="5029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合一 · 递归定义</a:t>
            </a:r>
            <a:endParaRPr lang="en-US" sz="1200" noProof="1"/>
          </a:p>
        </p:txBody>
      </p:sp>
      <p:sp>
        <p:nvSpPr>
          <p:cNvPr id="15" name="algo-code"/>
          <p:cNvSpPr txBox="1"/>
          <p:nvPr/>
        </p:nvSpPr>
        <p:spPr>
          <a:xfrm>
            <a:off x="6451600" y="2260600"/>
            <a:ext cx="4978400" cy="312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unify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(α, α) = []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unify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(α, τ) =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if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α ∈ ftv(τ)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then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fail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发生检查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else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[α ↦ τ]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unify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(τ, α) =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unify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(α, τ)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unify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(ι, ι) = []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unify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(τ₁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τ₂, τ₁′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τ₂′) =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let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S₁ =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unify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(τ₁, τ₁′)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in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S₂ ∘ S₁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where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S₂ =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unify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(S₁ τ₂, S₁ τ₂′)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unify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(_, _) = fail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结构不匹配</a:t>
            </a:r>
            <a:endParaRPr lang="en-US" sz="1200" noProof="1"/>
          </a:p>
        </p:txBody>
      </p:sp>
      <p:sp>
        <p:nvSpPr>
          <p:cNvPr id="16" name="occur-note"/>
          <p:cNvSpPr txBox="1"/>
          <p:nvPr/>
        </p:nvSpPr>
        <p:spPr>
          <a:xfrm>
            <a:off x="609600" y="57404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发生检查（occurs check）阻止 α ↦ α→β 这类"无限类型"代入，是保证类型有限的必要条件，省略它会导致系统不可靠。</a:t>
            </a:r>
            <a:endParaRPr lang="en-US" sz="1200" noProof="1"/>
          </a:p>
        </p:txBody>
      </p:sp>
      <p:sp>
        <p:nvSpPr>
          <p:cNvPr id="17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8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19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16 / 37</a:t>
            </a:r>
            <a:endParaRPr lang="en-US" sz="12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04 章 · 类型推断算法 W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4.3　算法 W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算法 W：W(Γ, e) = (S, τ)，一条规则对应一个分支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输入环境 Γ 与表达式 e，输出替换 S 与单态类型 τ，使得 SΓ ⊢ e : τ。</a:t>
            </a:r>
            <a:endParaRPr lang="en-US" sz="1400" noProof="1"/>
          </a:p>
        </p:txBody>
      </p:sp>
      <p:sp>
        <p:nvSpPr>
          <p:cNvPr id="8" name="algo-box"/>
          <p:cNvSpPr/>
          <p:nvPr/>
        </p:nvSpPr>
        <p:spPr>
          <a:xfrm>
            <a:off x="609600" y="1879600"/>
            <a:ext cx="10972800" cy="34544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9" name="algo-bar"/>
          <p:cNvSpPr/>
          <p:nvPr/>
        </p:nvSpPr>
        <p:spPr>
          <a:xfrm>
            <a:off x="609600" y="1879600"/>
            <a:ext cx="10972800" cy="279400"/>
          </a:xfrm>
          <a:prstGeom prst="rect">
            <a:avLst/>
          </a:prstGeom>
          <a:solidFill>
            <a:srgbClr val="1C362B"/>
          </a:solidFill>
          <a:ln>
            <a:noFill/>
          </a:ln>
        </p:spPr>
      </p:sp>
      <p:sp>
        <p:nvSpPr>
          <p:cNvPr id="10" name="algo-title"/>
          <p:cNvSpPr txBox="1"/>
          <p:nvPr/>
        </p:nvSpPr>
        <p:spPr>
          <a:xfrm>
            <a:off x="762000" y="19177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算法 W（Milner 1978；β 均表示全新类型变量）</a:t>
            </a:r>
            <a:endParaRPr lang="en-US" sz="1200" noProof="1"/>
          </a:p>
        </p:txBody>
      </p:sp>
      <p:sp>
        <p:nvSpPr>
          <p:cNvPr id="11" name="algo-left"/>
          <p:cNvSpPr txBox="1"/>
          <p:nvPr/>
        </p:nvSpPr>
        <p:spPr>
          <a:xfrm>
            <a:off x="812800" y="2336800"/>
            <a:ext cx="5283200" cy="279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W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(Γ, x) =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let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∀α₁…αₙ.τ = Γ(x)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in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(∅, [α₁↦β₁,…,αₙ↦βₙ] τ)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实例化</a:t>
            </a:r>
            <a:endParaRPr lang="en-US" sz="1200" noProof="1"/>
          </a:p>
          <a:p>
            <a:pPr>
              <a:lnSpc>
                <a:spcPct val="145000"/>
              </a:lnSpc>
            </a:pP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W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(Γ, λx. e) =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let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(S₁, τ₁) = W(Γ ∪ {x:β}, e)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in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(S₁, S₁β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τ₁)            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新变量假设</a:t>
            </a:r>
            <a:endParaRPr lang="en-US" sz="1200" noProof="1"/>
          </a:p>
        </p:txBody>
      </p:sp>
      <p:sp>
        <p:nvSpPr>
          <p:cNvPr id="12" name="algo-right"/>
          <p:cNvSpPr txBox="1"/>
          <p:nvPr/>
        </p:nvSpPr>
        <p:spPr>
          <a:xfrm>
            <a:off x="6451600" y="2336800"/>
            <a:ext cx="4978400" cy="289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W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(Γ, e₁ e₂) =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let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(S₁, τ₁) = W(Γ, e₁)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(S₂, τ₂) = W(S₁Γ, e₂)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U  =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unify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(S₂τ₁, τ₂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β)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in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(U ∘ S₂ ∘ S₁, U β)  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合一约束</a:t>
            </a:r>
            <a:endParaRPr lang="en-US" sz="1200" noProof="1"/>
          </a:p>
          <a:p>
            <a:pPr>
              <a:lnSpc>
                <a:spcPct val="145000"/>
              </a:lnSpc>
            </a:pP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W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(Γ,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let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x = e₁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in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e₂) =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let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(S₁, τ₁) = W(Γ, e₁)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σ = gen(S₁Γ, τ₁)     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泛化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(S₂, τ₂) = W(S₁Γ ∪ {x:σ}, e₂)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in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(S₂ ∘ S₁, τ₂)</a:t>
            </a:r>
            <a:endParaRPr lang="en-US" sz="1200" noProof="1"/>
          </a:p>
        </p:txBody>
      </p:sp>
      <p:sp>
        <p:nvSpPr>
          <p:cNvPr id="13" name="note-box"/>
          <p:cNvSpPr/>
          <p:nvPr/>
        </p:nvSpPr>
        <p:spPr>
          <a:xfrm>
            <a:off x="609600" y="5486400"/>
            <a:ext cx="10972800" cy="635000"/>
          </a:xfrm>
          <a:prstGeom prst="rect">
            <a:avLst/>
          </a:prstGeom>
          <a:solidFill>
            <a:srgbClr val="EFE8D8"/>
          </a:solidFill>
          <a:ln>
            <a:noFill/>
          </a:ln>
        </p:spPr>
      </p:sp>
      <p:sp>
        <p:nvSpPr>
          <p:cNvPr id="14" name="note-bar"/>
          <p:cNvSpPr/>
          <p:nvPr/>
        </p:nvSpPr>
        <p:spPr>
          <a:xfrm>
            <a:off x="609600" y="5486400"/>
            <a:ext cx="38100" cy="635000"/>
          </a:xfrm>
          <a:prstGeom prst="rect">
            <a:avLst/>
          </a:prstGeom>
          <a:solidFill>
            <a:srgbClr val="B85C28"/>
          </a:solidFill>
          <a:ln>
            <a:noFill/>
          </a:ln>
        </p:spPr>
      </p:sp>
      <p:sp>
        <p:nvSpPr>
          <p:cNvPr id="15" name="note"/>
          <p:cNvSpPr txBox="1"/>
          <p:nvPr/>
        </p:nvSpPr>
        <p:spPr>
          <a:xfrm>
            <a:off x="863600" y="5575300"/>
            <a:ext cx="10515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阅读要点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替换 S 沿递归调用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向下传递、向上复合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（U ∘ S₂ ∘ S₁）；var 分支负责实例化，let 分支负责泛化 —— 与 4.1 节的两条策略严格对应。</a:t>
            </a:r>
            <a:endParaRPr lang="en-US" sz="1300" noProof="1"/>
          </a:p>
        </p:txBody>
      </p:sp>
      <p:sp>
        <p:nvSpPr>
          <p:cNvPr id="16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7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18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17 / 37</a:t>
            </a:r>
            <a:endParaRPr lang="en-US" sz="12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04 章 · 类型推断算法 W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4.3 详解（一）· 总览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先读懂签名：W(Γ, e) = (S, τ) 在说什么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四个分支共用同一份"合同"；把这份合同读透，后面每条规则都是它的特例。</a:t>
            </a:r>
            <a:endParaRPr lang="en-US" sz="1400" noProof="1"/>
          </a:p>
        </p:txBody>
      </p:sp>
      <p:sp>
        <p:nvSpPr>
          <p:cNvPr id="8" name="io-label"/>
          <p:cNvSpPr txBox="1"/>
          <p:nvPr/>
        </p:nvSpPr>
        <p:spPr>
          <a:xfrm>
            <a:off x="609600" y="18796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输入与输出的含义</a:t>
            </a:r>
            <a:endParaRPr lang="en-US" sz="13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io-body"/>
              <p:cNvSpPr txBox="1"/>
              <p:nvPr/>
            </p:nvSpPr>
            <p:spPr>
              <a:xfrm>
                <a:off x="609600" y="2159000"/>
                <a:ext cx="5588000" cy="213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60000"/>
                  </a:lnSpc>
                </a:pPr>
                <a:r>
                  <a:rPr lang="en-US" sz="1300" b="1" noProof="1">
                    <a:solidFill>
                      <a:srgbClr val="2C2A24"/>
                    </a:solidFill>
                    <a:latin typeface="MiSans"/>
                    <a:ea typeface="MiSans"/>
                  </a:rPr>
                  <a:t>输入</a:t>
                </a:r>
                <a:r>
                  <a:rPr lang="en-US" sz="1300" noProof="1">
                    <a:solidFill>
                      <a:srgbClr val="2C2A24"/>
                    </a:solidFill>
                    <a:latin typeface="MiSans"/>
                    <a:ea typeface="MiSans"/>
                  </a:rPr>
                  <a:t>　类型环境 Γ（自由变量当前的类型方案）与表达式 e。</a:t>
                </a:r>
                <a:endParaRPr lang="en-US" sz="1300" noProof="1"/>
              </a:p>
              <a:p>
                <a:pPr>
                  <a:lnSpc>
                    <a:spcPct val="160000"/>
                  </a:lnSpc>
                  <a:spcBef>
                    <a:spcPts val="700"/>
                  </a:spcBef>
                </a:pPr>
                <a:r>
                  <a:rPr lang="en-US" sz="1300" b="1" noProof="1">
                    <a:solidFill>
                      <a:srgbClr val="2C2A24"/>
                    </a:solidFill>
                    <a:latin typeface="MiSans"/>
                    <a:ea typeface="MiSans"/>
                  </a:rPr>
                  <a:t>输出</a:t>
                </a:r>
                <a:r>
                  <a:rPr lang="en-US" sz="1300" noProof="1">
                    <a:solidFill>
                      <a:srgbClr val="2C2A24"/>
                    </a:solidFill>
                    <a:latin typeface="MiSans"/>
                    <a:ea typeface="MiSans"/>
                  </a:rPr>
                  <a:t>　替换 S 与单态类型 τ，保证 </a:t>
                </a:r>
                <a14:m>
                  <m:oMath xmlns:m="http://schemas.openxmlformats.org/officeDocument/2006/math">
                    <m:r>
                      <a:rPr lang="en-US" sz="1300" i="1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3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𝛤</m:t>
                    </m:r>
                    <m:r>
                      <a:rPr lang="en-US" sz="13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⊢</m:t>
                    </m:r>
                    <m:r>
                      <a:rPr lang="en-US" sz="1300" i="1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3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3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300" noProof="1">
                    <a:solidFill>
                      <a:srgbClr val="2C2A24"/>
                    </a:solidFill>
                    <a:latin typeface="MiSans"/>
                    <a:ea typeface="MiSans"/>
                  </a:rPr>
                  <a:t>，且 τ 是</a:t>
                </a:r>
                <a:r>
                  <a:rPr lang="en-US" sz="1300" b="1" noProof="1">
                    <a:solidFill>
                      <a:srgbClr val="2C2A24"/>
                    </a:solidFill>
                    <a:latin typeface="MiSans"/>
                    <a:ea typeface="MiSans"/>
                  </a:rPr>
                  <a:t>最一般</a:t>
                </a:r>
                <a:r>
                  <a:rPr lang="en-US" sz="1300" noProof="1">
                    <a:solidFill>
                      <a:srgbClr val="2C2A24"/>
                    </a:solidFill>
                    <a:latin typeface="MiSans"/>
                    <a:ea typeface="MiSans"/>
                  </a:rPr>
                  <a:t>的那个。</a:t>
                </a:r>
                <a:endParaRPr lang="en-US" sz="1300" noProof="1"/>
              </a:p>
              <a:p>
                <a:pPr>
                  <a:lnSpc>
                    <a:spcPct val="160000"/>
                  </a:lnSpc>
                  <a:spcBef>
                    <a:spcPts val="700"/>
                  </a:spcBef>
                </a:pPr>
                <a:r>
                  <a:rPr lang="en-US" sz="1300" b="1" noProof="1">
                    <a:solidFill>
                      <a:srgbClr val="2C2A24"/>
                    </a:solidFill>
                    <a:latin typeface="MiSans"/>
                    <a:ea typeface="MiSans"/>
                  </a:rPr>
                  <a:t>为什么输出要带 S</a:t>
                </a:r>
                <a:r>
                  <a:rPr lang="en-US" sz="1300" noProof="1">
                    <a:solidFill>
                      <a:srgbClr val="2C2A24"/>
                    </a:solidFill>
                    <a:latin typeface="MiSans"/>
                    <a:ea typeface="MiSans"/>
                  </a:rPr>
                  <a:t>　推导 e 时可能已经"收窄"了环境里变量的类型，这个发现必须用 S 记录下来、传给后续推导。</a:t>
                </a:r>
                <a:endParaRPr lang="en-US" sz="1300" noProof="1"/>
              </a:p>
            </p:txBody>
          </p:sp>
        </mc:Choice>
        <mc:Fallback xmlns:c="http://schemas.openxmlformats.org/drawingml/2006/chart" xmlns:cx="http://schemas.microsoft.com/office/drawing/2014/chartex" xmlns:m="http://schemas.openxmlformats.org/officeDocument/2006/math" xmlns:pptd="https://kimi-design.msh.team/pptd/2026" xmlns="">
          <p:sp>
            <p:nvSpPr>
              <p:cNvPr id="9" name="io-body"/>
              <p:cNvSpPr txBox="1"/>
              <p:nvPr/>
            </p:nvSpPr>
            <p:spPr>
              <a:xfrm>
                <a:off x="609600" y="2159000"/>
                <a:ext cx="5588000" cy="213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300" noProof="1" b="1">
                    <a:solidFill>
                      <a:srgbClr val="2C2A24"/>
                    </a:solidFill>
                    <a:latin typeface="MiSans"/>
                    <a:ea typeface="MiSans"/>
                  </a:rPr>
                  <a:t>输入</a:t>
                </a:r>
                <a:r>
                  <a:rPr lang="en-US" sz="1300" noProof="1">
                    <a:solidFill>
                      <a:srgbClr val="2C2A24"/>
                    </a:solidFill>
                    <a:latin typeface="MiSans"/>
                    <a:ea typeface="MiSans"/>
                  </a:rPr>
                  <a:t>　类型环境 Γ（自由变量当前的类型方案）与表达式 e。</a:t>
                </a:r>
                <a:endParaRPr lang="en-US" sz="1300" noProof="1"/>
              </a:p>
              <a:p>
                <a:pPr>
                  <a:lnSpc>
                    <a:spcPct val="160000"/>
                  </a:lnSpc>
                  <a:spcBef>
                    <a:spcPts val="700"/>
                  </a:spcBef>
                </a:pPr>
                <a:r>
                  <a:rPr lang="en-US" sz="1300" noProof="1" b="1">
                    <a:solidFill>
                      <a:srgbClr val="2C2A24"/>
                    </a:solidFill>
                    <a:latin typeface="MiSans"/>
                    <a:ea typeface="MiSans"/>
                  </a:rPr>
                  <a:t>输出</a:t>
                </a:r>
                <a:r>
                  <a:rPr lang="en-US" sz="1300" noProof="1">
                    <a:solidFill>
                      <a:srgbClr val="2C2A24"/>
                    </a:solidFill>
                    <a:latin typeface="MiSans"/>
                    <a:ea typeface="MiSans"/>
                  </a:rPr>
                  <a:t>　替换 S 与单态类型 τ，保证 \(S\Gamma \vdash e : \tau\)，且 τ 是</a:t>
                </a:r>
                <a:r>
                  <a:rPr lang="en-US" sz="1300" noProof="1" b="1">
                    <a:solidFill>
                      <a:srgbClr val="2C2A24"/>
                    </a:solidFill>
                    <a:latin typeface="MiSans"/>
                    <a:ea typeface="MiSans"/>
                  </a:rPr>
                  <a:t>最一般</a:t>
                </a:r>
                <a:r>
                  <a:rPr lang="en-US" sz="1300" noProof="1">
                    <a:solidFill>
                      <a:srgbClr val="2C2A24"/>
                    </a:solidFill>
                    <a:latin typeface="MiSans"/>
                    <a:ea typeface="MiSans"/>
                  </a:rPr>
                  <a:t>的那个。</a:t>
                </a:r>
                <a:endParaRPr lang="en-US" sz="1300" noProof="1"/>
              </a:p>
              <a:p>
                <a:pPr>
                  <a:lnSpc>
                    <a:spcPct val="160000"/>
                  </a:lnSpc>
                  <a:spcBef>
                    <a:spcPts val="700"/>
                  </a:spcBef>
                </a:pPr>
                <a:r>
                  <a:rPr lang="en-US" sz="1300" noProof="1" b="1">
                    <a:solidFill>
                      <a:srgbClr val="2C2A24"/>
                    </a:solidFill>
                    <a:latin typeface="MiSans"/>
                    <a:ea typeface="MiSans"/>
                  </a:rPr>
                  <a:t>为什么输出要带 S</a:t>
                </a:r>
                <a:r>
                  <a:rPr lang="en-US" sz="1300" noProof="1">
                    <a:solidFill>
                      <a:srgbClr val="2C2A24"/>
                    </a:solidFill>
                    <a:latin typeface="MiSans"/>
                    <a:ea typeface="MiSans"/>
                  </a:rPr>
                  <a:t>　推导 e 时可能已经"收窄"了环境里变量的类型，这个发现必须用 S 记录下来、传给后续推导。</a:t>
                </a:r>
                <a:endParaRPr lang="en-US" sz="1300" noProof="1"/>
              </a:p>
            </p:txBody>
          </p:sp>
        </mc:Fallback>
      </mc:AlternateContent>
      <p:sp>
        <p:nvSpPr>
          <p:cNvPr id="10" name="beta-label"/>
          <p:cNvSpPr txBox="1"/>
          <p:nvPr/>
        </p:nvSpPr>
        <p:spPr>
          <a:xfrm>
            <a:off x="609600" y="44450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贯穿全程的约定：新类型变量</a:t>
            </a:r>
            <a:endParaRPr lang="en-US" sz="1300" noProof="1"/>
          </a:p>
        </p:txBody>
      </p:sp>
      <p:sp>
        <p:nvSpPr>
          <p:cNvPr id="11" name="beta-body"/>
          <p:cNvSpPr txBox="1"/>
          <p:nvPr/>
        </p:nvSpPr>
        <p:spPr>
          <a:xfrm>
            <a:off x="609600" y="4724400"/>
            <a:ext cx="5588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β（β₁、β₂……）一律表示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刚生成的、别处从未用过的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类型变量。这是算法"推迟做决定"的手段：先假设成未知数，等合一（unify）来求解。</a:t>
            </a:r>
            <a:endParaRPr lang="en-US" sz="1300" noProof="1"/>
          </a:p>
        </p:txBody>
      </p:sp>
      <p:sp>
        <p:nvSpPr>
          <p:cNvPr id="12" name="ex-box"/>
          <p:cNvSpPr/>
          <p:nvPr/>
        </p:nvSpPr>
        <p:spPr>
          <a:xfrm>
            <a:off x="6502400" y="1879600"/>
            <a:ext cx="5080000" cy="22352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3" name="ex-bar"/>
          <p:cNvSpPr/>
          <p:nvPr/>
        </p:nvSpPr>
        <p:spPr>
          <a:xfrm>
            <a:off x="6502400" y="1879600"/>
            <a:ext cx="5080000" cy="279400"/>
          </a:xfrm>
          <a:prstGeom prst="rect">
            <a:avLst/>
          </a:prstGeom>
          <a:solidFill>
            <a:srgbClr val="1C362B"/>
          </a:solidFill>
          <a:ln>
            <a:noFill/>
          </a:ln>
        </p:spPr>
      </p:sp>
      <p:sp>
        <p:nvSpPr>
          <p:cNvPr id="14" name="ex-title"/>
          <p:cNvSpPr txBox="1"/>
          <p:nvPr/>
        </p:nvSpPr>
        <p:spPr>
          <a:xfrm>
            <a:off x="6654800" y="1917700"/>
            <a:ext cx="4775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微型示例 · 为什么 S 必须传出</a:t>
            </a:r>
            <a:endParaRPr lang="en-US" sz="1200" noProof="1"/>
          </a:p>
        </p:txBody>
      </p:sp>
      <p:sp>
        <p:nvSpPr>
          <p:cNvPr id="15" name="ex-code"/>
          <p:cNvSpPr txBox="1"/>
          <p:nvPr/>
        </p:nvSpPr>
        <p:spPr>
          <a:xfrm>
            <a:off x="6705600" y="2286000"/>
            <a:ext cx="4673600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Γ = { f : β }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β 还是未知数</a:t>
            </a:r>
            <a:endParaRPr lang="en-US" sz="1200" noProof="1"/>
          </a:p>
          <a:p>
            <a:pPr>
              <a:lnSpc>
                <a:spcPct val="155000"/>
              </a:lnSpc>
            </a:pP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W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(Γ, f </a:t>
            </a:r>
            <a:r>
              <a:rPr lang="en-US" sz="1200" noProof="1">
                <a:solidFill>
                  <a:srgbClr val="D9A06B"/>
                </a:solidFill>
                <a:latin typeface="Roboto Mono"/>
                <a:ea typeface="Roboto Mono"/>
              </a:rPr>
              <a:t>1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)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=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(S, τ)</a:t>
            </a:r>
            <a:endParaRPr lang="en-US" sz="1200" noProof="1"/>
          </a:p>
          <a:p>
            <a:pPr>
              <a:lnSpc>
                <a:spcPct val="155000"/>
              </a:lnSpc>
            </a:pP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S = [β ↦ </a:t>
            </a: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Int -&gt; Int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]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学到了 f 的真实类型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τ = </a:t>
            </a: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Int</a:t>
            </a:r>
            <a:endParaRPr lang="en-US" sz="1200" noProof="1"/>
          </a:p>
        </p:txBody>
      </p:sp>
      <p:sp>
        <p:nvSpPr>
          <p:cNvPr id="16" name="ex-note"/>
          <p:cNvSpPr txBox="1"/>
          <p:nvPr/>
        </p:nvSpPr>
        <p:spPr>
          <a:xfrm>
            <a:off x="6502400" y="43180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若 S 不传出去，后续对 f 的再次使用仍会把 β 当未知数 —— 信息丢失，推断结果彼此矛盾。</a:t>
            </a:r>
            <a:endParaRPr lang="en-US" sz="1300" noProof="1"/>
          </a:p>
        </p:txBody>
      </p:sp>
      <p:sp>
        <p:nvSpPr>
          <p:cNvPr id="17" name="road-box"/>
          <p:cNvSpPr/>
          <p:nvPr/>
        </p:nvSpPr>
        <p:spPr>
          <a:xfrm>
            <a:off x="6502400" y="5232400"/>
            <a:ext cx="5080000" cy="762000"/>
          </a:xfrm>
          <a:prstGeom prst="rect">
            <a:avLst/>
          </a:prstGeom>
          <a:solidFill>
            <a:srgbClr val="EFE8D8"/>
          </a:solidFill>
          <a:ln>
            <a:noFill/>
          </a:ln>
        </p:spPr>
      </p:sp>
      <p:sp>
        <p:nvSpPr>
          <p:cNvPr id="18" name="road-bar"/>
          <p:cNvSpPr/>
          <p:nvPr/>
        </p:nvSpPr>
        <p:spPr>
          <a:xfrm>
            <a:off x="6502400" y="5232400"/>
            <a:ext cx="38100" cy="762000"/>
          </a:xfrm>
          <a:prstGeom prst="rect">
            <a:avLst/>
          </a:prstGeom>
          <a:solidFill>
            <a:srgbClr val="B85C28"/>
          </a:solidFill>
          <a:ln>
            <a:noFill/>
          </a:ln>
        </p:spPr>
      </p:sp>
      <p:sp>
        <p:nvSpPr>
          <p:cNvPr id="19" name="road-text"/>
          <p:cNvSpPr txBox="1"/>
          <p:nvPr/>
        </p:nvSpPr>
        <p:spPr>
          <a:xfrm>
            <a:off x="6705600" y="53340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接下来五页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Var → Abs → App（上、下）→ Let 逐分支拆解，每条配具体例子，最后一张表汇总。</a:t>
            </a:r>
            <a:endParaRPr lang="en-US" sz="1300" noProof="1"/>
          </a:p>
        </p:txBody>
      </p:sp>
      <p:sp>
        <p:nvSpPr>
          <p:cNvPr id="20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21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2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18 / 37</a:t>
            </a:r>
            <a:endParaRPr lang="en-US" sz="12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04 章 · 类型推断算法 W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4.3 详解（二）· 变量分支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W(Γ, x)：查环境，并现取一个新实例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多态名字的每一次使用，都必须拿到一份互不相同的"新鲜副本"。</a:t>
            </a:r>
            <a:endParaRPr lang="en-US" sz="1400" noProof="1"/>
          </a:p>
        </p:txBody>
      </p:sp>
      <p:sp>
        <p:nvSpPr>
          <p:cNvPr id="8" name="code-box"/>
          <p:cNvSpPr/>
          <p:nvPr/>
        </p:nvSpPr>
        <p:spPr>
          <a:xfrm>
            <a:off x="609600" y="1879600"/>
            <a:ext cx="5334000" cy="15240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9" name="code-bar"/>
          <p:cNvSpPr/>
          <p:nvPr/>
        </p:nvSpPr>
        <p:spPr>
          <a:xfrm>
            <a:off x="609600" y="1879600"/>
            <a:ext cx="5334000" cy="279400"/>
          </a:xfrm>
          <a:prstGeom prst="rect">
            <a:avLst/>
          </a:prstGeom>
          <a:solidFill>
            <a:srgbClr val="1C362B"/>
          </a:solidFill>
          <a:ln>
            <a:noFill/>
          </a:ln>
        </p:spPr>
      </p:sp>
      <p:sp>
        <p:nvSpPr>
          <p:cNvPr id="10" name="code-title"/>
          <p:cNvSpPr txBox="1"/>
          <p:nvPr/>
        </p:nvSpPr>
        <p:spPr>
          <a:xfrm>
            <a:off x="762000" y="1917700"/>
            <a:ext cx="5029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分支 1 · 变量</a:t>
            </a:r>
            <a:endParaRPr lang="en-US" sz="1200" noProof="1"/>
          </a:p>
        </p:txBody>
      </p:sp>
      <p:sp>
        <p:nvSpPr>
          <p:cNvPr id="11" name="code-body"/>
          <p:cNvSpPr txBox="1"/>
          <p:nvPr/>
        </p:nvSpPr>
        <p:spPr>
          <a:xfrm>
            <a:off x="812800" y="2286000"/>
            <a:ext cx="49784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W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(Γ, x) =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let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∀α₁…αₙ.τ = Γ(x)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in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(∅, [α₁↦β₁,…,αₙ↦βₙ] τ)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实例化</a:t>
            </a:r>
            <a:endParaRPr lang="en-US" sz="1200" noProof="1"/>
          </a:p>
        </p:txBody>
      </p:sp>
      <p:sp>
        <p:nvSpPr>
          <p:cNvPr id="12" name="why-body"/>
          <p:cNvSpPr txBox="1"/>
          <p:nvPr/>
        </p:nvSpPr>
        <p:spPr>
          <a:xfrm>
            <a:off x="609600" y="3606800"/>
            <a:ext cx="5334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做什么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查出 x 的方案，把约束变量 αᵢ 全部换成新变量 βᵢ。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700"/>
              </a:spcBef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为什么必须换新变量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否则同一名字的两次使用会共享同一批未知数，彼此污染 —— let 多态就靠"每次换新"实现。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700"/>
              </a:spcBef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S 为什么是 ∅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查环境没有学到任何关于其他变量的信息。</a:t>
            </a:r>
            <a:endParaRPr lang="en-US" sz="1300" noProof="1"/>
          </a:p>
        </p:txBody>
      </p:sp>
      <p:sp>
        <p:nvSpPr>
          <p:cNvPr id="13" name="ex-label"/>
          <p:cNvSpPr txBox="1"/>
          <p:nvPr/>
        </p:nvSpPr>
        <p:spPr>
          <a:xfrm>
            <a:off x="6248400" y="18796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三个例子</a:t>
            </a:r>
            <a:endParaRPr lang="en-US" sz="1300" noProof="1"/>
          </a:p>
        </p:txBody>
      </p:sp>
      <p:sp>
        <p:nvSpPr>
          <p:cNvPr id="14" name="ex1"/>
          <p:cNvSpPr txBox="1"/>
          <p:nvPr/>
        </p:nvSpPr>
        <p:spPr>
          <a:xfrm>
            <a:off x="6248400" y="2184400"/>
            <a:ext cx="5334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例 1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Γ(id) = ∀α. α→α。第一次使用返回 (∅, 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β₁→β₁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)；第二次使用返回 (∅, 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β₂→β₂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)。两份副本独立，之后 β₁ 可合一成 Int、β₂ 可合一成 Bool，互不干扰 —— 这正是 </a:t>
            </a:r>
            <a:r>
              <a:rPr lang="en-US" sz="1300" noProof="1">
                <a:solidFill>
                  <a:srgbClr val="2C2A24"/>
                </a:solidFill>
                <a:latin typeface="Roboto Mono"/>
                <a:ea typeface="Roboto Mono"/>
              </a:rPr>
              <a:t>id 1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 与 </a:t>
            </a:r>
            <a:r>
              <a:rPr lang="en-US" sz="1300" noProof="1">
                <a:solidFill>
                  <a:srgbClr val="2C2A24"/>
                </a:solidFill>
                <a:latin typeface="Roboto Mono"/>
                <a:ea typeface="Roboto Mono"/>
              </a:rPr>
              <a:t>id true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 同时成立的算法机制。</a:t>
            </a:r>
            <a:endParaRPr lang="en-US" sz="1300" noProof="1"/>
          </a:p>
        </p:txBody>
      </p:sp>
      <p:sp>
        <p:nvSpPr>
          <p:cNvPr id="15" name="ex-line1"/>
          <p:cNvSpPr/>
          <p:nvPr/>
        </p:nvSpPr>
        <p:spPr>
          <a:xfrm>
            <a:off x="6248400" y="3530600"/>
            <a:ext cx="53340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6" name="ex2"/>
          <p:cNvSpPr txBox="1"/>
          <p:nvPr/>
        </p:nvSpPr>
        <p:spPr>
          <a:xfrm>
            <a:off x="6248400" y="3708400"/>
            <a:ext cx="533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例 2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常量看作零个量化变量的方案：Γ(3) = Int，没有 α 可换，原样返回 (∅, 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Int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)。</a:t>
            </a:r>
            <a:endParaRPr lang="en-US" sz="1300" noProof="1"/>
          </a:p>
        </p:txBody>
      </p:sp>
      <p:sp>
        <p:nvSpPr>
          <p:cNvPr id="17" name="ex-line2"/>
          <p:cNvSpPr/>
          <p:nvPr/>
        </p:nvSpPr>
        <p:spPr>
          <a:xfrm>
            <a:off x="6248400" y="4572000"/>
            <a:ext cx="53340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8" name="ex3"/>
          <p:cNvSpPr txBox="1"/>
          <p:nvPr/>
        </p:nvSpPr>
        <p:spPr>
          <a:xfrm>
            <a:off x="6248400" y="4749800"/>
            <a:ext cx="533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例 3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若 x 不在 Γ 中，查表失败 —— 这就是编译器"未绑定变量"错误的来源。</a:t>
            </a:r>
            <a:endParaRPr lang="en-US" sz="1300" noProof="1"/>
          </a:p>
        </p:txBody>
      </p:sp>
      <p:sp>
        <p:nvSpPr>
          <p:cNvPr id="19" name="take-box"/>
          <p:cNvSpPr/>
          <p:nvPr/>
        </p:nvSpPr>
        <p:spPr>
          <a:xfrm>
            <a:off x="609600" y="5689600"/>
            <a:ext cx="10972800" cy="3810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20" name="take"/>
          <p:cNvSpPr txBox="1"/>
          <p:nvPr/>
        </p:nvSpPr>
        <p:spPr>
          <a:xfrm>
            <a:off x="812800" y="57658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E0975C"/>
                </a:solidFill>
                <a:latin typeface="MiSans"/>
                <a:ea typeface="MiSans"/>
              </a:rPr>
              <a:t>一句话</a:t>
            </a:r>
            <a:r>
              <a:rPr lang="en-US" sz="1300" noProof="1">
                <a:solidFill>
                  <a:srgbClr val="DCE4D8"/>
                </a:solidFill>
                <a:latin typeface="MiSans"/>
                <a:ea typeface="MiSans"/>
              </a:rPr>
              <a:t>　Var 分支是 ∀ 的"拆包处"：方案进环境时打包，每次使用时重新拆出一份新副本。</a:t>
            </a:r>
            <a:endParaRPr lang="en-US" sz="1300" noProof="1"/>
          </a:p>
        </p:txBody>
      </p:sp>
      <p:sp>
        <p:nvSpPr>
          <p:cNvPr id="21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22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3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19 / 37</a:t>
            </a:r>
            <a:endParaRPr lang="en-US" sz="12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04 章 · 类型推断算法 W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4.3 详解（三）· 抽象分支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W(Γ, λx. e)：给参数一个未知数，递归推函数体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参数类型不做任何预设 —— 假设成全新变量 β，让函数体的推导去收窄它。</a:t>
            </a:r>
            <a:endParaRPr lang="en-US" sz="1400" noProof="1"/>
          </a:p>
        </p:txBody>
      </p:sp>
      <p:sp>
        <p:nvSpPr>
          <p:cNvPr id="8" name="code-box"/>
          <p:cNvSpPr/>
          <p:nvPr/>
        </p:nvSpPr>
        <p:spPr>
          <a:xfrm>
            <a:off x="609600" y="1879600"/>
            <a:ext cx="5334000" cy="15240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9" name="code-bar"/>
          <p:cNvSpPr/>
          <p:nvPr/>
        </p:nvSpPr>
        <p:spPr>
          <a:xfrm>
            <a:off x="609600" y="1879600"/>
            <a:ext cx="5334000" cy="279400"/>
          </a:xfrm>
          <a:prstGeom prst="rect">
            <a:avLst/>
          </a:prstGeom>
          <a:solidFill>
            <a:srgbClr val="1C362B"/>
          </a:solidFill>
          <a:ln>
            <a:noFill/>
          </a:ln>
        </p:spPr>
      </p:sp>
      <p:sp>
        <p:nvSpPr>
          <p:cNvPr id="10" name="code-title"/>
          <p:cNvSpPr txBox="1"/>
          <p:nvPr/>
        </p:nvSpPr>
        <p:spPr>
          <a:xfrm>
            <a:off x="762000" y="1917700"/>
            <a:ext cx="5029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分支 2 · 抽象</a:t>
            </a:r>
            <a:endParaRPr lang="en-US" sz="1200" noProof="1"/>
          </a:p>
        </p:txBody>
      </p:sp>
      <p:sp>
        <p:nvSpPr>
          <p:cNvPr id="11" name="code-body"/>
          <p:cNvSpPr txBox="1"/>
          <p:nvPr/>
        </p:nvSpPr>
        <p:spPr>
          <a:xfrm>
            <a:off x="812800" y="2286000"/>
            <a:ext cx="49784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W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(Γ, λx. e) =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let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(S₁, τ₁) = W(Γ ∪ {x:β}, e)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in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(S₁, S₁β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τ₁)  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新变量假设</a:t>
            </a:r>
            <a:endParaRPr lang="en-US" sz="1200" noProof="1"/>
          </a:p>
        </p:txBody>
      </p:sp>
      <p:sp>
        <p:nvSpPr>
          <p:cNvPr id="12" name="why-body"/>
          <p:cNvSpPr txBox="1"/>
          <p:nvPr/>
        </p:nvSpPr>
        <p:spPr>
          <a:xfrm>
            <a:off x="609600" y="3606800"/>
            <a:ext cx="5334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做什么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为 x 假设 β，加入环境，递归推 e 得 (S₁, τ₁)，组装出函数类型。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700"/>
              </a:spcBef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为什么返回 S₁β 而不是 β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推函数体的过程中 β 可能已被合一"解出"（见例 2），S₁ 记录了这些结论，返回前必须把 β 更新成它现在的样子。</a:t>
            </a:r>
            <a:endParaRPr lang="en-US" sz="1300" noProof="1"/>
          </a:p>
        </p:txBody>
      </p:sp>
      <p:sp>
        <p:nvSpPr>
          <p:cNvPr id="13" name="ex-label"/>
          <p:cNvSpPr txBox="1"/>
          <p:nvPr/>
        </p:nvSpPr>
        <p:spPr>
          <a:xfrm>
            <a:off x="6248400" y="18796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两个例子</a:t>
            </a:r>
            <a:endParaRPr lang="en-US" sz="1300" noProof="1"/>
          </a:p>
        </p:txBody>
      </p:sp>
      <p:sp>
        <p:nvSpPr>
          <p:cNvPr id="14" name="ex1-box"/>
          <p:cNvSpPr/>
          <p:nvPr/>
        </p:nvSpPr>
        <p:spPr>
          <a:xfrm>
            <a:off x="6248400" y="2184400"/>
            <a:ext cx="5334000" cy="14986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5" name="ex1-code"/>
          <p:cNvSpPr txBox="1"/>
          <p:nvPr/>
        </p:nvSpPr>
        <p:spPr>
          <a:xfrm>
            <a:off x="6451600" y="2311400"/>
            <a:ext cx="49784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例 1：λx. x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假设 x : β₁，推函数体 x 得 (∅, β₁)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β₁ 未被收窄，S₁β₁ = β₁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结果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：(∅, </a:t>
            </a: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β₁ -&gt; β₁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)</a:t>
            </a:r>
            <a:endParaRPr lang="en-US" sz="1200" noProof="1"/>
          </a:p>
        </p:txBody>
      </p:sp>
      <p:sp>
        <p:nvSpPr>
          <p:cNvPr id="16" name="ex2-box"/>
          <p:cNvSpPr/>
          <p:nvPr/>
        </p:nvSpPr>
        <p:spPr>
          <a:xfrm>
            <a:off x="6248400" y="3886200"/>
            <a:ext cx="5334000" cy="16256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7" name="ex2-code"/>
          <p:cNvSpPr txBox="1"/>
          <p:nvPr/>
        </p:nvSpPr>
        <p:spPr>
          <a:xfrm>
            <a:off x="6451600" y="4013200"/>
            <a:ext cx="49784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例 2：λx. x + 1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假设 x : β₁；推 x + </a:t>
            </a:r>
            <a:r>
              <a:rPr lang="en-US" sz="1200" noProof="1">
                <a:solidFill>
                  <a:srgbClr val="D9A06B"/>
                </a:solidFill>
                <a:latin typeface="Roboto Mono"/>
                <a:ea typeface="Roboto Mono"/>
              </a:rPr>
              <a:t>1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时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合一迫使 β₁ ↦ Int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S₁ = [β₁↦Int]，τ₁ = Int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结果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：(S₁, </a:t>
            </a: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Int -&gt; Int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)</a:t>
            </a:r>
            <a:endParaRPr lang="en-US" sz="1200" noProof="1"/>
          </a:p>
        </p:txBody>
      </p:sp>
      <p:sp>
        <p:nvSpPr>
          <p:cNvPr id="18" name="warn"/>
          <p:cNvSpPr txBox="1"/>
          <p:nvPr/>
        </p:nvSpPr>
        <p:spPr>
          <a:xfrm>
            <a:off x="609600" y="5689600"/>
            <a:ext cx="109728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易错点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例 2 中若忘了施加 S₁，会错误报出 β₁ → Int，把已确定的 Int 漏成未知数。</a:t>
            </a:r>
            <a:endParaRPr lang="en-US" sz="1300" noProof="1"/>
          </a:p>
        </p:txBody>
      </p:sp>
      <p:sp>
        <p:nvSpPr>
          <p:cNvPr id="19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20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1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20 / 37</a:t>
            </a:r>
            <a:endParaRPr lang="en-US" sz="12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04 章 · 类型推断算法 W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4.3 详解（四）· 应用分支（上）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W(Γ, e₁ e₂)：最复杂的一条，拆成四步看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四个动作分别回答四个问题：函数什么类型？参数什么类型？两者如何对齐？结论如何带出？</a:t>
            </a:r>
            <a:endParaRPr lang="en-US" sz="1400" noProof="1"/>
          </a:p>
        </p:txBody>
      </p:sp>
      <p:sp>
        <p:nvSpPr>
          <p:cNvPr id="8" name="code-box"/>
          <p:cNvSpPr/>
          <p:nvPr/>
        </p:nvSpPr>
        <p:spPr>
          <a:xfrm>
            <a:off x="609600" y="1879600"/>
            <a:ext cx="5334000" cy="26670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9" name="code-bar"/>
          <p:cNvSpPr/>
          <p:nvPr/>
        </p:nvSpPr>
        <p:spPr>
          <a:xfrm>
            <a:off x="609600" y="1879600"/>
            <a:ext cx="5334000" cy="279400"/>
          </a:xfrm>
          <a:prstGeom prst="rect">
            <a:avLst/>
          </a:prstGeom>
          <a:solidFill>
            <a:srgbClr val="1C362B"/>
          </a:solidFill>
          <a:ln>
            <a:noFill/>
          </a:ln>
        </p:spPr>
      </p:sp>
      <p:sp>
        <p:nvSpPr>
          <p:cNvPr id="10" name="code-title"/>
          <p:cNvSpPr txBox="1"/>
          <p:nvPr/>
        </p:nvSpPr>
        <p:spPr>
          <a:xfrm>
            <a:off x="762000" y="1917700"/>
            <a:ext cx="5029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分支 3 · 应用</a:t>
            </a:r>
            <a:endParaRPr lang="en-US" sz="1200" noProof="1"/>
          </a:p>
        </p:txBody>
      </p:sp>
      <p:sp>
        <p:nvSpPr>
          <p:cNvPr id="11" name="code-body"/>
          <p:cNvSpPr txBox="1"/>
          <p:nvPr/>
        </p:nvSpPr>
        <p:spPr>
          <a:xfrm>
            <a:off x="812800" y="2286000"/>
            <a:ext cx="497840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W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(Γ, e₁ e₂) =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let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(S₁, τ₁) = W(Γ, e₁)   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①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(S₂, τ₂) = W(S₁Γ, e₂) 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②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U  =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unify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(S₂τ₁, τ₂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β)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③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in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(U ∘ S₂ ∘ S₁, U β)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④</a:t>
            </a:r>
            <a:endParaRPr lang="en-US" sz="1200" noProof="1"/>
          </a:p>
        </p:txBody>
      </p:sp>
      <p:sp>
        <p:nvSpPr>
          <p:cNvPr id="12" name="s1"/>
          <p:cNvSpPr txBox="1"/>
          <p:nvPr/>
        </p:nvSpPr>
        <p:spPr>
          <a:xfrm>
            <a:off x="6248400" y="1905000"/>
            <a:ext cx="5334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① 推函数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得 τ₁ 与替换 S₁。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② 推参数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环境用 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S₁Γ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 而不是 Γ：推 e₁ 学到的结论必须带进 e₂，否则同一环境变量会拿到两份不一致的类型。</a:t>
            </a:r>
            <a:endParaRPr lang="en-US" sz="1300" noProof="1"/>
          </a:p>
        </p:txBody>
      </p:sp>
      <p:sp>
        <p:nvSpPr>
          <p:cNvPr id="13" name="s1-line"/>
          <p:cNvSpPr/>
          <p:nvPr/>
        </p:nvSpPr>
        <p:spPr>
          <a:xfrm>
            <a:off x="6248400" y="2947993"/>
            <a:ext cx="53340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4" name="s2"/>
          <p:cNvSpPr txBox="1"/>
          <p:nvPr/>
        </p:nvSpPr>
        <p:spPr>
          <a:xfrm>
            <a:off x="6248400" y="3121030"/>
            <a:ext cx="5334000" cy="93820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③ 合一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建立"定义域 = 实参"的等式。τ₁ 先用 S₂ 更新（推 e₂ 可能又收窄了它）；τ₂→β 表示"接受 τ₂、返回某个未知数 β 的函数"。U 是两边同时满足的最一般替换。</a:t>
            </a:r>
            <a:endParaRPr lang="en-US" sz="1300" noProof="1"/>
          </a:p>
        </p:txBody>
      </p:sp>
      <p:sp>
        <p:nvSpPr>
          <p:cNvPr id="15" name="s2-line"/>
          <p:cNvSpPr/>
          <p:nvPr/>
        </p:nvSpPr>
        <p:spPr>
          <a:xfrm>
            <a:off x="6248400" y="4241800"/>
            <a:ext cx="53340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6" name="s3"/>
          <p:cNvSpPr txBox="1"/>
          <p:nvPr/>
        </p:nvSpPr>
        <p:spPr>
          <a:xfrm>
            <a:off x="6248400" y="4419600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④ 带出结论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三段替换按时间顺序复合 U ∘ S₂ ∘ S₁（先 S₁、再 S₂、最后 U）；结果类型是 Uβ —— β 被合一解出之后的样子。</a:t>
            </a:r>
            <a:endParaRPr lang="en-US" sz="1300" noProof="1"/>
          </a:p>
        </p:txBody>
      </p:sp>
      <p:sp>
        <p:nvSpPr>
          <p:cNvPr id="17" name="comp-note-box"/>
          <p:cNvSpPr/>
          <p:nvPr/>
        </p:nvSpPr>
        <p:spPr>
          <a:xfrm>
            <a:off x="609600" y="4826000"/>
            <a:ext cx="5334000" cy="1168400"/>
          </a:xfrm>
          <a:prstGeom prst="rect">
            <a:avLst/>
          </a:prstGeom>
          <a:solidFill>
            <a:srgbClr val="EFE8D8"/>
          </a:solidFill>
          <a:ln>
            <a:noFill/>
          </a:ln>
        </p:spPr>
      </p:sp>
      <p:sp>
        <p:nvSpPr>
          <p:cNvPr id="18" name="comp-note-bar"/>
          <p:cNvSpPr/>
          <p:nvPr/>
        </p:nvSpPr>
        <p:spPr>
          <a:xfrm>
            <a:off x="609600" y="4826000"/>
            <a:ext cx="38100" cy="1168400"/>
          </a:xfrm>
          <a:prstGeom prst="rect">
            <a:avLst/>
          </a:prstGeom>
          <a:solidFill>
            <a:srgbClr val="B85C28"/>
          </a:solidFill>
          <a:ln>
            <a:noFill/>
          </a:ln>
        </p:spPr>
      </p:sp>
      <p:sp>
        <p:nvSpPr>
          <p:cNvPr id="19" name="comp-note"/>
          <p:cNvSpPr txBox="1"/>
          <p:nvPr/>
        </p:nvSpPr>
        <p:spPr>
          <a:xfrm>
            <a:off x="812800" y="4927600"/>
            <a:ext cx="49784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∘ 是替换的复合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(U ∘ S₂ ∘ S₁)τ = U(S₂(S₁τ))，从右往左读：依次施加三段结论。在 W 的幂等不变量下，它等于 U ∪ (U S₂) ∪ (U S₂ S₁)。</a:t>
            </a:r>
            <a:endParaRPr lang="en-US" sz="1300" noProof="1"/>
          </a:p>
        </p:txBody>
      </p:sp>
      <p:sp>
        <p:nvSpPr>
          <p:cNvPr id="20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21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2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21 / 37</a:t>
            </a:r>
            <a:endParaRPr lang="en-US" sz="120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04 章 · 类型推断算法 W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4.3 详解（五）· 应用分支（下）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应用分支的四个例子：成功、精化、失败、回传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每个例子对应上页一个步骤的存在理由。</a:t>
            </a:r>
            <a:endParaRPr lang="en-US" sz="1400" noProof="1"/>
          </a:p>
        </p:txBody>
      </p:sp>
      <p:sp>
        <p:nvSpPr>
          <p:cNvPr id="8" name="ex1-tag"/>
          <p:cNvSpPr txBox="1"/>
          <p:nvPr/>
        </p:nvSpPr>
        <p:spPr>
          <a:xfrm>
            <a:off x="609600" y="18796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D4A3A"/>
                </a:solidFill>
                <a:latin typeface="MiSans"/>
                <a:ea typeface="MiSans"/>
              </a:rPr>
              <a:t>例 1　id 3：标准成功路径</a:t>
            </a:r>
            <a:endParaRPr lang="en-US" sz="1300" noProof="1"/>
          </a:p>
        </p:txBody>
      </p:sp>
      <p:sp>
        <p:nvSpPr>
          <p:cNvPr id="9" name="ex1"/>
          <p:cNvSpPr txBox="1"/>
          <p:nvPr/>
        </p:nvSpPr>
        <p:spPr>
          <a:xfrm>
            <a:off x="609600" y="2159000"/>
            <a:ext cx="5334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Γ(id) = ∀α. α→α。① 推 id → (∅, β₁→β₁)；② 推 3 → (∅, Int)；③ U = unify(β₁→β₁, Int→β₂) = [β₁↦Int, β₂↦Int]；④ 返回 (U, Uβ₂) = (U, 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Int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)。</a:t>
            </a:r>
            <a:endParaRPr lang="en-US" sz="1300" noProof="1"/>
          </a:p>
        </p:txBody>
      </p:sp>
      <p:sp>
        <p:nvSpPr>
          <p:cNvPr id="10" name="ex1-line"/>
          <p:cNvSpPr/>
          <p:nvPr/>
        </p:nvSpPr>
        <p:spPr>
          <a:xfrm>
            <a:off x="609600" y="3454400"/>
            <a:ext cx="53340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1" name="ex2-tag"/>
          <p:cNvSpPr txBox="1"/>
          <p:nvPr/>
        </p:nvSpPr>
        <p:spPr>
          <a:xfrm>
            <a:off x="609600" y="3632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D4A3A"/>
                </a:solidFill>
                <a:latin typeface="MiSans"/>
                <a:ea typeface="MiSans"/>
              </a:rPr>
              <a:t>例 2　f x：未知数被精化</a:t>
            </a:r>
            <a:endParaRPr lang="en-US" sz="1300" noProof="1"/>
          </a:p>
        </p:txBody>
      </p:sp>
      <p:sp>
        <p:nvSpPr>
          <p:cNvPr id="12" name="ex2"/>
          <p:cNvSpPr txBox="1"/>
          <p:nvPr/>
        </p:nvSpPr>
        <p:spPr>
          <a:xfrm>
            <a:off x="609600" y="3911600"/>
            <a:ext cx="5334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Γ = {f:β₁, x:β₂}。① 推 f → (∅, β₁)；② 推 x → (∅, β₂)；③ U = unify(β₁, β₂→β₃) = [β₁↦β₂→β₃]；④ 返回 (U, 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β₃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)：f 从未知数被精化为"β₂→β₃ 的函数"。</a:t>
            </a:r>
            <a:endParaRPr lang="en-US" sz="1300" noProof="1"/>
          </a:p>
        </p:txBody>
      </p:sp>
      <p:sp>
        <p:nvSpPr>
          <p:cNvPr id="13" name="ex3-tag"/>
          <p:cNvSpPr txBox="1"/>
          <p:nvPr/>
        </p:nvSpPr>
        <p:spPr>
          <a:xfrm>
            <a:off x="6248400" y="18796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D4A3A"/>
                </a:solidFill>
                <a:latin typeface="MiSans"/>
                <a:ea typeface="MiSans"/>
              </a:rPr>
              <a:t>例 3　1 2：合一失败即类型错误</a:t>
            </a:r>
            <a:endParaRPr lang="en-US" sz="1300" noProof="1"/>
          </a:p>
        </p:txBody>
      </p:sp>
      <p:sp>
        <p:nvSpPr>
          <p:cNvPr id="14" name="ex3"/>
          <p:cNvSpPr txBox="1"/>
          <p:nvPr/>
        </p:nvSpPr>
        <p:spPr>
          <a:xfrm>
            <a:off x="6248400" y="2159000"/>
            <a:ext cx="5334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① τ₁ = Int；② τ₂ = Int；③ unify(Int, Int→β)：整数类型与函数类型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结构不匹配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，合一失败，算法终止并报错 —— 编译器的类型错误正来自这一步。</a:t>
            </a:r>
            <a:endParaRPr lang="en-US" sz="1300" noProof="1"/>
          </a:p>
        </p:txBody>
      </p:sp>
      <p:sp>
        <p:nvSpPr>
          <p:cNvPr id="15" name="ex3-line"/>
          <p:cNvSpPr/>
          <p:nvPr/>
        </p:nvSpPr>
        <p:spPr>
          <a:xfrm>
            <a:off x="6248400" y="3454400"/>
            <a:ext cx="53340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6" name="ex4-tag"/>
          <p:cNvSpPr txBox="1"/>
          <p:nvPr/>
        </p:nvSpPr>
        <p:spPr>
          <a:xfrm>
            <a:off x="6248400" y="3632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D4A3A"/>
                </a:solidFill>
                <a:latin typeface="MiSans"/>
                <a:ea typeface="MiSans"/>
              </a:rPr>
              <a:t>例 4　为什么合一对象是 S₂τ₁</a:t>
            </a:r>
            <a:endParaRPr lang="en-US" sz="1300" noProof="1"/>
          </a:p>
        </p:txBody>
      </p:sp>
      <p:sp>
        <p:nvSpPr>
          <p:cNvPr id="17" name="ex4"/>
          <p:cNvSpPr txBox="1"/>
          <p:nvPr/>
        </p:nvSpPr>
        <p:spPr>
          <a:xfrm>
            <a:off x="6248400" y="3911600"/>
            <a:ext cx="5334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推 λf. λx. f x 时，内层合一得 U = [β₁↦β₂→β₃]，它必须回传：外层组装类型用的是 Uβ₁ = β₂→β₃，而不是最初的未知数 β₁。漏掉任何一段替换，最终类型里都会残留"已有答案"的变量。</a:t>
            </a:r>
            <a:endParaRPr lang="en-US" sz="1300" noProof="1"/>
          </a:p>
        </p:txBody>
      </p:sp>
      <p:sp>
        <p:nvSpPr>
          <p:cNvPr id="18" name="take-box"/>
          <p:cNvSpPr/>
          <p:nvPr/>
        </p:nvSpPr>
        <p:spPr>
          <a:xfrm>
            <a:off x="609600" y="5435600"/>
            <a:ext cx="10972800" cy="5588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9" name="take"/>
          <p:cNvSpPr txBox="1"/>
          <p:nvPr/>
        </p:nvSpPr>
        <p:spPr>
          <a:xfrm>
            <a:off x="812800" y="5537200"/>
            <a:ext cx="10566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E0975C"/>
                </a:solidFill>
                <a:latin typeface="MiSans"/>
                <a:ea typeface="MiSans"/>
              </a:rPr>
              <a:t>一句话</a:t>
            </a:r>
            <a:r>
              <a:rPr lang="en-US" sz="1300" noProof="1">
                <a:solidFill>
                  <a:srgbClr val="DCE4D8"/>
                </a:solidFill>
                <a:latin typeface="MiSans"/>
                <a:ea typeface="MiSans"/>
              </a:rPr>
              <a:t>　应用分支 = 两次递归 + 一次合一 + 三段替换复合；类型信息沿 S₁、S₂、U 单向流动，只增不减。</a:t>
            </a:r>
            <a:endParaRPr lang="en-US" sz="1300" noProof="1"/>
          </a:p>
        </p:txBody>
      </p:sp>
      <p:sp>
        <p:nvSpPr>
          <p:cNvPr id="20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21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2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22 / 37</a:t>
            </a:r>
            <a:endParaRPr lang="en-US" sz="120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04 章 · 类型推断算法 W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4.3 详解（六）· let 分支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W(Γ, let x = e₁ in e₂)：多态唯一被引入的地方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先推定义、泛化后进环境、再推使用处 —— 与说明性规则的 Let/Gen/Inst 严格对应。</a:t>
            </a:r>
            <a:endParaRPr lang="en-US" sz="1400" noProof="1"/>
          </a:p>
        </p:txBody>
      </p:sp>
      <p:sp>
        <p:nvSpPr>
          <p:cNvPr id="8" name="code-box"/>
          <p:cNvSpPr/>
          <p:nvPr/>
        </p:nvSpPr>
        <p:spPr>
          <a:xfrm>
            <a:off x="609600" y="1879600"/>
            <a:ext cx="5334000" cy="21336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9" name="code-bar"/>
          <p:cNvSpPr/>
          <p:nvPr/>
        </p:nvSpPr>
        <p:spPr>
          <a:xfrm>
            <a:off x="609600" y="1879600"/>
            <a:ext cx="5334000" cy="279400"/>
          </a:xfrm>
          <a:prstGeom prst="rect">
            <a:avLst/>
          </a:prstGeom>
          <a:solidFill>
            <a:srgbClr val="1C362B"/>
          </a:solidFill>
          <a:ln>
            <a:noFill/>
          </a:ln>
        </p:spPr>
      </p:sp>
      <p:sp>
        <p:nvSpPr>
          <p:cNvPr id="10" name="code-title"/>
          <p:cNvSpPr txBox="1"/>
          <p:nvPr/>
        </p:nvSpPr>
        <p:spPr>
          <a:xfrm>
            <a:off x="762000" y="1917700"/>
            <a:ext cx="5029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分支 4 · let</a:t>
            </a:r>
            <a:endParaRPr lang="en-US" sz="1200" noProof="1"/>
          </a:p>
        </p:txBody>
      </p:sp>
      <p:sp>
        <p:nvSpPr>
          <p:cNvPr id="11" name="code-body"/>
          <p:cNvSpPr txBox="1"/>
          <p:nvPr/>
        </p:nvSpPr>
        <p:spPr>
          <a:xfrm>
            <a:off x="812800" y="2286000"/>
            <a:ext cx="4978400" cy="160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W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(Γ,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let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x = e₁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in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e₂) =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let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(S₁, τ₁) = W(Γ, e₁)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σ = gen(S₁Γ, τ₁)  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泛化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(S₂, τ₂) = W(S₁Γ ∪ {x:σ}, e₂)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in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(S₂ ∘ S₁, τ₂)</a:t>
            </a:r>
            <a:endParaRPr lang="en-US" sz="1200" noProof="1"/>
          </a:p>
        </p:txBody>
      </p:sp>
      <p:sp>
        <p:nvSpPr>
          <p:cNvPr id="12" name="steps"/>
          <p:cNvSpPr txBox="1"/>
          <p:nvPr/>
        </p:nvSpPr>
        <p:spPr>
          <a:xfrm>
            <a:off x="609600" y="4191000"/>
            <a:ext cx="5334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①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 推 e₁ 得 (S₁, τ₁)。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500"/>
              </a:spcBef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②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 gen(S₁Γ, τ₁)：把 τ₁ 中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不在环境里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的自由变量全部量化。"环境在用的变量不可量化"是类型安全的要害（回顾 2.4 节）。</a:t>
            </a:r>
            <a:endParaRPr lang="en-US" sz="1300" noProof="1"/>
          </a:p>
          <a:p>
            <a:pPr>
              <a:lnSpc>
                <a:spcPct val="160000"/>
              </a:lnSpc>
              <a:spcBef>
                <a:spcPts val="500"/>
              </a:spcBef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③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 以 x : σ 推 e₂：每用到一次 x，Var 分支就给 σ 换一套新变量 —— 多态由此发生。</a:t>
            </a:r>
            <a:endParaRPr lang="en-US" sz="1300" noProof="1"/>
          </a:p>
        </p:txBody>
      </p:sp>
      <p:sp>
        <p:nvSpPr>
          <p:cNvPr id="13" name="ex-label"/>
          <p:cNvSpPr txBox="1"/>
          <p:nvPr/>
        </p:nvSpPr>
        <p:spPr>
          <a:xfrm>
            <a:off x="6248400" y="18796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三个例子</a:t>
            </a:r>
            <a:endParaRPr lang="en-US" sz="1300" noProof="1"/>
          </a:p>
        </p:txBody>
      </p:sp>
      <p:sp>
        <p:nvSpPr>
          <p:cNvPr id="14" name="ex1"/>
          <p:cNvSpPr txBox="1"/>
          <p:nvPr/>
        </p:nvSpPr>
        <p:spPr>
          <a:xfrm>
            <a:off x="6248400" y="2159000"/>
            <a:ext cx="5334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例 1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</a:t>
            </a:r>
            <a:r>
              <a:rPr lang="en-US" sz="1300" noProof="1">
                <a:solidFill>
                  <a:srgbClr val="2C2A24"/>
                </a:solidFill>
                <a:latin typeface="Roboto Mono"/>
                <a:ea typeface="Roboto Mono"/>
              </a:rPr>
              <a:t>let id = λx.x in id 3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：推定义得 β₁→β₁；泛化得 σ = ∀β₁. β₁→β₁；使用处实例化出 β₂→β₂，与 Int 合一，整体类型 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Int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。</a:t>
            </a:r>
            <a:endParaRPr lang="en-US" sz="1300" noProof="1"/>
          </a:p>
        </p:txBody>
      </p:sp>
      <p:sp>
        <p:nvSpPr>
          <p:cNvPr id="15" name="ex1-line"/>
          <p:cNvSpPr/>
          <p:nvPr/>
        </p:nvSpPr>
        <p:spPr>
          <a:xfrm>
            <a:off x="6248400" y="3048000"/>
            <a:ext cx="53340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6" name="ex2"/>
          <p:cNvSpPr txBox="1"/>
          <p:nvPr/>
        </p:nvSpPr>
        <p:spPr>
          <a:xfrm>
            <a:off x="6248400" y="3200400"/>
            <a:ext cx="53340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例 2（let 多态的全部意义）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</a:t>
            </a:r>
            <a:r>
              <a:rPr lang="en-US" sz="1300" noProof="1">
                <a:solidFill>
                  <a:srgbClr val="2C2A24"/>
                </a:solidFill>
                <a:latin typeface="Roboto Mono"/>
                <a:ea typeface="Roboto Mono"/>
              </a:rPr>
              <a:t>let id = λx.x in (id 1, id true)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：σ = ∀α. α→α 存入环境；第一次用 id 实例化为 β₂→β₂ 合一得 Int，第二次实例化为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另一套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 β₃→β₃ 合一得 Bool，整体 Int × Bool。若换成 λid. (id 1, id true)，Abs 只给一个 β，无 ∀ 可拆，合一失败。</a:t>
            </a:r>
            <a:endParaRPr lang="en-US" sz="1300" noProof="1"/>
          </a:p>
        </p:txBody>
      </p:sp>
      <p:sp>
        <p:nvSpPr>
          <p:cNvPr id="17" name="ex2-line"/>
          <p:cNvSpPr/>
          <p:nvPr/>
        </p:nvSpPr>
        <p:spPr>
          <a:xfrm>
            <a:off x="6248400" y="4529141"/>
            <a:ext cx="53340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8" name="ex3"/>
          <p:cNvSpPr txBox="1"/>
          <p:nvPr/>
        </p:nvSpPr>
        <p:spPr>
          <a:xfrm>
            <a:off x="6248400" y="4572000"/>
            <a:ext cx="53340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例 3（泛化条件的必要性）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</a:t>
            </a:r>
            <a:r>
              <a:rPr lang="en-US" sz="1300" noProof="1">
                <a:solidFill>
                  <a:srgbClr val="2C2A24"/>
                </a:solidFill>
                <a:latin typeface="Roboto Mono"/>
                <a:ea typeface="Roboto Mono"/>
              </a:rPr>
              <a:t>λy. let f = λx. y in (f 1, f true)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：推 λx. y 得 βₓ→β_y，但环境中 y : β_y，即 β_y ∈ ftv(Γ)，gen 只能量化 βₓ，得 σ = ∀βₓ. βₓ→β_y。β_y 保持单态，于是 f 1 与 f true 无法同时满足，整体不可类型化。若错误地把 β_y 也量化，共享的 y 就会被两次调用各自实例化 —— 安全即被破坏。</a:t>
            </a:r>
            <a:endParaRPr lang="en-US" sz="1300" noProof="1"/>
          </a:p>
        </p:txBody>
      </p:sp>
      <p:sp>
        <p:nvSpPr>
          <p:cNvPr id="19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20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1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23 / 37</a:t>
            </a:r>
            <a:endParaRPr lang="en-US" sz="120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04 章 · 类型推断算法 W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4.3 详解（七）· 小结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四个分支，各记一句话、一个机制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把四个分支的职责记住，整张伪代码就只剩一件事：信息沿替换单向流动。</a:t>
            </a:r>
            <a:endParaRPr lang="en-US" sz="1400" noProof="1"/>
          </a:p>
        </p:txBody>
      </p:sp>
      <p:graphicFrame>
        <p:nvGraphicFramePr>
          <p:cNvPr id="8" name="sum-table"/>
          <p:cNvGraphicFramePr>
            <a:graphicFrameLocks noGrp="1"/>
          </p:cNvGraphicFramePr>
          <p:nvPr/>
        </p:nvGraphicFramePr>
        <p:xfrm>
          <a:off x="609600" y="1905000"/>
          <a:ext cx="10972800" cy="2997200"/>
        </p:xfrm>
        <a:graphic>
          <a:graphicData uri="http://schemas.openxmlformats.org/drawingml/2006/table">
            <a:tbl>
              <a:tblPr/>
              <a:tblGrid>
                <a:gridCol w="1316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8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608"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F6F1E7"/>
                          </a:solidFill>
                          <a:latin typeface="Times New Roman"/>
                          <a:ea typeface="Times New Roman"/>
                        </a:rPr>
                        <a:t>分支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1D4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F6F1E7"/>
                          </a:solidFill>
                          <a:latin typeface="Times New Roman"/>
                          <a:ea typeface="Times New Roman"/>
                        </a:rPr>
                        <a:t>一句话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1D4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F6F1E7"/>
                          </a:solidFill>
                          <a:latin typeface="Times New Roman"/>
                          <a:ea typeface="Times New Roman"/>
                        </a:rPr>
                        <a:t>关键机制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1D4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398"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B85C28"/>
                          </a:solidFill>
                          <a:latin typeface="Times New Roman"/>
                          <a:ea typeface="Times New Roman"/>
                        </a:rPr>
                        <a:t>Var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查出方案，换一套新变量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实例化 —— 每次使用得到独立副本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398"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B85C28"/>
                          </a:solidFill>
                          <a:latin typeface="Times New Roman"/>
                          <a:ea typeface="Times New Roman"/>
                        </a:rPr>
                        <a:t>Abs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参数假设成新未知数 β，推完用 S₁ 更新 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推迟决定 —— 让函数体的推导去收窄参数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398"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B85C28"/>
                          </a:solidFill>
                          <a:latin typeface="Times New Roman"/>
                          <a:ea typeface="Times New Roman"/>
                        </a:rPr>
                        <a:t>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先函数后参数，环境带着替换走，最后合一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S₂τ₁ 与替换复合 U ∘ S₂ ∘ S₁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398"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B85C28"/>
                          </a:solidFill>
                          <a:latin typeface="Times New Roman"/>
                          <a:ea typeface="Times New Roman"/>
                        </a:rPr>
                        <a:t>Let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先推定义，泛化后进环境，再推使用处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gen —— 多态的唯一入口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flow-box"/>
          <p:cNvSpPr/>
          <p:nvPr/>
        </p:nvSpPr>
        <p:spPr>
          <a:xfrm>
            <a:off x="609600" y="5130800"/>
            <a:ext cx="10972800" cy="8636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0" name="flow-text"/>
          <p:cNvSpPr txBox="1"/>
          <p:nvPr/>
        </p:nvSpPr>
        <p:spPr>
          <a:xfrm>
            <a:off x="812800" y="5257800"/>
            <a:ext cx="105664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400" noProof="1">
                <a:solidFill>
                  <a:srgbClr val="E0975C"/>
                </a:solidFill>
                <a:latin typeface="MiSans"/>
                <a:ea typeface="MiSans"/>
              </a:rPr>
              <a:t>全局图景</a:t>
            </a:r>
            <a:r>
              <a:rPr lang="en-US" sz="1400" noProof="1">
                <a:solidFill>
                  <a:srgbClr val="DCE4D8"/>
                </a:solidFill>
                <a:latin typeface="MiSans"/>
                <a:ea typeface="MiSans"/>
              </a:rPr>
              <a:t>　新变量 β 制造"未知数"，合一负责"求解"，替换 S 负责"把解带回给所有相关方"。三者各就各位，最一般类型便是流水线的自然产物。</a:t>
            </a:r>
            <a:endParaRPr lang="en-US" sz="1400" noProof="1"/>
          </a:p>
        </p:txBody>
      </p:sp>
      <p:sp>
        <p:nvSpPr>
          <p:cNvPr id="11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2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13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24 / 37</a:t>
            </a:r>
            <a:endParaRPr lang="en-US" sz="1200" noProof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04 章 · 类型推断算法 W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4.4　算法 W 跟踪示例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跟踪 W(∅, λf. λx. f x)：四次调用、一次合一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目标：推出函数组合算子的类型。约定 β₁、β₂、…为依次生成的新类型变量。</a:t>
            </a:r>
            <a:endParaRPr lang="en-US" sz="1400" noProof="1"/>
          </a:p>
        </p:txBody>
      </p:sp>
      <p:graphicFrame>
        <p:nvGraphicFramePr>
          <p:cNvPr id="8" name="trace-table"/>
          <p:cNvGraphicFramePr>
            <a:graphicFrameLocks noGrp="1"/>
          </p:cNvGraphicFramePr>
          <p:nvPr/>
        </p:nvGraphicFramePr>
        <p:xfrm>
          <a:off x="609600" y="1879600"/>
          <a:ext cx="10972800" cy="2743200"/>
        </p:xfrm>
        <a:graphic>
          <a:graphicData uri="http://schemas.openxmlformats.org/drawingml/2006/table">
            <a:tbl>
              <a:tblPr/>
              <a:tblGrid>
                <a:gridCol w="3730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F6F1E7"/>
                          </a:solidFill>
                          <a:latin typeface="Times New Roman"/>
                          <a:ea typeface="Times New Roman"/>
                        </a:rPr>
                        <a:t>调用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1D4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F6F1E7"/>
                          </a:solidFill>
                          <a:latin typeface="Times New Roman"/>
                          <a:ea typeface="Times New Roman"/>
                        </a:rPr>
                        <a:t>关键动作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1D4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F6F1E7"/>
                          </a:solidFill>
                          <a:latin typeface="Times New Roman"/>
                          <a:ea typeface="Times New Roman"/>
                        </a:rPr>
                        <a:t>返回 (S, τ)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1D4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33333"/>
                          </a:solidFill>
                          <a:latin typeface="Roboto Mono"/>
                          <a:ea typeface="Roboto Mono"/>
                        </a:rPr>
                        <a:t>W(Γ₂, x)，Γ₂={f:β₁, x:β₂}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查环境得 x : β₂，无量化变量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33333"/>
                          </a:solidFill>
                          <a:latin typeface="Roboto Mono"/>
                          <a:ea typeface="Roboto Mono"/>
                        </a:rPr>
                        <a:t>(∅, β₂)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33333"/>
                          </a:solidFill>
                          <a:latin typeface="Roboto Mono"/>
                          <a:ea typeface="Roboto Mono"/>
                        </a:rPr>
                        <a:t>W(Γ₂, f 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先推 f 得 β₁；合一 β₁ 与 β₂→β₃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33333"/>
                          </a:solidFill>
                          <a:latin typeface="Roboto Mono"/>
                          <a:ea typeface="Roboto Mono"/>
                        </a:rPr>
                        <a:t>(U, β₃)，U = [β₁↦β₂→β₃]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33333"/>
                          </a:solidFill>
                          <a:latin typeface="Roboto Mono"/>
                          <a:ea typeface="Roboto Mono"/>
                        </a:rPr>
                        <a:t>W(Γ₁, λx. f x)，Γ₁={f:β₁}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假设 x:β₂；回收 Uβ₁ = β₂→β₃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33333"/>
                          </a:solidFill>
                          <a:latin typeface="Roboto Mono"/>
                          <a:ea typeface="Roboto Mono"/>
                        </a:rPr>
                        <a:t>(U, β₂→β₃)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33333"/>
                          </a:solidFill>
                          <a:latin typeface="Roboto Mono"/>
                          <a:ea typeface="Roboto Mono"/>
                        </a:rPr>
                        <a:t>W(∅, λf. λx. f 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假设 f:β₁；组装函数类型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33333"/>
                          </a:solidFill>
                          <a:latin typeface="Roboto Mono"/>
                          <a:ea typeface="Roboto Mono"/>
                        </a:rPr>
                        <a:t>(U, (β₂→β₃)→β₂→β₃)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sult-box"/>
          <p:cNvSpPr/>
          <p:nvPr/>
        </p:nvSpPr>
        <p:spPr>
          <a:xfrm>
            <a:off x="609600" y="4826000"/>
            <a:ext cx="10972800" cy="6604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0" name="result"/>
          <p:cNvSpPr txBox="1"/>
          <p:nvPr/>
        </p:nvSpPr>
        <p:spPr>
          <a:xfrm>
            <a:off x="812800" y="4953000"/>
            <a:ext cx="1056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500" noProof="1">
                <a:solidFill>
                  <a:srgbClr val="DCE4D8"/>
                </a:solidFill>
                <a:latin typeface="MiSans"/>
                <a:ea typeface="MiSans"/>
              </a:rPr>
              <a:t>换名后记为 </a:t>
            </a:r>
            <a:r>
              <a:rPr lang="en-US" sz="1500" noProof="1">
                <a:solidFill>
                  <a:srgbClr val="93C7AE"/>
                </a:solidFill>
                <a:latin typeface="MiSans"/>
                <a:ea typeface="MiSans"/>
              </a:rPr>
              <a:t>∀α. ∀β. (α → β) → α → β</a:t>
            </a:r>
            <a:r>
              <a:rPr lang="en-US" sz="1500" noProof="1">
                <a:solidFill>
                  <a:srgbClr val="DCE4D8"/>
                </a:solidFill>
                <a:latin typeface="MiSans"/>
                <a:ea typeface="MiSans"/>
              </a:rPr>
              <a:t>　—— 即函数组合 </a:t>
            </a:r>
            <a:r>
              <a:rPr lang="en-US" sz="1500" noProof="1">
                <a:solidFill>
                  <a:srgbClr val="E0975C"/>
                </a:solidFill>
                <a:latin typeface="MiSans"/>
                <a:ea typeface="MiSans"/>
              </a:rPr>
              <a:t>compose</a:t>
            </a:r>
            <a:r>
              <a:rPr lang="en-US" sz="1500" noProof="1">
                <a:solidFill>
                  <a:srgbClr val="DCE4D8"/>
                </a:solidFill>
                <a:latin typeface="MiSans"/>
                <a:ea typeface="MiSans"/>
              </a:rPr>
              <a:t> 的主类型。</a:t>
            </a:r>
            <a:endParaRPr lang="en-US" sz="1500" noProof="1"/>
          </a:p>
        </p:txBody>
      </p:sp>
      <p:sp>
        <p:nvSpPr>
          <p:cNvPr id="11" name="note"/>
          <p:cNvSpPr txBox="1"/>
          <p:nvPr/>
        </p:nvSpPr>
        <p:spPr>
          <a:xfrm>
            <a:off x="609600" y="56642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合一发生在唯一一处应用 f x：f 的类型 β₁ 必须等于"接受 β₂、返回某 β₃ 的函数"，故 U = [β₁ ↦ β₂→β₃]。全程没有为任何变量预先指定具体类型。</a:t>
            </a:r>
            <a:endParaRPr lang="en-US" sz="1200" noProof="1"/>
          </a:p>
        </p:txBody>
      </p:sp>
      <p:sp>
        <p:nvSpPr>
          <p:cNvPr id="12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3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14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25 / 37</a:t>
            </a:r>
            <a:endParaRPr lang="en-US" sz="1200" noProof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04 章 · 类型推断算法 W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4.5　算法的正确性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可靠性、完备性与主类型定理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算法 W 的地位由两条定理确立：它算出的类型都是合法的，且凡合法的类型都不比它算出的更一般。</a:t>
            </a:r>
            <a:endParaRPr lang="en-US" sz="1400" noProof="1"/>
          </a:p>
        </p:txBody>
      </p:sp>
      <p:sp>
        <p:nvSpPr>
          <p:cNvPr id="8" name="thm1-tag"/>
          <p:cNvSpPr txBox="1"/>
          <p:nvPr/>
        </p:nvSpPr>
        <p:spPr>
          <a:xfrm>
            <a:off x="609600" y="1905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定理 1（可靠性）</a:t>
            </a:r>
            <a:endParaRPr lang="en-US" sz="13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hm1"/>
              <p:cNvSpPr txBox="1"/>
              <p:nvPr/>
            </p:nvSpPr>
            <p:spPr>
              <a:xfrm>
                <a:off x="609600" y="2184400"/>
                <a:ext cx="10972800" cy="71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60000"/>
                  </a:lnSpc>
                </a:pPr>
                <a:r>
                  <a:rPr lang="en-US" sz="1500" noProof="1">
                    <a:solidFill>
                      <a:srgbClr val="2C2A24"/>
                    </a:solidFill>
                    <a:latin typeface="MiSans"/>
                    <a:ea typeface="MiSans"/>
                  </a:rPr>
                  <a:t>若 </a:t>
                </a:r>
                <a14:m>
                  <m:oMath xmlns:m="http://schemas.openxmlformats.org/officeDocument/2006/math">
                    <m:r>
                      <a:rPr lang="en-US" sz="1500" i="1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𝛤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)=(</m:t>
                    </m:r>
                    <m:r>
                      <a:rPr lang="en-US" sz="1500" i="1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noProof="1">
                    <a:solidFill>
                      <a:srgbClr val="2C2A24"/>
                    </a:solidFill>
                    <a:latin typeface="MiSans"/>
                    <a:ea typeface="MiSans"/>
                  </a:rPr>
                  <a:t>，则 </a:t>
                </a:r>
                <a14:m>
                  <m:oMath xmlns:m="http://schemas.openxmlformats.org/officeDocument/2006/math">
                    <m:r>
                      <a:rPr lang="en-US" sz="1500" i="1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𝛤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⊢</m:t>
                    </m:r>
                    <m:r>
                      <a:rPr lang="en-US" sz="1500" i="1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500" noProof="1">
                    <a:solidFill>
                      <a:srgbClr val="2C2A24"/>
                    </a:solidFill>
                    <a:latin typeface="MiSans"/>
                    <a:ea typeface="MiSans"/>
                  </a:rPr>
                  <a:t> 在第 3 章的规则下可推导。</a:t>
                </a:r>
                <a:endParaRPr lang="en-US" sz="1500" noProof="1"/>
              </a:p>
              <a:p>
                <a:pPr>
                  <a:lnSpc>
                    <a:spcPct val="160000"/>
                  </a:lnSpc>
                </a:pPr>
                <a:r>
                  <a:rPr lang="en-US" sz="1300" noProof="1">
                    <a:solidFill>
                      <a:srgbClr val="6B6E62"/>
                    </a:solidFill>
                    <a:latin typeface="MiSans"/>
                    <a:ea typeface="MiSans"/>
                  </a:rPr>
                  <a:t>含义：算法不会"发明"非法类型 —— 推断结果永远经得起规则检验。</a:t>
                </a:r>
                <a:endParaRPr lang="en-US" sz="1500" noProof="1"/>
              </a:p>
            </p:txBody>
          </p:sp>
        </mc:Choice>
        <mc:Fallback xmlns:c="http://schemas.openxmlformats.org/drawingml/2006/chart" xmlns:cx="http://schemas.microsoft.com/office/drawing/2014/chartex" xmlns:m="http://schemas.openxmlformats.org/officeDocument/2006/math" xmlns:pptd="https://kimi-design.msh.team/pptd/2026" xmlns="">
          <p:sp>
            <p:nvSpPr>
              <p:cNvPr id="9" name="thm1"/>
              <p:cNvSpPr txBox="1"/>
              <p:nvPr/>
            </p:nvSpPr>
            <p:spPr>
              <a:xfrm>
                <a:off x="609600" y="2184400"/>
                <a:ext cx="10972800" cy="71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500" noProof="1">
                    <a:solidFill>
                      <a:srgbClr val="2C2A24"/>
                    </a:solidFill>
                    <a:latin typeface="MiSans"/>
                    <a:ea typeface="MiSans"/>
                  </a:rPr>
                  <a:t>若 \(W(\Gamma, e) = (S, \tau)\)，则 \(S\Gamma \vdash e : \tau\) 在第 3 章的规则下可推导。</a:t>
                </a:r>
                <a:endParaRPr lang="en-US" sz="1500" noProof="1"/>
              </a:p>
              <a:p>
                <a:pPr>
                  <a:lnSpc>
                    <a:spcPct val="160000"/>
                  </a:lnSpc>
                </a:pPr>
                <a:r>
                  <a:rPr lang="en-US" sz="1300" noProof="1">
                    <a:solidFill>
                      <a:srgbClr val="6B6E62"/>
                    </a:solidFill>
                    <a:latin typeface="MiSans"/>
                    <a:ea typeface="MiSans"/>
                  </a:rPr>
                  <a:t>含义：算法不会"发明"非法类型 —— 推断结果永远经得起规则检验。</a:t>
                </a:r>
                <a:endParaRPr lang="en-US" sz="1500" noProof="1"/>
              </a:p>
            </p:txBody>
          </p:sp>
        </mc:Fallback>
      </mc:AlternateContent>
      <p:sp>
        <p:nvSpPr>
          <p:cNvPr id="10" name="thm1-line"/>
          <p:cNvSpPr/>
          <p:nvPr/>
        </p:nvSpPr>
        <p:spPr>
          <a:xfrm>
            <a:off x="609600" y="3022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1" name="thm2-tag"/>
          <p:cNvSpPr txBox="1"/>
          <p:nvPr/>
        </p:nvSpPr>
        <p:spPr>
          <a:xfrm>
            <a:off x="609600" y="32004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定理 2（完备性 / 主类型）</a:t>
            </a:r>
            <a:endParaRPr lang="en-US" sz="13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hm2"/>
              <p:cNvSpPr txBox="1"/>
              <p:nvPr/>
            </p:nvSpPr>
            <p:spPr>
              <a:xfrm>
                <a:off x="609600" y="3479800"/>
                <a:ext cx="1097280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/>
              <a:lstStyle/>
              <a:p>
                <a:pPr>
                  <a:lnSpc>
                    <a:spcPct val="160000"/>
                  </a:lnSpc>
                </a:pPr>
                <a:r>
                  <a:rPr lang="en-US" sz="1500" noProof="1">
                    <a:solidFill>
                      <a:srgbClr val="2C2A24"/>
                    </a:solidFill>
                    <a:latin typeface="MiSans"/>
                    <a:ea typeface="MiSans"/>
                  </a:rPr>
                  <a:t>若存在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500" noProof="1">
                    <a:solidFill>
                      <a:srgbClr val="2C2A24"/>
                    </a:solidFill>
                    <a:latin typeface="MiSans"/>
                    <a:ea typeface="MiSans"/>
                  </a:rPr>
                  <a:t> 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500" noProof="1">
                    <a:solidFill>
                      <a:srgbClr val="2C2A24"/>
                    </a:solidFill>
                    <a:latin typeface="MiSans"/>
                    <a:ea typeface="MiSans"/>
                  </a:rPr>
                  <a:t> 使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i="1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𝛤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⊢</m:t>
                    </m:r>
                    <m:r>
                      <a:rPr lang="en-US" sz="1500" i="1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500" noProof="1">
                    <a:solidFill>
                      <a:srgbClr val="2C2A24"/>
                    </a:solidFill>
                    <a:latin typeface="MiSans"/>
                    <a:ea typeface="MiSans"/>
                  </a:rPr>
                  <a:t>，则 </a:t>
                </a:r>
                <a14:m>
                  <m:oMath xmlns:m="http://schemas.openxmlformats.org/officeDocument/2006/math">
                    <m:r>
                      <a:rPr lang="en-US" sz="1500" i="1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𝛤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noProof="1">
                    <a:solidFill>
                      <a:srgbClr val="2C2A24"/>
                    </a:solidFill>
                    <a:latin typeface="MiSans"/>
                    <a:ea typeface="MiSans"/>
                  </a:rPr>
                  <a:t> 成功，且返回的 </a:t>
                </a:r>
                <a14:m>
                  <m:oMath xmlns:m="http://schemas.openxmlformats.org/officeDocument/2006/math">
                    <m:r>
                      <a:rPr lang="en-US" sz="1500" i="0" noProof="1">
                        <a:solidFill>
                          <a:srgbClr val="2C2A24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500" noProof="1">
                    <a:solidFill>
                      <a:srgbClr val="2C2A24"/>
                    </a:solidFill>
                    <a:latin typeface="MiSans"/>
                    <a:ea typeface="MiSans"/>
                  </a:rPr>
                  <a:t> 经 gen 后是该表达式的主类型方案：任何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1500" i="0" noProof="1">
                            <a:solidFill>
                              <a:srgbClr val="2C2A24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500" noProof="1">
                    <a:solidFill>
                      <a:srgbClr val="2C2A24"/>
                    </a:solidFill>
                    <a:latin typeface="MiSans"/>
                    <a:ea typeface="MiSans"/>
                  </a:rPr>
                  <a:t> 都是它的实例。</a:t>
                </a:r>
                <a:endParaRPr lang="en-US" sz="1500" noProof="1"/>
              </a:p>
              <a:p>
                <a:pPr>
                  <a:lnSpc>
                    <a:spcPct val="160000"/>
                  </a:lnSpc>
                </a:pPr>
                <a:r>
                  <a:rPr lang="en-US" sz="1300" noProof="1">
                    <a:solidFill>
                      <a:srgbClr val="6B6E62"/>
                    </a:solidFill>
                    <a:latin typeface="MiSans"/>
                    <a:ea typeface="MiSans"/>
                  </a:rPr>
                  <a:t>含义：算法给出的永远是"最一般"的答案；程序员能写的任何合法标注都不会被拒绝。</a:t>
                </a:r>
                <a:endParaRPr lang="en-US" sz="1500" noProof="1"/>
              </a:p>
            </p:txBody>
          </p:sp>
        </mc:Choice>
        <mc:Fallback xmlns:c="http://schemas.openxmlformats.org/drawingml/2006/chart" xmlns:cx="http://schemas.microsoft.com/office/drawing/2014/chartex" xmlns:m="http://schemas.openxmlformats.org/officeDocument/2006/math" xmlns:pptd="https://kimi-design.msh.team/pptd/2026" xmlns="">
          <p:sp>
            <p:nvSpPr>
              <p:cNvPr id="12" name="thm2"/>
              <p:cNvSpPr txBox="1"/>
              <p:nvPr/>
            </p:nvSpPr>
            <p:spPr>
              <a:xfrm>
                <a:off x="609600" y="3479800"/>
                <a:ext cx="1097280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square" rtlCol="0"/>
              <a:lstStyle/>
              <a:p>
                <a:pPr>
                  <a:lnSpc>
                    <a:spcPct val="160000"/>
                  </a:lnSpc>
                </a:pPr>
                <a:r>
                  <a:rPr lang="en-US" sz="1500" noProof="1">
                    <a:solidFill>
                      <a:srgbClr val="2C2A24"/>
                    </a:solidFill>
                    <a:latin typeface="MiSans"/>
                    <a:ea typeface="MiSans"/>
                  </a:rPr>
                  <a:t>若存在 \(S'\) 与 \(\sigma'\) 使 \(S'\Gamma \vdash e : \sigma'\)，则 \(W(\Gamma, e)\) 成功，且返回的 \(\tau\) 经 gen 后是该表达式的主类型方案：任何 \(\sigma'\) 都是它的实例。</a:t>
                </a:r>
                <a:endParaRPr lang="en-US" sz="1500" noProof="1"/>
              </a:p>
              <a:p>
                <a:pPr>
                  <a:lnSpc>
                    <a:spcPct val="160000"/>
                  </a:lnSpc>
                </a:pPr>
                <a:r>
                  <a:rPr lang="en-US" sz="1300" noProof="1">
                    <a:solidFill>
                      <a:srgbClr val="6B6E62"/>
                    </a:solidFill>
                    <a:latin typeface="MiSans"/>
                    <a:ea typeface="MiSans"/>
                  </a:rPr>
                  <a:t>含义：算法给出的永远是"最一般"的答案；程序员能写的任何合法标注都不会被拒绝。</a:t>
                </a:r>
                <a:endParaRPr lang="en-US" sz="1500" noProof="1"/>
              </a:p>
            </p:txBody>
          </p:sp>
        </mc:Fallback>
      </mc:AlternateContent>
      <p:sp>
        <p:nvSpPr>
          <p:cNvPr id="13" name="thm2-line"/>
          <p:cNvSpPr/>
          <p:nvPr/>
        </p:nvSpPr>
        <p:spPr>
          <a:xfrm>
            <a:off x="609600" y="45212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4" name="cor-box"/>
          <p:cNvSpPr/>
          <p:nvPr/>
        </p:nvSpPr>
        <p:spPr>
          <a:xfrm>
            <a:off x="609600" y="4724400"/>
            <a:ext cx="7112000" cy="1270000"/>
          </a:xfrm>
          <a:prstGeom prst="rect">
            <a:avLst/>
          </a:prstGeom>
          <a:solidFill>
            <a:srgbClr val="EFE8D8"/>
          </a:solidFill>
          <a:ln>
            <a:noFill/>
          </a:ln>
        </p:spPr>
      </p:sp>
      <p:sp>
        <p:nvSpPr>
          <p:cNvPr id="15" name="cor-bar"/>
          <p:cNvSpPr/>
          <p:nvPr/>
        </p:nvSpPr>
        <p:spPr>
          <a:xfrm>
            <a:off x="609600" y="4724400"/>
            <a:ext cx="38100" cy="1270000"/>
          </a:xfrm>
          <a:prstGeom prst="rect">
            <a:avLst/>
          </a:prstGeom>
          <a:solidFill>
            <a:srgbClr val="B85C28"/>
          </a:solidFill>
          <a:ln>
            <a:noFill/>
          </a:ln>
        </p:spPr>
      </p:sp>
      <p:sp>
        <p:nvSpPr>
          <p:cNvPr id="16" name="cor-text"/>
          <p:cNvSpPr txBox="1"/>
          <p:nvPr/>
        </p:nvSpPr>
        <p:spPr>
          <a:xfrm>
            <a:off x="838200" y="4851400"/>
            <a:ext cx="6705600" cy="10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推论（可判定性）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"表达式是否可类型化、其主类型是什么"是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可判定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的：算法 W 总在有限步内终止并给出答案。这是 HM 作为工程工具的根本保证。</a:t>
            </a:r>
            <a:endParaRPr lang="en-US" sz="1300" noProof="1"/>
          </a:p>
        </p:txBody>
      </p:sp>
      <p:sp>
        <p:nvSpPr>
          <p:cNvPr id="17" name="hist-text"/>
          <p:cNvSpPr txBox="1"/>
          <p:nvPr/>
        </p:nvSpPr>
        <p:spPr>
          <a:xfrm>
            <a:off x="8026400" y="4724400"/>
            <a:ext cx="355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历史注记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Milner 1978 年给出算法并证明可靠性；完备性（主类型定理）由 Damas–Milner 1982 年严格证明。</a:t>
            </a:r>
            <a:endParaRPr lang="en-US" sz="1300" noProof="1"/>
          </a:p>
        </p:txBody>
      </p:sp>
      <p:sp>
        <p:nvSpPr>
          <p:cNvPr id="18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9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0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26 / 37</a:t>
            </a:r>
            <a:endParaRPr lang="en-US" sz="1200" noProof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05 章 · 特性与设计哲学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5.1　独特之处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HM 区别于其他类型系统的四个特点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557341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这四条性质联合起来，使 HM 在表达力、自动化程度与理论干净度之间取得罕见的平衡。</a:t>
            </a:r>
            <a:endParaRPr lang="en-US" sz="1400" noProof="1"/>
          </a:p>
        </p:txBody>
      </p:sp>
      <p:sp>
        <p:nvSpPr>
          <p:cNvPr id="8" name="f1-tag"/>
          <p:cNvSpPr txBox="1"/>
          <p:nvPr/>
        </p:nvSpPr>
        <p:spPr>
          <a:xfrm>
            <a:off x="609600" y="2014541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①　let 多态（let-polymorphism）</a:t>
            </a:r>
            <a:endParaRPr lang="en-US" sz="1500" noProof="1"/>
          </a:p>
        </p:txBody>
      </p:sp>
      <p:sp>
        <p:nvSpPr>
          <p:cNvPr id="9" name="f1-body"/>
          <p:cNvSpPr txBox="1"/>
          <p:nvPr/>
        </p:nvSpPr>
        <p:spPr>
          <a:xfrm>
            <a:off x="609600" y="2319341"/>
            <a:ext cx="51816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只有 let 绑定会被泛化：定义处一次量化，使用处各自实例化。λ 参数保持单态，从而推断问题保持可判定、推断结果保持"最一般"。</a:t>
            </a:r>
            <a:endParaRPr lang="en-US" sz="1300" noProof="1"/>
          </a:p>
        </p:txBody>
      </p:sp>
      <p:sp>
        <p:nvSpPr>
          <p:cNvPr id="10" name="f2-tag"/>
          <p:cNvSpPr txBox="1"/>
          <p:nvPr/>
        </p:nvSpPr>
        <p:spPr>
          <a:xfrm>
            <a:off x="6400800" y="2014541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②　主类型（principal types）</a:t>
            </a:r>
            <a:endParaRPr lang="en-US" sz="1500" noProof="1"/>
          </a:p>
        </p:txBody>
      </p:sp>
      <p:sp>
        <p:nvSpPr>
          <p:cNvPr id="11" name="f2-body"/>
          <p:cNvSpPr txBox="1"/>
          <p:nvPr/>
        </p:nvSpPr>
        <p:spPr>
          <a:xfrm>
            <a:off x="6400800" y="2319341"/>
            <a:ext cx="51816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每个可类型化表达式都有唯一的"最一般类型"，其余合法类型皆为其实例。推断问题因此是良定义的 —— 不存在两个不可比较的"最优答案"。</a:t>
            </a:r>
            <a:endParaRPr lang="en-US" sz="1300" noProof="1"/>
          </a:p>
        </p:txBody>
      </p:sp>
      <p:sp>
        <p:nvSpPr>
          <p:cNvPr id="12" name="f1-line"/>
          <p:cNvSpPr/>
          <p:nvPr/>
        </p:nvSpPr>
        <p:spPr>
          <a:xfrm>
            <a:off x="609600" y="35814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3" name="f3-tag"/>
          <p:cNvSpPr txBox="1"/>
          <p:nvPr/>
        </p:nvSpPr>
        <p:spPr>
          <a:xfrm>
            <a:off x="609600" y="37846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③　推断可判定且全自动</a:t>
            </a:r>
            <a:endParaRPr lang="en-US" sz="1500" noProof="1"/>
          </a:p>
        </p:txBody>
      </p:sp>
      <p:sp>
        <p:nvSpPr>
          <p:cNvPr id="14" name="f3-body"/>
          <p:cNvSpPr txBox="1"/>
          <p:nvPr/>
        </p:nvSpPr>
        <p:spPr>
          <a:xfrm>
            <a:off x="609600" y="4089400"/>
            <a:ext cx="51816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算法 W 总在有限步内终止，实践中近乎线性。程序员可以不写任何类型标注；标注只起文档与契约作用，编译器会检验其与推断结果一致。</a:t>
            </a:r>
            <a:endParaRPr lang="en-US" sz="1300" noProof="1"/>
          </a:p>
        </p:txBody>
      </p:sp>
      <p:sp>
        <p:nvSpPr>
          <p:cNvPr id="15" name="f4-tag"/>
          <p:cNvSpPr txBox="1"/>
          <p:nvPr/>
        </p:nvSpPr>
        <p:spPr>
          <a:xfrm>
            <a:off x="6400800" y="37846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④　模块化（可组合性）</a:t>
            </a:r>
            <a:endParaRPr lang="en-US" sz="1500" noProof="1"/>
          </a:p>
        </p:txBody>
      </p:sp>
      <p:sp>
        <p:nvSpPr>
          <p:cNvPr id="16" name="f4-body"/>
          <p:cNvSpPr txBox="1"/>
          <p:nvPr/>
        </p:nvSpPr>
        <p:spPr>
          <a:xfrm>
            <a:off x="6400800" y="4089400"/>
            <a:ext cx="527685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每个定义的类型只依赖其自身与环境 Γ，不依赖使用点。函数可以独立编译、独立推断，然后自由组合 —— 这是分离编译与库复用的理论基础。</a:t>
            </a:r>
            <a:endParaRPr lang="en-US" sz="1300" noProof="1"/>
          </a:p>
        </p:txBody>
      </p:sp>
      <p:sp>
        <p:nvSpPr>
          <p:cNvPr id="17" name="sum-box"/>
          <p:cNvSpPr/>
          <p:nvPr/>
        </p:nvSpPr>
        <p:spPr>
          <a:xfrm>
            <a:off x="609600" y="5511800"/>
            <a:ext cx="10972800" cy="5080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8" name="sum-text"/>
          <p:cNvSpPr txBox="1"/>
          <p:nvPr/>
        </p:nvSpPr>
        <p:spPr>
          <a:xfrm>
            <a:off x="812800" y="5613400"/>
            <a:ext cx="10566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E0975C"/>
                </a:solidFill>
                <a:latin typeface="MiSans"/>
                <a:ea typeface="MiSans"/>
              </a:rPr>
              <a:t>一句话概括</a:t>
            </a:r>
            <a:r>
              <a:rPr lang="en-US" sz="1400" noProof="1">
                <a:solidFill>
                  <a:srgbClr val="DCE4D8"/>
                </a:solidFill>
                <a:latin typeface="MiSans"/>
                <a:ea typeface="MiSans"/>
              </a:rPr>
              <a:t>　HM = 前束参数多态 + let 处泛化 + 合一驱动的最一般类型推断。</a:t>
            </a:r>
            <a:endParaRPr lang="en-US" sz="1400" noProof="1"/>
          </a:p>
        </p:txBody>
      </p:sp>
      <p:sp>
        <p:nvSpPr>
          <p:cNvPr id="19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20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1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27 / 37</a:t>
            </a:r>
            <a:endParaRPr lang="en-US" sz="1200" noProof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05 章 · 特性与设计哲学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5.2　为什么这样设计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三个关键设计决定及其背后的权衡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每条限制都不是随意的：放宽任何一条，推断问题都会变得更难，甚至不可判定。</a:t>
            </a:r>
            <a:endParaRPr lang="en-US" sz="1400" noProof="1"/>
          </a:p>
        </p:txBody>
      </p:sp>
      <p:sp>
        <p:nvSpPr>
          <p:cNvPr id="8" name="d1-q"/>
          <p:cNvSpPr txBox="1"/>
          <p:nvPr/>
        </p:nvSpPr>
        <p:spPr>
          <a:xfrm>
            <a:off x="609600" y="19050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问一：为什么只有 let 能泛化，λ 参数不能？</a:t>
            </a:r>
            <a:endParaRPr lang="en-US" sz="1500" noProof="1"/>
          </a:p>
        </p:txBody>
      </p:sp>
      <p:sp>
        <p:nvSpPr>
          <p:cNvPr id="9" name="d1-a"/>
          <p:cNvSpPr txBox="1"/>
          <p:nvPr/>
        </p:nvSpPr>
        <p:spPr>
          <a:xfrm>
            <a:off x="609600" y="22098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let 的定义体是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封闭的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：泛化之前它的类型已完全确定。而 λ 参数的类型要在函数体推导中逐步收窄，提前量化既无意义也无处安放。若允许 λ 参数多态（System F 式），类型推断将不可判定（Wells, 1994）。</a:t>
            </a:r>
            <a:endParaRPr lang="en-US" sz="1300" noProof="1"/>
          </a:p>
        </p:txBody>
      </p:sp>
      <p:sp>
        <p:nvSpPr>
          <p:cNvPr id="10" name="d1-line"/>
          <p:cNvSpPr/>
          <p:nvPr/>
        </p:nvSpPr>
        <p:spPr>
          <a:xfrm>
            <a:off x="609600" y="3022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1" name="d2-q"/>
          <p:cNvSpPr txBox="1"/>
          <p:nvPr/>
        </p:nvSpPr>
        <p:spPr>
          <a:xfrm>
            <a:off x="609600" y="3200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问二：为什么量词只允许出现在最外层（rank-1 / 前束）？</a:t>
            </a:r>
            <a:endParaRPr lang="en-US" sz="1500" noProof="1"/>
          </a:p>
        </p:txBody>
      </p:sp>
      <p:sp>
        <p:nvSpPr>
          <p:cNvPr id="12" name="d2-a"/>
          <p:cNvSpPr txBox="1"/>
          <p:nvPr/>
        </p:nvSpPr>
        <p:spPr>
          <a:xfrm>
            <a:off x="609600" y="35052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前束量化下，"实例化"只需替换约束变量，合一保持一阶、可解。一旦允许 (∀α. α→α)→Int 这样的高秩类型，合一上升为高阶问题，主类型不复存在。Haskell 的 RankNTypes 扩展正是用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显式标注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换回这部分表达力。</a:t>
            </a:r>
            <a:endParaRPr lang="en-US" sz="1300" noProof="1"/>
          </a:p>
        </p:txBody>
      </p:sp>
      <p:sp>
        <p:nvSpPr>
          <p:cNvPr id="13" name="d2-line"/>
          <p:cNvSpPr/>
          <p:nvPr/>
        </p:nvSpPr>
        <p:spPr>
          <a:xfrm>
            <a:off x="609600" y="43180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4" name="d3-q"/>
          <p:cNvSpPr txBox="1"/>
          <p:nvPr/>
        </p:nvSpPr>
        <p:spPr>
          <a:xfrm>
            <a:off x="609600" y="4495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问三：为什么推断宁可放弃一部分表达力，也要保住"最一般"？</a:t>
            </a:r>
            <a:endParaRPr lang="en-US" sz="1500" noProof="1"/>
          </a:p>
        </p:txBody>
      </p:sp>
      <p:sp>
        <p:nvSpPr>
          <p:cNvPr id="15" name="d3-a"/>
          <p:cNvSpPr txBox="1"/>
          <p:nvPr/>
        </p:nvSpPr>
        <p:spPr>
          <a:xfrm>
            <a:off x="609600" y="4800600"/>
            <a:ext cx="10972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主类型性质使推断结果与推导路径无关：实现可以有不同策略，结论必然一致。这让类型推断成为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可预测的工程工具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，而非启发式搜索 —— 编译器报出的类型永远"不差于"程序员预期的任何标注，IDE 悬停提示、重构工具都依赖这一稳定性。</a:t>
            </a:r>
            <a:endParaRPr lang="en-US" sz="1300" noProof="1"/>
          </a:p>
        </p:txBody>
      </p:sp>
      <p:sp>
        <p:nvSpPr>
          <p:cNvPr id="16" name="note-box"/>
          <p:cNvSpPr/>
          <p:nvPr/>
        </p:nvSpPr>
        <p:spPr>
          <a:xfrm>
            <a:off x="609600" y="5740400"/>
            <a:ext cx="10972800" cy="381000"/>
          </a:xfrm>
          <a:prstGeom prst="rect">
            <a:avLst/>
          </a:prstGeom>
          <a:solidFill>
            <a:srgbClr val="EFE8D8"/>
          </a:solidFill>
          <a:ln>
            <a:noFill/>
          </a:ln>
        </p:spPr>
      </p:sp>
      <p:sp>
        <p:nvSpPr>
          <p:cNvPr id="17" name="note"/>
          <p:cNvSpPr txBox="1"/>
          <p:nvPr/>
        </p:nvSpPr>
        <p:spPr>
          <a:xfrm>
            <a:off x="812800" y="58166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设计哲学：以最小的语言机制（let + ∀）换取可判定的全自动推断；表达力缺口交给显式标注的受控扩展。</a:t>
            </a:r>
            <a:endParaRPr lang="en-US" sz="1200" noProof="1"/>
          </a:p>
        </p:txBody>
      </p:sp>
      <p:sp>
        <p:nvSpPr>
          <p:cNvPr id="18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9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0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28 / 37</a:t>
            </a:r>
            <a:endParaRPr lang="en-US" sz="1200" noProof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05 章 · 特性与设计哲学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5.3　边界在哪里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已知的边界：值限制、多态递归与表达力上限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与副作用、递归、高阶多态相遇时，朴素的 HM 需要打补丁 —— 这些补丁本身也是重要的研究。</a:t>
            </a:r>
            <a:endParaRPr lang="en-US" sz="1400" noProof="1"/>
          </a:p>
        </p:txBody>
      </p:sp>
      <p:sp>
        <p:nvSpPr>
          <p:cNvPr id="8" name="v1-tag"/>
          <p:cNvSpPr txBox="1"/>
          <p:nvPr/>
        </p:nvSpPr>
        <p:spPr>
          <a:xfrm>
            <a:off x="609600" y="1879600"/>
            <a:ext cx="546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D4A3A"/>
                </a:solidFill>
                <a:latin typeface="MiSans"/>
                <a:ea typeface="MiSans"/>
              </a:rPr>
              <a:t>① 值限制（value restriction）</a:t>
            </a:r>
            <a:endParaRPr lang="en-US" sz="1400" noProof="1"/>
          </a:p>
        </p:txBody>
      </p:sp>
      <p:sp>
        <p:nvSpPr>
          <p:cNvPr id="9" name="v1-body"/>
          <p:cNvSpPr txBox="1"/>
          <p:nvPr/>
        </p:nvSpPr>
        <p:spPr>
          <a:xfrm>
            <a:off x="609600" y="2159000"/>
            <a:ext cx="5605463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引入可变性引用后，任意表达式的 let 泛化不再安全。Wright–Felleisen (1994) 的修补：只对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语法值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（变量、常量、λ 抽象）做泛化，其余保持单态。</a:t>
            </a:r>
            <a:endParaRPr lang="en-US" sz="1300" noProof="1"/>
          </a:p>
        </p:txBody>
      </p:sp>
      <p:sp>
        <p:nvSpPr>
          <p:cNvPr id="10" name="v1-box"/>
          <p:cNvSpPr/>
          <p:nvPr/>
        </p:nvSpPr>
        <p:spPr>
          <a:xfrm>
            <a:off x="609600" y="3429000"/>
            <a:ext cx="5461000" cy="16510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1" name="v1-code"/>
          <p:cNvSpPr txBox="1"/>
          <p:nvPr/>
        </p:nvSpPr>
        <p:spPr>
          <a:xfrm>
            <a:off x="812800" y="3556000"/>
            <a:ext cx="50546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若无值限制（反例）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let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r =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ref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[]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∀α. α list ref?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r := [</a:t>
            </a:r>
            <a:r>
              <a:rPr lang="en-US" sz="1200" noProof="1">
                <a:solidFill>
                  <a:srgbClr val="D9A06B"/>
                </a:solidFill>
                <a:latin typeface="Roboto Mono"/>
                <a:ea typeface="Roboto Mono"/>
              </a:rPr>
              <a:t>1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]        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α := int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match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!r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with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|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s::_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s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&amp;&amp;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true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α := bool，崩溃！</a:t>
            </a:r>
            <a:endParaRPr lang="en-US" sz="1200" noProof="1"/>
          </a:p>
        </p:txBody>
      </p:sp>
      <p:sp>
        <p:nvSpPr>
          <p:cNvPr id="12" name="v2-tag"/>
          <p:cNvSpPr txBox="1"/>
          <p:nvPr/>
        </p:nvSpPr>
        <p:spPr>
          <a:xfrm>
            <a:off x="6375400" y="1879600"/>
            <a:ext cx="520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D4A3A"/>
                </a:solidFill>
                <a:latin typeface="MiSans"/>
                <a:ea typeface="MiSans"/>
              </a:rPr>
              <a:t>② 多态递归（polymorphic recursion）</a:t>
            </a:r>
            <a:endParaRPr lang="en-US" sz="1400" noProof="1"/>
          </a:p>
        </p:txBody>
      </p:sp>
      <p:sp>
        <p:nvSpPr>
          <p:cNvPr id="13" name="v2-body"/>
          <p:cNvSpPr txBox="1"/>
          <p:nvPr/>
        </p:nvSpPr>
        <p:spPr>
          <a:xfrm>
            <a:off x="6375400" y="2159000"/>
            <a:ext cx="5207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let rec 中被递归调用的函数按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单态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对待；允许递归调用处以不同类型使用自身（多态递归）会使推断不可判定（Henglein 1993）。需要时必须显式标注。</a:t>
            </a:r>
            <a:endParaRPr lang="en-US" sz="1300" noProof="1"/>
          </a:p>
        </p:txBody>
      </p:sp>
      <p:sp>
        <p:nvSpPr>
          <p:cNvPr id="14" name="v2-box"/>
          <p:cNvSpPr/>
          <p:nvPr/>
        </p:nvSpPr>
        <p:spPr>
          <a:xfrm>
            <a:off x="6375400" y="3429000"/>
            <a:ext cx="5207000" cy="16510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5" name="v2-code"/>
          <p:cNvSpPr txBox="1"/>
          <p:nvPr/>
        </p:nvSpPr>
        <p:spPr>
          <a:xfrm>
            <a:off x="6578600" y="3556000"/>
            <a:ext cx="4800600" cy="142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OCaml：多态递归需标注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let rec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depth : </a:t>
            </a: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'a. 'a t -&gt; int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=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function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|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Leaf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</a:t>
            </a:r>
            <a:r>
              <a:rPr lang="en-US" sz="1200" noProof="1">
                <a:solidFill>
                  <a:srgbClr val="D9A06B"/>
                </a:solidFill>
                <a:latin typeface="Roboto Mono"/>
                <a:ea typeface="Roboto Mono"/>
              </a:rPr>
              <a:t>0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|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Node t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</a:t>
            </a:r>
            <a:r>
              <a:rPr lang="en-US" sz="1200" noProof="1">
                <a:solidFill>
                  <a:srgbClr val="D9A06B"/>
                </a:solidFill>
                <a:latin typeface="Roboto Mono"/>
                <a:ea typeface="Roboto Mono"/>
              </a:rPr>
              <a:t>1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+ depth t</a:t>
            </a:r>
            <a:endParaRPr lang="en-US" sz="1200" noProof="1"/>
          </a:p>
        </p:txBody>
      </p:sp>
      <p:sp>
        <p:nvSpPr>
          <p:cNvPr id="16" name="v3-tag"/>
          <p:cNvSpPr txBox="1"/>
          <p:nvPr/>
        </p:nvSpPr>
        <p:spPr>
          <a:xfrm>
            <a:off x="609600" y="52832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D4A3A"/>
                </a:solidFill>
                <a:latin typeface="MiSans"/>
                <a:ea typeface="MiSans"/>
              </a:rPr>
              <a:t>③ 表达力上限</a:t>
            </a:r>
            <a:endParaRPr lang="en-US" sz="1400" noProof="1"/>
          </a:p>
        </p:txBody>
      </p:sp>
      <p:sp>
        <p:nvSpPr>
          <p:cNvPr id="17" name="v3-body"/>
          <p:cNvSpPr txBox="1"/>
          <p:nvPr/>
        </p:nvSpPr>
        <p:spPr>
          <a:xfrm>
            <a:off x="609600" y="5562600"/>
            <a:ext cx="10972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HM 核心没有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重载 / 特设多态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（Haskell 用类型类补上）、没有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子类型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（OCaml 的对象层另有一套）、没有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高秩与存在类型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（GHC 扩展）。这些扩展都以"部分标注"或"推断弱化"为代价。</a:t>
            </a:r>
            <a:endParaRPr lang="en-US" sz="1300" noProof="1"/>
          </a:p>
        </p:txBody>
      </p:sp>
      <p:sp>
        <p:nvSpPr>
          <p:cNvPr id="18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9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0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29 / 37</a:t>
            </a:r>
            <a:endParaRPr lang="en-US" sz="1200" noProof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06 章 · 主流语言的采纳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6.1　采纳全景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哪些主流语言采用了 HM 式类型推断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从 ML 家族的"完整 HM"，到工业语言的"局部 HM 式推断"，采纳程度各不相同。</a:t>
            </a:r>
            <a:endParaRPr lang="en-US" sz="1400" noProof="1"/>
          </a:p>
        </p:txBody>
      </p:sp>
      <p:graphicFrame>
        <p:nvGraphicFramePr>
          <p:cNvPr id="8" name="lang-table"/>
          <p:cNvGraphicFramePr>
            <a:graphicFrameLocks noGrp="1"/>
          </p:cNvGraphicFramePr>
          <p:nvPr/>
        </p:nvGraphicFramePr>
        <p:xfrm>
          <a:off x="609600" y="1879600"/>
          <a:ext cx="10972800" cy="3759200"/>
        </p:xfrm>
        <a:graphic>
          <a:graphicData uri="http://schemas.openxmlformats.org/drawingml/2006/table">
            <a:tbl>
              <a:tblPr/>
              <a:tblGrid>
                <a:gridCol w="175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2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1104"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F6F1E7"/>
                          </a:solidFill>
                          <a:latin typeface="Times New Roman"/>
                          <a:ea typeface="Times New Roman"/>
                        </a:rPr>
                        <a:t>语言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1D4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F6F1E7"/>
                          </a:solidFill>
                          <a:latin typeface="Times New Roman"/>
                          <a:ea typeface="Times New Roman"/>
                        </a:rPr>
                        <a:t>采纳程度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1D4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F6F1E7"/>
                          </a:solidFill>
                          <a:latin typeface="Times New Roman"/>
                          <a:ea typeface="Times New Roman"/>
                        </a:rPr>
                        <a:t>说明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1D4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512"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1D4A3A"/>
                          </a:solidFill>
                          <a:latin typeface="Times New Roman"/>
                          <a:ea typeface="Times New Roman"/>
                        </a:rPr>
                        <a:t>Standard 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完整 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语言定义（1997）即建立在 Damas–Milner 系统之上；值限制的标准实例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512"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1D4A3A"/>
                          </a:solidFill>
                          <a:latin typeface="Times New Roman"/>
                          <a:ea typeface="Times New Roman"/>
                        </a:rPr>
                        <a:t>OCaml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完整 HM + 扩展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宽松值限制；多态变体、GADT、第一级模块等扩展需标注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512"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1D4A3A"/>
                          </a:solidFill>
                          <a:latin typeface="Times New Roman"/>
                          <a:ea typeface="Times New Roman"/>
                        </a:rPr>
                        <a:t>Haskell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HM + 类型类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Haskell 98/2010 为 HM 加类型类以支持重载；GHC 扩展（RankNTypes、GADT）超出可推断范围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512"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1D4A3A"/>
                          </a:solidFill>
                          <a:latin typeface="Times New Roman"/>
                          <a:ea typeface="Times New Roman"/>
                        </a:rPr>
                        <a:t>F#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完整 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.NET 平台上的 ML 方言；与 OO 子类型系统并存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512"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1D4A3A"/>
                          </a:solidFill>
                          <a:latin typeface="Times New Roman"/>
                          <a:ea typeface="Times New Roman"/>
                        </a:rPr>
                        <a:t>Elm / PureScript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完整 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面向前端与编译到 JS 的语言；Elm 以友好的类型错误信息著称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512"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1D4A3A"/>
                          </a:solidFill>
                          <a:latin typeface="Times New Roman"/>
                          <a:ea typeface="Times New Roman"/>
                        </a:rPr>
                        <a:t>Rust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局部 HM 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函数体内 HM 式推断（含 trait 约束求解）；函数签名必须显式标注，不做全局推断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3512"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1D4A3A"/>
                          </a:solidFill>
                          <a:latin typeface="Times New Roman"/>
                          <a:ea typeface="Times New Roman"/>
                        </a:rPr>
                        <a:t>Swift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局部 HM 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基于约束求解的局部推断；闭包内部可省略标注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A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3512">
                <a:tc>
                  <a:txBody>
                    <a:bodyPr/>
                    <a:lstStyle/>
                    <a:p>
                      <a:pPr algn="l"/>
                      <a:r>
                        <a:rPr lang="en-US" sz="1300" b="1" noProof="1">
                          <a:solidFill>
                            <a:srgbClr val="1D4A3A"/>
                          </a:solidFill>
                          <a:latin typeface="Times New Roman"/>
                          <a:ea typeface="Times New Roman"/>
                        </a:rPr>
                        <a:t>TypeScript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部分借鉴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333333"/>
                          </a:solidFill>
                          <a:latin typeface="Times New Roman"/>
                          <a:ea typeface="Times New Roman"/>
                        </a:rPr>
                        <a:t>泛型函数调用点做类型实参推断；有子类型与结构化类型，不属于严格 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3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D3CBB8"/>
                      </a:solidFill>
                    </a:lnB>
                    <a:solidFill>
                      <a:srgbClr val="F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note"/>
          <p:cNvSpPr txBox="1"/>
          <p:nvPr/>
        </p:nvSpPr>
        <p:spPr>
          <a:xfrm>
            <a:off x="609600" y="57912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规律：纯函数式语言采用完整 HM；带面向对象、所有权或子类型机制的语言退化为"函数体内的局部推断 + 签名强制标注"。</a:t>
            </a:r>
            <a:endParaRPr lang="en-US" sz="1200" noProof="1"/>
          </a:p>
        </p:txBody>
      </p:sp>
      <p:sp>
        <p:nvSpPr>
          <p:cNvPr id="10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1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12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30 / 37</a:t>
            </a:r>
            <a:endParaRPr lang="en-US" sz="1200" noProof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06 章 · 主流语言的采纳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6.2　同一函数，四种语言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compose 的四种写法：推断结果与标注位置的对照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观察同一逻辑在不同语言中"标注多少、推断多少" —— HM 血统越纯，标注越少。</a:t>
            </a:r>
            <a:endParaRPr lang="en-US" sz="1400" noProof="1"/>
          </a:p>
        </p:txBody>
      </p:sp>
      <p:sp>
        <p:nvSpPr>
          <p:cNvPr id="8" name="ocaml-box"/>
          <p:cNvSpPr/>
          <p:nvPr/>
        </p:nvSpPr>
        <p:spPr>
          <a:xfrm>
            <a:off x="609600" y="1879600"/>
            <a:ext cx="5334000" cy="18796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9" name="ocaml-bar"/>
          <p:cNvSpPr/>
          <p:nvPr/>
        </p:nvSpPr>
        <p:spPr>
          <a:xfrm>
            <a:off x="609600" y="1879600"/>
            <a:ext cx="5334000" cy="279400"/>
          </a:xfrm>
          <a:prstGeom prst="rect">
            <a:avLst/>
          </a:prstGeom>
          <a:solidFill>
            <a:srgbClr val="1C362B"/>
          </a:solidFill>
          <a:ln>
            <a:noFill/>
          </a:ln>
        </p:spPr>
      </p:sp>
      <p:sp>
        <p:nvSpPr>
          <p:cNvPr id="10" name="ocaml-title"/>
          <p:cNvSpPr txBox="1"/>
          <p:nvPr/>
        </p:nvSpPr>
        <p:spPr>
          <a:xfrm>
            <a:off x="762000" y="1917700"/>
            <a:ext cx="5029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OCaml · 零标注</a:t>
            </a:r>
            <a:endParaRPr lang="en-US" sz="1200" noProof="1"/>
          </a:p>
        </p:txBody>
      </p:sp>
      <p:sp>
        <p:nvSpPr>
          <p:cNvPr id="11" name="ocaml-code"/>
          <p:cNvSpPr txBox="1"/>
          <p:nvPr/>
        </p:nvSpPr>
        <p:spPr>
          <a:xfrm>
            <a:off x="812800" y="2260600"/>
            <a:ext cx="4978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let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compose f g x = f (g x)</a:t>
            </a:r>
            <a:endParaRPr lang="en-US" sz="1200" noProof="1"/>
          </a:p>
          <a:p>
            <a:pPr>
              <a:lnSpc>
                <a:spcPct val="155000"/>
              </a:lnSpc>
            </a:pP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推断结果：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val compose : ('b -&gt; 'c) -&gt; ('a -&gt; 'b)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            -&gt; 'a -&gt; 'c = &lt;fun&gt;</a:t>
            </a:r>
            <a:endParaRPr lang="en-US" sz="1200" noProof="1"/>
          </a:p>
        </p:txBody>
      </p:sp>
      <p:sp>
        <p:nvSpPr>
          <p:cNvPr id="12" name="hs-box"/>
          <p:cNvSpPr/>
          <p:nvPr/>
        </p:nvSpPr>
        <p:spPr>
          <a:xfrm>
            <a:off x="6248400" y="1879600"/>
            <a:ext cx="5334000" cy="18796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3" name="hs-bar"/>
          <p:cNvSpPr/>
          <p:nvPr/>
        </p:nvSpPr>
        <p:spPr>
          <a:xfrm>
            <a:off x="6248400" y="1879600"/>
            <a:ext cx="5334000" cy="279400"/>
          </a:xfrm>
          <a:prstGeom prst="rect">
            <a:avLst/>
          </a:prstGeom>
          <a:solidFill>
            <a:srgbClr val="1C362B"/>
          </a:solidFill>
          <a:ln>
            <a:noFill/>
          </a:ln>
        </p:spPr>
      </p:sp>
      <p:sp>
        <p:nvSpPr>
          <p:cNvPr id="14" name="hs-title"/>
          <p:cNvSpPr txBox="1"/>
          <p:nvPr/>
        </p:nvSpPr>
        <p:spPr>
          <a:xfrm>
            <a:off x="6400800" y="1917700"/>
            <a:ext cx="5029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Haskell · 标注可选但推荐</a:t>
            </a:r>
            <a:endParaRPr lang="en-US" sz="1200" noProof="1"/>
          </a:p>
        </p:txBody>
      </p:sp>
      <p:sp>
        <p:nvSpPr>
          <p:cNvPr id="15" name="hs-code"/>
          <p:cNvSpPr txBox="1"/>
          <p:nvPr/>
        </p:nvSpPr>
        <p:spPr>
          <a:xfrm>
            <a:off x="6451600" y="2260600"/>
            <a:ext cx="4978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compose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::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</a:t>
            </a: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(b -&gt; c) -&gt; (a -&gt; b) -&gt; a -&gt; c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compose f g x = f (g x)</a:t>
            </a:r>
            <a:endParaRPr lang="en-US" sz="1200" noProof="1"/>
          </a:p>
          <a:p>
            <a:pPr>
              <a:lnSpc>
                <a:spcPct val="155000"/>
              </a:lnSpc>
            </a:pP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省略标注也能推断出同一类型；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签名作为文档与契约保留</a:t>
            </a:r>
            <a:endParaRPr lang="en-US" sz="1200" noProof="1"/>
          </a:p>
        </p:txBody>
      </p:sp>
      <p:sp>
        <p:nvSpPr>
          <p:cNvPr id="16" name="fs-box"/>
          <p:cNvSpPr/>
          <p:nvPr/>
        </p:nvSpPr>
        <p:spPr>
          <a:xfrm>
            <a:off x="609600" y="3962400"/>
            <a:ext cx="5334000" cy="18796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7" name="fs-bar"/>
          <p:cNvSpPr/>
          <p:nvPr/>
        </p:nvSpPr>
        <p:spPr>
          <a:xfrm>
            <a:off x="609600" y="3962400"/>
            <a:ext cx="5334000" cy="279400"/>
          </a:xfrm>
          <a:prstGeom prst="rect">
            <a:avLst/>
          </a:prstGeom>
          <a:solidFill>
            <a:srgbClr val="1C362B"/>
          </a:solidFill>
          <a:ln>
            <a:noFill/>
          </a:ln>
        </p:spPr>
      </p:sp>
      <p:sp>
        <p:nvSpPr>
          <p:cNvPr id="18" name="fs-title"/>
          <p:cNvSpPr txBox="1"/>
          <p:nvPr/>
        </p:nvSpPr>
        <p:spPr>
          <a:xfrm>
            <a:off x="762000" y="4000500"/>
            <a:ext cx="5029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F# · 与 OCaml 同构</a:t>
            </a:r>
            <a:endParaRPr lang="en-US" sz="1200" noProof="1"/>
          </a:p>
        </p:txBody>
      </p:sp>
      <p:sp>
        <p:nvSpPr>
          <p:cNvPr id="19" name="fs-code"/>
          <p:cNvSpPr txBox="1"/>
          <p:nvPr/>
        </p:nvSpPr>
        <p:spPr>
          <a:xfrm>
            <a:off x="812800" y="4343400"/>
            <a:ext cx="4978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let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compose f g x = f (g x)</a:t>
            </a:r>
            <a:endParaRPr lang="en-US" sz="1200" noProof="1"/>
          </a:p>
          <a:p>
            <a:pPr>
              <a:lnSpc>
                <a:spcPct val="155000"/>
              </a:lnSpc>
            </a:pP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// 推断结果：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val compose : ('b -&gt; 'c) -&gt; ('a -&gt; 'b)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            -&gt; 'a -&gt; 'c</a:t>
            </a:r>
            <a:endParaRPr lang="en-US" sz="1200" noProof="1"/>
          </a:p>
        </p:txBody>
      </p:sp>
      <p:sp>
        <p:nvSpPr>
          <p:cNvPr id="20" name="rs-box"/>
          <p:cNvSpPr/>
          <p:nvPr/>
        </p:nvSpPr>
        <p:spPr>
          <a:xfrm>
            <a:off x="6248400" y="3962400"/>
            <a:ext cx="5334000" cy="18796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21" name="rs-bar"/>
          <p:cNvSpPr/>
          <p:nvPr/>
        </p:nvSpPr>
        <p:spPr>
          <a:xfrm>
            <a:off x="6248400" y="3962400"/>
            <a:ext cx="5334000" cy="279400"/>
          </a:xfrm>
          <a:prstGeom prst="rect">
            <a:avLst/>
          </a:prstGeom>
          <a:solidFill>
            <a:srgbClr val="1C362B"/>
          </a:solidFill>
          <a:ln>
            <a:noFill/>
          </a:ln>
        </p:spPr>
      </p:sp>
      <p:sp>
        <p:nvSpPr>
          <p:cNvPr id="22" name="rs-title"/>
          <p:cNvSpPr txBox="1"/>
          <p:nvPr/>
        </p:nvSpPr>
        <p:spPr>
          <a:xfrm>
            <a:off x="6400800" y="4000500"/>
            <a:ext cx="5029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Rust · 签名必须显式，体内推断</a:t>
            </a:r>
            <a:endParaRPr lang="en-US" sz="1200" noProof="1"/>
          </a:p>
        </p:txBody>
      </p:sp>
      <p:sp>
        <p:nvSpPr>
          <p:cNvPr id="23" name="rs-code"/>
          <p:cNvSpPr txBox="1"/>
          <p:nvPr/>
        </p:nvSpPr>
        <p:spPr>
          <a:xfrm>
            <a:off x="6451600" y="4343400"/>
            <a:ext cx="4978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fn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compose&lt;</a:t>
            </a: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A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, </a:t>
            </a: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B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, </a:t>
            </a: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C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&gt;(f: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impl Fn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(B)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C,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g: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impl Fn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(A)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B)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 impl Fn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(A)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C {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move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|x| f(g(x))  </a:t>
            </a: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// x 的类型由体内推断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}</a:t>
            </a:r>
            <a:endParaRPr lang="en-US" sz="1200" noProof="1"/>
          </a:p>
        </p:txBody>
      </p:sp>
      <p:sp>
        <p:nvSpPr>
          <p:cNvPr id="24" name="foot-note"/>
          <p:cNvSpPr txBox="1"/>
          <p:nvPr/>
        </p:nvSpPr>
        <p:spPr>
          <a:xfrm>
            <a:off x="609600" y="59690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对照 4.4 节手算的主类型 (α→β)→α→β 的实例化换名 —— 四种语言的推断结果与算法 W 的输出一致。</a:t>
            </a:r>
            <a:endParaRPr lang="en-US" sz="1200" noProof="1"/>
          </a:p>
        </p:txBody>
      </p:sp>
      <p:sp>
        <p:nvSpPr>
          <p:cNvPr id="25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26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7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31 / 37</a:t>
            </a:r>
            <a:endParaRPr lang="en-US" sz="1200" noProof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07 章 · 评价、练习与文献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7.1　优点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HM 的优点：四条，每条都对应一个定理或工程事实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评价类型系统要看它"保证了什么、省去了什么、代价是什么"；先看保证与节省。</a:t>
            </a:r>
            <a:endParaRPr lang="en-US" sz="1400" noProof="1"/>
          </a:p>
        </p:txBody>
      </p:sp>
      <p:sp>
        <p:nvSpPr>
          <p:cNvPr id="8" name="p1-tag"/>
          <p:cNvSpPr txBox="1"/>
          <p:nvPr/>
        </p:nvSpPr>
        <p:spPr>
          <a:xfrm>
            <a:off x="609600" y="1905000"/>
            <a:ext cx="5207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①　静态安全，无运行时类型错误</a:t>
            </a:r>
            <a:endParaRPr lang="en-US" sz="1500" noProof="1"/>
          </a:p>
        </p:txBody>
      </p:sp>
      <p:sp>
        <p:nvSpPr>
          <p:cNvPr id="9" name="p1-body"/>
          <p:cNvSpPr txBox="1"/>
          <p:nvPr/>
        </p:nvSpPr>
        <p:spPr>
          <a:xfrm>
            <a:off x="609600" y="2209800"/>
            <a:ext cx="52070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良类型程序不会"卡住"（类型可靠性：进展 + 保持）。与动态语言不同，类型错误在编译期全部暴露 —— 而且推断不依赖标注，不会因标注缺失而漏检。</a:t>
            </a:r>
            <a:endParaRPr lang="en-US" sz="1300" noProof="1"/>
          </a:p>
        </p:txBody>
      </p:sp>
      <p:sp>
        <p:nvSpPr>
          <p:cNvPr id="10" name="p2-tag"/>
          <p:cNvSpPr txBox="1"/>
          <p:nvPr/>
        </p:nvSpPr>
        <p:spPr>
          <a:xfrm>
            <a:off x="6375400" y="1905000"/>
            <a:ext cx="5207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②　零标注负担，代码即文档</a:t>
            </a:r>
            <a:endParaRPr lang="en-US" sz="1500" noProof="1"/>
          </a:p>
        </p:txBody>
      </p:sp>
      <p:sp>
        <p:nvSpPr>
          <p:cNvPr id="11" name="p2-body"/>
          <p:cNvSpPr txBox="1"/>
          <p:nvPr/>
        </p:nvSpPr>
        <p:spPr>
          <a:xfrm>
            <a:off x="6375400" y="2209800"/>
            <a:ext cx="52070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推断出的主类型是最精确的文档：compose : (β→γ)→(α→β)→α→γ 本身就说明了函数的行为契约。工具链（IDE 悬停、类型驱动的 API 搜索如 Hoogle）直接受益。</a:t>
            </a:r>
            <a:endParaRPr lang="en-US" sz="1300" noProof="1"/>
          </a:p>
        </p:txBody>
      </p:sp>
      <p:sp>
        <p:nvSpPr>
          <p:cNvPr id="12" name="p1-line"/>
          <p:cNvSpPr/>
          <p:nvPr/>
        </p:nvSpPr>
        <p:spPr>
          <a:xfrm>
            <a:off x="609600" y="34290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3" name="p3-tag"/>
          <p:cNvSpPr txBox="1"/>
          <p:nvPr/>
        </p:nvSpPr>
        <p:spPr>
          <a:xfrm>
            <a:off x="609600" y="3632200"/>
            <a:ext cx="5207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③　泛化自动完成，复用最大化</a:t>
            </a:r>
            <a:endParaRPr lang="en-US" sz="1500" noProof="1"/>
          </a:p>
        </p:txBody>
      </p:sp>
      <p:sp>
        <p:nvSpPr>
          <p:cNvPr id="14" name="p3-body"/>
          <p:cNvSpPr txBox="1"/>
          <p:nvPr/>
        </p:nvSpPr>
        <p:spPr>
          <a:xfrm>
            <a:off x="609600" y="3937000"/>
            <a:ext cx="52070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写下一个具体场景中的函数，得到的却是它的最一般类型 —— 库函数"免费"获得最大复用性，不需要程序员预先设计泛型签名。</a:t>
            </a:r>
            <a:endParaRPr lang="en-US" sz="1300" noProof="1"/>
          </a:p>
        </p:txBody>
      </p:sp>
      <p:sp>
        <p:nvSpPr>
          <p:cNvPr id="15" name="p4-tag"/>
          <p:cNvSpPr txBox="1"/>
          <p:nvPr/>
        </p:nvSpPr>
        <p:spPr>
          <a:xfrm>
            <a:off x="6375400" y="3632200"/>
            <a:ext cx="5207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D4A3A"/>
                </a:solidFill>
                <a:latin typeface="MiSans"/>
                <a:ea typeface="MiSans"/>
              </a:rPr>
              <a:t>④　模块化与增量编译友好</a:t>
            </a:r>
            <a:endParaRPr lang="en-US" sz="1500" noProof="1"/>
          </a:p>
        </p:txBody>
      </p:sp>
      <p:sp>
        <p:nvSpPr>
          <p:cNvPr id="16" name="p4-body"/>
          <p:cNvSpPr txBox="1"/>
          <p:nvPr/>
        </p:nvSpPr>
        <p:spPr>
          <a:xfrm>
            <a:off x="6375400" y="3937000"/>
            <a:ext cx="52070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推断是局部的、组合的：每个定义的类型由自身决定。实践中算法近乎线性（最坏情况指数级 —— Mairson 1990，但真实代码几乎不触发），适合大型工程。</a:t>
            </a:r>
            <a:endParaRPr lang="en-US" sz="1300" noProof="1"/>
          </a:p>
        </p:txBody>
      </p:sp>
      <p:sp>
        <p:nvSpPr>
          <p:cNvPr id="17" name="sum-box"/>
          <p:cNvSpPr/>
          <p:nvPr/>
        </p:nvSpPr>
        <p:spPr>
          <a:xfrm>
            <a:off x="609600" y="5384800"/>
            <a:ext cx="10972800" cy="5842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8" name="sum-text"/>
          <p:cNvSpPr txBox="1"/>
          <p:nvPr/>
        </p:nvSpPr>
        <p:spPr>
          <a:xfrm>
            <a:off x="812800" y="5499100"/>
            <a:ext cx="10566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E0975C"/>
                </a:solidFill>
                <a:latin typeface="MiSans"/>
                <a:ea typeface="MiSans"/>
              </a:rPr>
              <a:t>总评</a:t>
            </a:r>
            <a:r>
              <a:rPr lang="en-US" sz="1400" noProof="1">
                <a:solidFill>
                  <a:srgbClr val="DCE4D8"/>
                </a:solidFill>
                <a:latin typeface="MiSans"/>
                <a:ea typeface="MiSans"/>
              </a:rPr>
              <a:t>　HM 以极小的语言代价换取了"安全 + 零标注 + 最一般类型"三者兼得。</a:t>
            </a:r>
            <a:endParaRPr lang="en-US" sz="1400" noProof="1"/>
          </a:p>
        </p:txBody>
      </p:sp>
      <p:sp>
        <p:nvSpPr>
          <p:cNvPr id="19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20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1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32 / 37</a:t>
            </a:r>
            <a:endParaRPr lang="en-US" sz="1200" noProof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07 章 · 评价、练习与文献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7.2　缺点与批评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HM 的局限：错误诊断、表达力与最坏复杂度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半个世纪的使用也暴露了清楚的短板，其中一些至今仍是活跃的研究方向。</a:t>
            </a:r>
            <a:endParaRPr lang="en-US" sz="1400" noProof="1"/>
          </a:p>
        </p:txBody>
      </p:sp>
      <p:sp>
        <p:nvSpPr>
          <p:cNvPr id="8" name="c1-tag"/>
          <p:cNvSpPr txBox="1"/>
          <p:nvPr/>
        </p:nvSpPr>
        <p:spPr>
          <a:xfrm>
            <a:off x="609600" y="1879600"/>
            <a:ext cx="546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D4A3A"/>
                </a:solidFill>
                <a:latin typeface="MiSans"/>
                <a:ea typeface="MiSans"/>
              </a:rPr>
              <a:t>① 错误信息定位困难</a:t>
            </a:r>
            <a:endParaRPr lang="en-US" sz="1400" noProof="1"/>
          </a:p>
        </p:txBody>
      </p:sp>
      <p:sp>
        <p:nvSpPr>
          <p:cNvPr id="9" name="c1-body"/>
          <p:cNvSpPr txBox="1"/>
          <p:nvPr/>
        </p:nvSpPr>
        <p:spPr>
          <a:xfrm>
            <a:off x="609600" y="2159000"/>
            <a:ext cx="5461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合一失败发生在</a:t>
            </a: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约束冲突处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，而非程序员真正犯错处；错误消息常以内部变量表述。这是 Elm、OCaml 错误信息改进研究（以及类型错误切片、贝叶斯定位等方向）的直接动因。</a:t>
            </a:r>
            <a:endParaRPr lang="en-US" sz="1300" noProof="1"/>
          </a:p>
        </p:txBody>
      </p:sp>
      <p:sp>
        <p:nvSpPr>
          <p:cNvPr id="10" name="c1-box"/>
          <p:cNvSpPr/>
          <p:nvPr/>
        </p:nvSpPr>
        <p:spPr>
          <a:xfrm>
            <a:off x="609600" y="3276600"/>
            <a:ext cx="5461000" cy="16510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1" name="c1-code"/>
          <p:cNvSpPr txBox="1"/>
          <p:nvPr/>
        </p:nvSpPr>
        <p:spPr>
          <a:xfrm>
            <a:off x="812800" y="3403599"/>
            <a:ext cx="5054600" cy="14208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OCaml 真实报错（示意）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Error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: This expression has type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string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but an expression was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expected of type </a:t>
            </a: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int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指认的是使用点，不一定是写错的地方</a:t>
            </a:r>
            <a:endParaRPr lang="en-US" sz="1200" noProof="1"/>
          </a:p>
        </p:txBody>
      </p:sp>
      <p:sp>
        <p:nvSpPr>
          <p:cNvPr id="12" name="c2-tag"/>
          <p:cNvSpPr txBox="1"/>
          <p:nvPr/>
        </p:nvSpPr>
        <p:spPr>
          <a:xfrm>
            <a:off x="6375400" y="1879600"/>
            <a:ext cx="520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D4A3A"/>
                </a:solidFill>
                <a:latin typeface="MiSans"/>
                <a:ea typeface="MiSans"/>
              </a:rPr>
              <a:t>② 表达力天花板明显</a:t>
            </a:r>
            <a:endParaRPr lang="en-US" sz="1400" noProof="1"/>
          </a:p>
        </p:txBody>
      </p:sp>
      <p:sp>
        <p:nvSpPr>
          <p:cNvPr id="13" name="c2-body"/>
          <p:cNvSpPr txBox="1"/>
          <p:nvPr/>
        </p:nvSpPr>
        <p:spPr>
          <a:xfrm>
            <a:off x="6375400" y="2159000"/>
            <a:ext cx="5207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无重载与特设多态、无子类型、无高秩/存在类型、多态递归不可推断。现实中的 HM 语言都靠扩展机制突破这些边界，而每种扩展都要重新权衡推断的自动化程度。</a:t>
            </a:r>
            <a:endParaRPr lang="en-US" sz="1300" noProof="1"/>
          </a:p>
        </p:txBody>
      </p:sp>
      <p:sp>
        <p:nvSpPr>
          <p:cNvPr id="14" name="c2-box"/>
          <p:cNvSpPr/>
          <p:nvPr/>
        </p:nvSpPr>
        <p:spPr>
          <a:xfrm>
            <a:off x="6375400" y="3276600"/>
            <a:ext cx="5207000" cy="14732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15" name="c2-code"/>
          <p:cNvSpPr txBox="1"/>
          <p:nvPr/>
        </p:nvSpPr>
        <p:spPr>
          <a:xfrm>
            <a:off x="6578600" y="3403600"/>
            <a:ext cx="4800600" cy="124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Haskell：类型类补上重载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class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</a:t>
            </a: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Show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a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where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show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::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a </a:t>
            </a:r>
            <a:r>
              <a:rPr lang="en-US" sz="1200" noProof="1">
                <a:solidFill>
                  <a:srgbClr val="E0975C"/>
                </a:solidFill>
                <a:latin typeface="Roboto Mono"/>
                <a:ea typeface="Roboto Mono"/>
              </a:rPr>
              <a:t>-&gt;</a:t>
            </a:r>
            <a:r>
              <a:rPr lang="en-US" sz="1200" noProof="1">
                <a:solidFill>
                  <a:srgbClr val="DCE4D8"/>
                </a:solidFill>
                <a:latin typeface="Roboto Mono"/>
                <a:ea typeface="Roboto Mono"/>
              </a:rPr>
              <a:t> </a:t>
            </a:r>
            <a:r>
              <a:rPr lang="en-US" sz="1200" noProof="1">
                <a:solidFill>
                  <a:srgbClr val="93C7AE"/>
                </a:solidFill>
                <a:latin typeface="Roboto Mono"/>
                <a:ea typeface="Roboto Mono"/>
              </a:rPr>
              <a:t>String</a:t>
            </a:r>
            <a:endParaRPr lang="en-US" sz="12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75826F"/>
                </a:solidFill>
                <a:latin typeface="Roboto Mono"/>
                <a:ea typeface="Roboto Mono"/>
              </a:rPr>
              <a:t>-- show 的"按类型分派"不在 HM 内核中</a:t>
            </a:r>
            <a:endParaRPr lang="en-US" sz="1200" noProof="1"/>
          </a:p>
        </p:txBody>
      </p:sp>
      <p:sp>
        <p:nvSpPr>
          <p:cNvPr id="16" name="c3-tag"/>
          <p:cNvSpPr txBox="1"/>
          <p:nvPr/>
        </p:nvSpPr>
        <p:spPr>
          <a:xfrm>
            <a:off x="609600" y="5087944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D4A3A"/>
                </a:solidFill>
                <a:latin typeface="MiSans"/>
                <a:ea typeface="MiSans"/>
              </a:rPr>
              <a:t>③ 理论上的最坏复杂度</a:t>
            </a:r>
            <a:endParaRPr lang="en-US" sz="1400" noProof="1"/>
          </a:p>
        </p:txBody>
      </p:sp>
      <p:sp>
        <p:nvSpPr>
          <p:cNvPr id="17" name="c3-body"/>
          <p:cNvSpPr txBox="1"/>
          <p:nvPr/>
        </p:nvSpPr>
        <p:spPr>
          <a:xfrm>
            <a:off x="609599" y="5367344"/>
            <a:ext cx="11072813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HM 类型推断是 DEXPTIME 完全的（Mairson 1990）：存在使主类型大小随代码长度指数增长的病态程序。实践中真实代码的类型很小，算法近乎线性 —— 但它提醒：推断的"免费"建立在代码风格的统计规律之上。此外，全局推断让"类型的演化"影响面增大：修改一处定义可能改变远处推断出的类型。</a:t>
            </a:r>
            <a:endParaRPr lang="en-US" sz="1300" noProof="1"/>
          </a:p>
        </p:txBody>
      </p:sp>
      <p:sp>
        <p:nvSpPr>
          <p:cNvPr id="18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9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0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33 / 37</a:t>
            </a:r>
            <a:endParaRPr lang="en-US" sz="1200" noProof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07 章 · 评价、练习与文献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7.3　本讲总结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一页回顾：HM 系统的完整逻辑链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从下往上读：每层都建立在前一层之上；括号内是相应的章节。</a:t>
            </a:r>
            <a:endParaRPr lang="en-US" sz="1400" noProof="1"/>
          </a:p>
        </p:txBody>
      </p:sp>
      <p:sp>
        <p:nvSpPr>
          <p:cNvPr id="8" name="s6-box"/>
          <p:cNvSpPr/>
          <p:nvPr/>
        </p:nvSpPr>
        <p:spPr>
          <a:xfrm>
            <a:off x="2286000" y="1930400"/>
            <a:ext cx="7620000" cy="558800"/>
          </a:xfrm>
          <a:prstGeom prst="rect">
            <a:avLst/>
          </a:prstGeom>
          <a:solidFill>
            <a:srgbClr val="EFE8D8"/>
          </a:solidFill>
          <a:ln>
            <a:noFill/>
          </a:ln>
        </p:spPr>
      </p:sp>
      <p:sp>
        <p:nvSpPr>
          <p:cNvPr id="9" name="s6"/>
          <p:cNvSpPr txBox="1"/>
          <p:nvPr/>
        </p:nvSpPr>
        <p:spPr>
          <a:xfrm>
            <a:off x="2489200" y="2032000"/>
            <a:ext cx="72136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应用层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　SML / OCaml / Haskell / F# / Rust …（第 6 章）</a:t>
            </a:r>
            <a:endParaRPr lang="en-US" sz="1400" noProof="1"/>
          </a:p>
        </p:txBody>
      </p:sp>
      <p:sp>
        <p:nvSpPr>
          <p:cNvPr id="10" name="s5-box"/>
          <p:cNvSpPr/>
          <p:nvPr/>
        </p:nvSpPr>
        <p:spPr>
          <a:xfrm>
            <a:off x="2286000" y="2641600"/>
            <a:ext cx="7620000" cy="558800"/>
          </a:xfrm>
          <a:prstGeom prst="rect">
            <a:avLst/>
          </a:prstGeom>
          <a:solidFill>
            <a:srgbClr val="EFE8D8"/>
          </a:solidFill>
          <a:ln>
            <a:noFill/>
          </a:ln>
        </p:spPr>
      </p:sp>
      <p:sp>
        <p:nvSpPr>
          <p:cNvPr id="11" name="s5"/>
          <p:cNvSpPr txBox="1"/>
          <p:nvPr/>
        </p:nvSpPr>
        <p:spPr>
          <a:xfrm>
            <a:off x="2489200" y="2743200"/>
            <a:ext cx="72136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性质层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　可靠性 · 完备性 · 主类型 · 可判定性（4.5）</a:t>
            </a:r>
            <a:endParaRPr lang="en-US" sz="1400" noProof="1"/>
          </a:p>
        </p:txBody>
      </p:sp>
      <p:sp>
        <p:nvSpPr>
          <p:cNvPr id="12" name="s4-box"/>
          <p:cNvSpPr/>
          <p:nvPr/>
        </p:nvSpPr>
        <p:spPr>
          <a:xfrm>
            <a:off x="2286000" y="3352800"/>
            <a:ext cx="7620000" cy="558800"/>
          </a:xfrm>
          <a:prstGeom prst="rect">
            <a:avLst/>
          </a:prstGeom>
          <a:solidFill>
            <a:srgbClr val="EFE8D8"/>
          </a:solidFill>
          <a:ln>
            <a:noFill/>
          </a:ln>
        </p:spPr>
      </p:sp>
      <p:sp>
        <p:nvSpPr>
          <p:cNvPr id="13" name="s4"/>
          <p:cNvSpPr txBox="1"/>
          <p:nvPr/>
        </p:nvSpPr>
        <p:spPr>
          <a:xfrm>
            <a:off x="2489200" y="3454400"/>
            <a:ext cx="72136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算法层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　算法 W = 新变量 + 合一 + let 处泛化（4.2–4.4）</a:t>
            </a:r>
            <a:endParaRPr lang="en-US" sz="1400" noProof="1"/>
          </a:p>
        </p:txBody>
      </p:sp>
      <p:sp>
        <p:nvSpPr>
          <p:cNvPr id="14" name="s3-box"/>
          <p:cNvSpPr/>
          <p:nvPr/>
        </p:nvSpPr>
        <p:spPr>
          <a:xfrm>
            <a:off x="2286000" y="4064000"/>
            <a:ext cx="7620000" cy="558800"/>
          </a:xfrm>
          <a:prstGeom prst="rect">
            <a:avLst/>
          </a:prstGeom>
          <a:solidFill>
            <a:srgbClr val="EFE8D8"/>
          </a:solidFill>
          <a:ln>
            <a:noFill/>
          </a:ln>
        </p:spPr>
      </p:sp>
      <p:sp>
        <p:nvSpPr>
          <p:cNvPr id="15" name="s3"/>
          <p:cNvSpPr txBox="1"/>
          <p:nvPr/>
        </p:nvSpPr>
        <p:spPr>
          <a:xfrm>
            <a:off x="2489200" y="4165600"/>
            <a:ext cx="72136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规则层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　六条规则：Var / Abs / App / Let / Gen / Inst（第 3 章）</a:t>
            </a:r>
            <a:endParaRPr lang="en-US" sz="1400" noProof="1"/>
          </a:p>
        </p:txBody>
      </p:sp>
      <p:sp>
        <p:nvSpPr>
          <p:cNvPr id="16" name="s2-box"/>
          <p:cNvSpPr/>
          <p:nvPr/>
        </p:nvSpPr>
        <p:spPr>
          <a:xfrm>
            <a:off x="2286000" y="4775200"/>
            <a:ext cx="7620000" cy="558800"/>
          </a:xfrm>
          <a:prstGeom prst="rect">
            <a:avLst/>
          </a:prstGeom>
          <a:solidFill>
            <a:srgbClr val="EFE8D8"/>
          </a:solidFill>
          <a:ln>
            <a:noFill/>
          </a:ln>
        </p:spPr>
      </p:sp>
      <p:sp>
        <p:nvSpPr>
          <p:cNvPr id="17" name="s2"/>
          <p:cNvSpPr txBox="1"/>
          <p:nvPr/>
        </p:nvSpPr>
        <p:spPr>
          <a:xfrm>
            <a:off x="2489200" y="4876800"/>
            <a:ext cx="72136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2C2A24"/>
                </a:solidFill>
                <a:latin typeface="MiSans"/>
                <a:ea typeface="MiSans"/>
              </a:rPr>
              <a:t>语言层</a:t>
            </a:r>
            <a:r>
              <a:rPr lang="en-US" sz="1400" noProof="1">
                <a:solidFill>
                  <a:srgbClr val="2C2A24"/>
                </a:solidFill>
                <a:latin typeface="MiSans"/>
                <a:ea typeface="MiSans"/>
              </a:rPr>
              <a:t>　BNF 语法 · τ 与 σ 两层类型 · 替换与泛化（第 2 章）</a:t>
            </a:r>
            <a:endParaRPr lang="en-US" sz="1400" noProof="1"/>
          </a:p>
        </p:txBody>
      </p:sp>
      <p:sp>
        <p:nvSpPr>
          <p:cNvPr id="18" name="a1"/>
          <p:cNvSpPr txBox="1"/>
          <p:nvPr/>
        </p:nvSpPr>
        <p:spPr>
          <a:xfrm>
            <a:off x="4953000" y="2489200"/>
            <a:ext cx="228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B85C28"/>
                </a:solidFill>
                <a:latin typeface="MiSans"/>
                <a:ea typeface="MiSans"/>
              </a:rPr>
              <a:t>▲</a:t>
            </a:r>
            <a:endParaRPr lang="en-US" sz="1200" noProof="1"/>
          </a:p>
        </p:txBody>
      </p:sp>
      <p:sp>
        <p:nvSpPr>
          <p:cNvPr id="19" name="a2"/>
          <p:cNvSpPr txBox="1"/>
          <p:nvPr/>
        </p:nvSpPr>
        <p:spPr>
          <a:xfrm>
            <a:off x="4953000" y="3200400"/>
            <a:ext cx="228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B85C28"/>
                </a:solidFill>
                <a:latin typeface="MiSans"/>
                <a:ea typeface="MiSans"/>
              </a:rPr>
              <a:t>▲</a:t>
            </a:r>
            <a:endParaRPr lang="en-US" sz="1200" noProof="1"/>
          </a:p>
        </p:txBody>
      </p:sp>
      <p:sp>
        <p:nvSpPr>
          <p:cNvPr id="20" name="a3"/>
          <p:cNvSpPr txBox="1"/>
          <p:nvPr/>
        </p:nvSpPr>
        <p:spPr>
          <a:xfrm>
            <a:off x="4953000" y="3911600"/>
            <a:ext cx="228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B85C28"/>
                </a:solidFill>
                <a:latin typeface="MiSans"/>
                <a:ea typeface="MiSans"/>
              </a:rPr>
              <a:t>▲</a:t>
            </a:r>
            <a:endParaRPr lang="en-US" sz="1200" noProof="1"/>
          </a:p>
        </p:txBody>
      </p:sp>
      <p:sp>
        <p:nvSpPr>
          <p:cNvPr id="21" name="a4"/>
          <p:cNvSpPr txBox="1"/>
          <p:nvPr/>
        </p:nvSpPr>
        <p:spPr>
          <a:xfrm>
            <a:off x="4953000" y="4622800"/>
            <a:ext cx="228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B85C28"/>
                </a:solidFill>
                <a:latin typeface="MiSans"/>
                <a:ea typeface="MiSans"/>
              </a:rPr>
              <a:t>▲</a:t>
            </a:r>
            <a:endParaRPr lang="en-US" sz="1200" noProof="1"/>
          </a:p>
        </p:txBody>
      </p:sp>
      <p:sp>
        <p:nvSpPr>
          <p:cNvPr id="22" name="take-box"/>
          <p:cNvSpPr/>
          <p:nvPr/>
        </p:nvSpPr>
        <p:spPr>
          <a:xfrm>
            <a:off x="609600" y="5613400"/>
            <a:ext cx="10972800" cy="508000"/>
          </a:xfrm>
          <a:prstGeom prst="rect">
            <a:avLst/>
          </a:prstGeom>
          <a:solidFill>
            <a:srgbClr val="10241C"/>
          </a:solidFill>
          <a:ln>
            <a:noFill/>
          </a:ln>
        </p:spPr>
      </p:sp>
      <p:sp>
        <p:nvSpPr>
          <p:cNvPr id="23" name="take"/>
          <p:cNvSpPr txBox="1"/>
          <p:nvPr/>
        </p:nvSpPr>
        <p:spPr>
          <a:xfrm>
            <a:off x="812800" y="5715000"/>
            <a:ext cx="10566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E0975C"/>
                </a:solidFill>
                <a:latin typeface="MiSans"/>
                <a:ea typeface="MiSans"/>
              </a:rPr>
              <a:t>一句话</a:t>
            </a:r>
            <a:r>
              <a:rPr lang="en-US" sz="1400" noProof="1">
                <a:solidFill>
                  <a:srgbClr val="DCE4D8"/>
                </a:solidFill>
                <a:latin typeface="MiSans"/>
                <a:ea typeface="MiSans"/>
              </a:rPr>
              <a:t>　let 处泛化 + var 处实例化 + 合一 = 可判定的最一般类型推断。</a:t>
            </a:r>
            <a:endParaRPr lang="en-US" sz="1400" noProof="1"/>
          </a:p>
        </p:txBody>
      </p:sp>
      <p:sp>
        <p:nvSpPr>
          <p:cNvPr id="24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25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6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34 / 37</a:t>
            </a:r>
            <a:endParaRPr lang="en-US" sz="1200" noProof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07 章 · 评价、练习与文献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7.4　课堂练习与思考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四道练习：从手工推断到设计判断</a:t>
            </a:r>
            <a:endParaRPr lang="en-US" sz="2300" noProof="1"/>
          </a:p>
        </p:txBody>
      </p:sp>
      <p:sp>
        <p:nvSpPr>
          <p:cNvPr id="7" name="lead"/>
          <p:cNvSpPr txBox="1"/>
          <p:nvPr/>
        </p:nvSpPr>
        <p:spPr>
          <a:xfrm>
            <a:off x="609600" y="14478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400" noProof="1">
                <a:solidFill>
                  <a:srgbClr val="6B6E62"/>
                </a:solidFill>
                <a:latin typeface="MiSans"/>
                <a:ea typeface="MiSans"/>
              </a:rPr>
              <a:t>练习 1–2 检验算法掌握，练习 3–4 检验设计理解；建议课堂完成 1，其余留作作业。</a:t>
            </a:r>
            <a:endParaRPr lang="en-US" sz="1400" noProof="1"/>
          </a:p>
        </p:txBody>
      </p:sp>
      <p:sp>
        <p:nvSpPr>
          <p:cNvPr id="8" name="e1-tag"/>
          <p:cNvSpPr txBox="1"/>
          <p:nvPr/>
        </p:nvSpPr>
        <p:spPr>
          <a:xfrm>
            <a:off x="609600" y="18796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B85C28"/>
                </a:solidFill>
                <a:latin typeface="MiSans"/>
                <a:ea typeface="MiSans"/>
              </a:rPr>
              <a:t>1.</a:t>
            </a:r>
            <a:endParaRPr lang="en-US" sz="1500" noProof="1"/>
          </a:p>
        </p:txBody>
      </p:sp>
      <p:sp>
        <p:nvSpPr>
          <p:cNvPr id="9" name="e1"/>
          <p:cNvSpPr txBox="1"/>
          <p:nvPr/>
        </p:nvSpPr>
        <p:spPr>
          <a:xfrm>
            <a:off x="1117600" y="1879600"/>
            <a:ext cx="104648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手工执行 W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对 λx. λy. x y 完整执行算法 W，写出每一步的环境、替换与返回类型，并给出最终主类型。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6B6E62"/>
                </a:solidFill>
                <a:latin typeface="MiSans"/>
                <a:ea typeface="MiSans"/>
              </a:rPr>
              <a:t>完成标准：出现 2 个新变量、1 次合一；最终类型换名后应为 ∀α.∀β. (α→β)→α→β。</a:t>
            </a:r>
            <a:endParaRPr lang="en-US" sz="1300" noProof="1"/>
          </a:p>
        </p:txBody>
      </p:sp>
      <p:sp>
        <p:nvSpPr>
          <p:cNvPr id="10" name="e1-line"/>
          <p:cNvSpPr/>
          <p:nvPr/>
        </p:nvSpPr>
        <p:spPr>
          <a:xfrm>
            <a:off x="609600" y="2641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1" name="e2-tag"/>
          <p:cNvSpPr txBox="1"/>
          <p:nvPr/>
        </p:nvSpPr>
        <p:spPr>
          <a:xfrm>
            <a:off x="609600" y="27940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B85C28"/>
                </a:solidFill>
                <a:latin typeface="MiSans"/>
                <a:ea typeface="MiSans"/>
              </a:rPr>
              <a:t>2.</a:t>
            </a:r>
            <a:endParaRPr lang="en-US" sz="1500" noProof="1"/>
          </a:p>
        </p:txBody>
      </p:sp>
      <p:sp>
        <p:nvSpPr>
          <p:cNvPr id="12" name="e2"/>
          <p:cNvSpPr txBox="1"/>
          <p:nvPr/>
        </p:nvSpPr>
        <p:spPr>
          <a:xfrm>
            <a:off x="1117600" y="2794000"/>
            <a:ext cx="106553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判断可类型化性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下列表达式哪些可类型化？给出类型或指出合一失败的位置：let f = λx. x x in f　；　let p = (λx.x, λy.y) in (fst p 1, snd p true)。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6B6E62"/>
                </a:solidFill>
                <a:latin typeface="MiSans"/>
                <a:ea typeface="MiSans"/>
              </a:rPr>
              <a:t>提示：前者在发生检查处失败；后者需思考 let 对二元组的泛化。</a:t>
            </a:r>
            <a:endParaRPr lang="en-US" sz="1300" noProof="1"/>
          </a:p>
        </p:txBody>
      </p:sp>
      <p:sp>
        <p:nvSpPr>
          <p:cNvPr id="13" name="e2-line"/>
          <p:cNvSpPr/>
          <p:nvPr/>
        </p:nvSpPr>
        <p:spPr>
          <a:xfrm>
            <a:off x="609600" y="35560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4" name="e3-tag"/>
          <p:cNvSpPr txBox="1"/>
          <p:nvPr/>
        </p:nvSpPr>
        <p:spPr>
          <a:xfrm>
            <a:off x="609600" y="37084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B85C28"/>
                </a:solidFill>
                <a:latin typeface="MiSans"/>
                <a:ea typeface="MiSans"/>
              </a:rPr>
              <a:t>3.</a:t>
            </a:r>
            <a:endParaRPr lang="en-US" sz="1500" noProof="1"/>
          </a:p>
        </p:txBody>
      </p:sp>
      <p:sp>
        <p:nvSpPr>
          <p:cNvPr id="15" name="e3"/>
          <p:cNvSpPr txBox="1"/>
          <p:nvPr/>
        </p:nvSpPr>
        <p:spPr>
          <a:xfrm>
            <a:off x="1117600" y="3708400"/>
            <a:ext cx="104648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设计判断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假设取消 Gen 规则的附加条件 α ∉ ftv(Γ)，构造一个"能推出类型但运行时会出错"的表达式，说明安全性在何处被破坏。</a:t>
            </a:r>
            <a:endParaRPr lang="en-US" sz="1300" noProof="1"/>
          </a:p>
        </p:txBody>
      </p:sp>
      <p:sp>
        <p:nvSpPr>
          <p:cNvPr id="16" name="e3-line"/>
          <p:cNvSpPr/>
          <p:nvPr/>
        </p:nvSpPr>
        <p:spPr>
          <a:xfrm>
            <a:off x="609600" y="44704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7" name="e4-tag"/>
          <p:cNvSpPr txBox="1"/>
          <p:nvPr/>
        </p:nvSpPr>
        <p:spPr>
          <a:xfrm>
            <a:off x="609600" y="46228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B85C28"/>
                </a:solidFill>
                <a:latin typeface="MiSans"/>
                <a:ea typeface="MiSans"/>
              </a:rPr>
              <a:t>4.</a:t>
            </a:r>
            <a:endParaRPr lang="en-US" sz="1500" noProof="1"/>
          </a:p>
        </p:txBody>
      </p:sp>
      <p:sp>
        <p:nvSpPr>
          <p:cNvPr id="18" name="e4"/>
          <p:cNvSpPr txBox="1"/>
          <p:nvPr/>
        </p:nvSpPr>
        <p:spPr>
          <a:xfrm>
            <a:off x="1117600" y="4622800"/>
            <a:ext cx="10464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2C2A24"/>
                </a:solidFill>
                <a:latin typeface="MiSans"/>
                <a:ea typeface="MiSans"/>
              </a:rPr>
              <a:t>开放讨论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　Rust 要求函数签名显式标注、只在函数体内推断。结合第 6 章与 7.2 节，讨论：这一设计放弃了什么、换回了什么？（从错误信息质量、接口稳定性、编译时间三个角度各举一条论据。）</a:t>
            </a:r>
            <a:endParaRPr lang="en-US" sz="1300" noProof="1"/>
          </a:p>
        </p:txBody>
      </p:sp>
      <p:sp>
        <p:nvSpPr>
          <p:cNvPr id="19" name="ans-note-box"/>
          <p:cNvSpPr/>
          <p:nvPr/>
        </p:nvSpPr>
        <p:spPr>
          <a:xfrm>
            <a:off x="609600" y="5613400"/>
            <a:ext cx="10972800" cy="431800"/>
          </a:xfrm>
          <a:prstGeom prst="rect">
            <a:avLst/>
          </a:prstGeom>
          <a:solidFill>
            <a:srgbClr val="EFE8D8"/>
          </a:solidFill>
          <a:ln>
            <a:noFill/>
          </a:ln>
        </p:spPr>
      </p:sp>
      <p:sp>
        <p:nvSpPr>
          <p:cNvPr id="20" name="ans-note"/>
          <p:cNvSpPr txBox="1"/>
          <p:nvPr/>
        </p:nvSpPr>
        <p:spPr>
          <a:xfrm>
            <a:off x="812800" y="57023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参考答案要点可对照：练习 1 → 4.4 节跟踪；练习 2 → 4.2 节发生检查；练习 3 → 2.4 节反例改造。</a:t>
            </a:r>
            <a:endParaRPr lang="en-US" sz="1200" noProof="1"/>
          </a:p>
        </p:txBody>
      </p:sp>
      <p:sp>
        <p:nvSpPr>
          <p:cNvPr id="21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22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23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35 / 37</a:t>
            </a:r>
            <a:endParaRPr lang="en-US" sz="1200" noProof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-left"/>
          <p:cNvSpPr txBox="1"/>
          <p:nvPr/>
        </p:nvSpPr>
        <p:spPr>
          <a:xfrm>
            <a:off x="609600" y="2540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第 07 章 · 评价、练习与文献</a:t>
            </a:r>
            <a:endParaRPr lang="en-US" sz="1200" noProof="1"/>
          </a:p>
        </p:txBody>
      </p:sp>
      <p:sp>
        <p:nvSpPr>
          <p:cNvPr id="3" name="nav-right"/>
          <p:cNvSpPr txBox="1"/>
          <p:nvPr/>
        </p:nvSpPr>
        <p:spPr>
          <a:xfrm>
            <a:off x="7772400" y="2540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kern="0" spc="200" noProof="1">
                <a:solidFill>
                  <a:srgbClr val="6B6E62"/>
                </a:solidFill>
                <a:latin typeface="MiSans"/>
                <a:ea typeface="MiSans"/>
              </a:rPr>
              <a:t>HINDLEY–MILNER TYPE SYSTEM</a:t>
            </a:r>
            <a:endParaRPr lang="en-US" sz="1200" noProof="1"/>
          </a:p>
        </p:txBody>
      </p:sp>
      <p:sp>
        <p:nvSpPr>
          <p:cNvPr id="4" name="head-line"/>
          <p:cNvSpPr/>
          <p:nvPr/>
        </p:nvSpPr>
        <p:spPr>
          <a:xfrm>
            <a:off x="609600" y="5588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5" name="kicker"/>
          <p:cNvSpPr txBox="1"/>
          <p:nvPr/>
        </p:nvSpPr>
        <p:spPr>
          <a:xfrm>
            <a:off x="609600" y="736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100" noProof="1">
                <a:solidFill>
                  <a:srgbClr val="B85C28"/>
                </a:solidFill>
                <a:latin typeface="MiSans"/>
                <a:ea typeface="MiSans"/>
              </a:rPr>
              <a:t>7.5　经典文献与延伸阅读</a:t>
            </a:r>
            <a:endParaRPr lang="en-US" sz="1200" noProof="1"/>
          </a:p>
        </p:txBody>
      </p:sp>
      <p:sp>
        <p:nvSpPr>
          <p:cNvPr id="6" name="title"/>
          <p:cNvSpPr txBox="1"/>
          <p:nvPr/>
        </p:nvSpPr>
        <p:spPr>
          <a:xfrm>
            <a:off x="609600" y="9906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300" b="1" noProof="1">
                <a:solidFill>
                  <a:srgbClr val="1D4A3A"/>
                </a:solidFill>
                <a:latin typeface="思源宋体"/>
                <a:ea typeface="思源宋体"/>
              </a:rPr>
              <a:t>阅读材料：原始文献三篇，教材两本，进阶三篇</a:t>
            </a:r>
            <a:endParaRPr lang="en-US" sz="2300" noProof="1"/>
          </a:p>
        </p:txBody>
      </p:sp>
      <p:sp>
        <p:nvSpPr>
          <p:cNvPr id="7" name="g1-label"/>
          <p:cNvSpPr txBox="1"/>
          <p:nvPr/>
        </p:nvSpPr>
        <p:spPr>
          <a:xfrm>
            <a:off x="609600" y="15748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原始文献（按时间序）</a:t>
            </a:r>
            <a:endParaRPr lang="en-US" sz="1300" noProof="1"/>
          </a:p>
        </p:txBody>
      </p:sp>
      <p:sp>
        <p:nvSpPr>
          <p:cNvPr id="8" name="g1-body"/>
          <p:cNvSpPr txBox="1"/>
          <p:nvPr/>
        </p:nvSpPr>
        <p:spPr>
          <a:xfrm>
            <a:off x="609599" y="1854200"/>
            <a:ext cx="11325225" cy="154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[1] R. Hindley. </a:t>
            </a:r>
            <a:r>
              <a:rPr lang="en-US" sz="1300" i="1" noProof="1">
                <a:solidFill>
                  <a:srgbClr val="2C2A24"/>
                </a:solidFill>
                <a:latin typeface="MiSans"/>
                <a:ea typeface="MiSans"/>
              </a:rPr>
              <a:t>The Principal Type-Scheme of an Object in Combinatory Logic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. Transactions of the AMS, 146:29–60, 1969.　—— 主类型概念的来源。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[2] R. Milner. </a:t>
            </a:r>
            <a:r>
              <a:rPr lang="en-US" sz="1300" i="1" noProof="1">
                <a:solidFill>
                  <a:srgbClr val="2C2A24"/>
                </a:solidFill>
                <a:latin typeface="MiSans"/>
                <a:ea typeface="MiSans"/>
              </a:rPr>
              <a:t>A Theory of Type Polymorphism in Programming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. JCSS, 17(3):348–375, 1978.　—— 系统与算法 W 的奠基论文。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[3] L. Damas, R. Milner. </a:t>
            </a:r>
            <a:r>
              <a:rPr lang="en-US" sz="1300" i="1" noProof="1">
                <a:solidFill>
                  <a:srgbClr val="2C2A24"/>
                </a:solidFill>
                <a:latin typeface="MiSans"/>
                <a:ea typeface="MiSans"/>
              </a:rPr>
              <a:t>Principal Type-Schemes for Functional Programs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. POPL '82, 207–212.　—— 完备性证明。</a:t>
            </a:r>
            <a:endParaRPr lang="en-US" sz="1300" noProof="1"/>
          </a:p>
        </p:txBody>
      </p:sp>
      <p:sp>
        <p:nvSpPr>
          <p:cNvPr id="9" name="g2-label"/>
          <p:cNvSpPr txBox="1"/>
          <p:nvPr/>
        </p:nvSpPr>
        <p:spPr>
          <a:xfrm>
            <a:off x="609600" y="3297231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教科书</a:t>
            </a:r>
            <a:endParaRPr lang="en-US" sz="1300" noProof="1"/>
          </a:p>
        </p:txBody>
      </p:sp>
      <p:sp>
        <p:nvSpPr>
          <p:cNvPr id="10" name="g2-body"/>
          <p:cNvSpPr txBox="1"/>
          <p:nvPr/>
        </p:nvSpPr>
        <p:spPr>
          <a:xfrm>
            <a:off x="609600" y="3576631"/>
            <a:ext cx="109728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[4] B. C. Pierce. </a:t>
            </a:r>
            <a:r>
              <a:rPr lang="en-US" sz="1300" i="1" noProof="1">
                <a:solidFill>
                  <a:srgbClr val="2C2A24"/>
                </a:solidFill>
                <a:latin typeface="MiSans"/>
                <a:ea typeface="MiSans"/>
              </a:rPr>
              <a:t>Types and Programming Languages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. MIT Press, 2002.　—— 第 22 章"类型重构"与本讲对应，研究生标准教材。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[5] J. C. Mitchell. </a:t>
            </a:r>
            <a:r>
              <a:rPr lang="en-US" sz="1300" i="1" noProof="1">
                <a:solidFill>
                  <a:srgbClr val="2C2A24"/>
                </a:solidFill>
                <a:latin typeface="MiSans"/>
                <a:ea typeface="MiSans"/>
              </a:rPr>
              <a:t>Foundations for Programming Languages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. MIT Press, 1996.　—— 更侧重语义与逻辑视角。</a:t>
            </a:r>
            <a:endParaRPr lang="en-US" sz="1300" noProof="1"/>
          </a:p>
        </p:txBody>
      </p:sp>
      <p:sp>
        <p:nvSpPr>
          <p:cNvPr id="11" name="g3-label"/>
          <p:cNvSpPr txBox="1"/>
          <p:nvPr/>
        </p:nvSpPr>
        <p:spPr>
          <a:xfrm>
            <a:off x="609600" y="4775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B85C28"/>
                </a:solidFill>
                <a:latin typeface="MiSans"/>
                <a:ea typeface="MiSans"/>
              </a:rPr>
              <a:t>进阶与边界</a:t>
            </a:r>
            <a:endParaRPr lang="en-US" sz="1300" noProof="1"/>
          </a:p>
        </p:txBody>
      </p:sp>
      <p:sp>
        <p:nvSpPr>
          <p:cNvPr id="12" name="g3-body"/>
          <p:cNvSpPr txBox="1"/>
          <p:nvPr/>
        </p:nvSpPr>
        <p:spPr>
          <a:xfrm>
            <a:off x="609600" y="5054600"/>
            <a:ext cx="109728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[6] J. A. Robinson. </a:t>
            </a:r>
            <a:r>
              <a:rPr lang="en-US" sz="1300" i="1" noProof="1">
                <a:solidFill>
                  <a:srgbClr val="2C2A24"/>
                </a:solidFill>
                <a:latin typeface="MiSans"/>
                <a:ea typeface="MiSans"/>
              </a:rPr>
              <a:t>A Machine-Oriented Logic Based on the Resolution Principle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. JACM, 12(1):23–41, 1965.　—— 合一算法的出处。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[7] A. K. Wright, M. Felleisen. </a:t>
            </a:r>
            <a:r>
              <a:rPr lang="en-US" sz="1300" i="1" noProof="1">
                <a:solidFill>
                  <a:srgbClr val="2C2A24"/>
                </a:solidFill>
                <a:latin typeface="MiSans"/>
                <a:ea typeface="MiSans"/>
              </a:rPr>
              <a:t>A Syntactic Approach to Type Soundness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. Information and Computation, 115(1):38–94, 1994.　—— 值限制。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[8] F. Pottier, D. Rémy. </a:t>
            </a:r>
            <a:r>
              <a:rPr lang="en-US" sz="1300" i="1" noProof="1">
                <a:solidFill>
                  <a:srgbClr val="2C2A24"/>
                </a:solidFill>
                <a:latin typeface="MiSans"/>
                <a:ea typeface="MiSans"/>
              </a:rPr>
              <a:t>The Essence of ML Type Inference</a:t>
            </a:r>
            <a:r>
              <a:rPr lang="en-US" sz="1300" noProof="1">
                <a:solidFill>
                  <a:srgbClr val="2C2A24"/>
                </a:solidFill>
                <a:latin typeface="MiSans"/>
                <a:ea typeface="MiSans"/>
              </a:rPr>
              <a:t>. In ATTAPL, MIT Press, 2005.　—— 以约束求解重构 HM(X)，进阶首选。</a:t>
            </a:r>
            <a:endParaRPr lang="en-US" sz="1300" noProof="1"/>
          </a:p>
        </p:txBody>
      </p:sp>
      <p:sp>
        <p:nvSpPr>
          <p:cNvPr id="13" name="foot-line"/>
          <p:cNvSpPr/>
          <p:nvPr/>
        </p:nvSpPr>
        <p:spPr>
          <a:xfrm>
            <a:off x="609600" y="6324600"/>
            <a:ext cx="10972800" cy="12700"/>
          </a:xfrm>
          <a:prstGeom prst="rect">
            <a:avLst/>
          </a:prstGeom>
          <a:solidFill>
            <a:srgbClr val="D3CBB8"/>
          </a:solidFill>
          <a:ln>
            <a:noFill/>
          </a:ln>
        </p:spPr>
      </p:sp>
      <p:sp>
        <p:nvSpPr>
          <p:cNvPr id="14" name="foot-left"/>
          <p:cNvSpPr txBox="1"/>
          <p:nvPr/>
        </p:nvSpPr>
        <p:spPr>
          <a:xfrm>
            <a:off x="6096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15" name="foot-right"/>
          <p:cNvSpPr txBox="1"/>
          <p:nvPr/>
        </p:nvSpPr>
        <p:spPr>
          <a:xfrm>
            <a:off x="9042400" y="64516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B6E62"/>
                </a:solidFill>
                <a:latin typeface="MiSans"/>
                <a:ea typeface="MiSans"/>
              </a:rPr>
              <a:t>36 / 37</a:t>
            </a:r>
            <a:endParaRPr lang="en-US" sz="1200" noProof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tag"/>
          <p:cNvSpPr txBox="1"/>
          <p:nvPr/>
        </p:nvSpPr>
        <p:spPr>
          <a:xfrm>
            <a:off x="609600" y="2133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kern="0" spc="200" noProof="1">
                <a:solidFill>
                  <a:srgbClr val="93C7AE"/>
                </a:solidFill>
                <a:latin typeface="MiSans"/>
                <a:ea typeface="MiSans"/>
              </a:rPr>
              <a:t>本讲结束</a:t>
            </a:r>
            <a:endParaRPr lang="en-US" sz="1200" noProof="1"/>
          </a:p>
        </p:txBody>
      </p:sp>
      <p:sp>
        <p:nvSpPr>
          <p:cNvPr id="3" name="end-title"/>
          <p:cNvSpPr txBox="1"/>
          <p:nvPr/>
        </p:nvSpPr>
        <p:spPr>
          <a:xfrm>
            <a:off x="609600" y="246380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 noProof="1">
                <a:solidFill>
                  <a:srgbClr val="F6F1E7"/>
                </a:solidFill>
                <a:latin typeface="思源宋体"/>
                <a:ea typeface="思源宋体"/>
              </a:rPr>
              <a:t>类型是推导出来的，不是标注出来的</a:t>
            </a:r>
            <a:endParaRPr lang="en-US" sz="3400" noProof="1"/>
          </a:p>
        </p:txBody>
      </p:sp>
      <p:sp>
        <p:nvSpPr>
          <p:cNvPr id="4" name="end-accent"/>
          <p:cNvSpPr/>
          <p:nvPr/>
        </p:nvSpPr>
        <p:spPr>
          <a:xfrm>
            <a:off x="609600" y="3251200"/>
            <a:ext cx="914400" cy="38100"/>
          </a:xfrm>
          <a:prstGeom prst="rect">
            <a:avLst/>
          </a:prstGeom>
          <a:solidFill>
            <a:srgbClr val="B85C28"/>
          </a:solidFill>
          <a:ln>
            <a:noFill/>
          </a:ln>
        </p:spPr>
      </p:sp>
      <p:sp>
        <p:nvSpPr>
          <p:cNvPr id="6" name="end-line"/>
          <p:cNvSpPr/>
          <p:nvPr/>
        </p:nvSpPr>
        <p:spPr>
          <a:xfrm>
            <a:off x="609600" y="5969000"/>
            <a:ext cx="10972800" cy="12700"/>
          </a:xfrm>
          <a:prstGeom prst="rect">
            <a:avLst/>
          </a:prstGeom>
          <a:solidFill>
            <a:srgbClr val="2E5B49"/>
          </a:solidFill>
          <a:ln>
            <a:noFill/>
          </a:ln>
        </p:spPr>
      </p:sp>
      <p:sp>
        <p:nvSpPr>
          <p:cNvPr id="7" name="end-left"/>
          <p:cNvSpPr txBox="1"/>
          <p:nvPr/>
        </p:nvSpPr>
        <p:spPr>
          <a:xfrm>
            <a:off x="609600" y="61214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93C7AE"/>
                </a:solidFill>
                <a:latin typeface="MiSans"/>
                <a:ea typeface="MiSans"/>
              </a:rPr>
              <a:t>Hindley–Milner 类型系统 · 教学课件</a:t>
            </a:r>
            <a:endParaRPr lang="en-US" sz="1200" noProof="1"/>
          </a:p>
        </p:txBody>
      </p:sp>
      <p:sp>
        <p:nvSpPr>
          <p:cNvPr id="8" name="end-right"/>
          <p:cNvSpPr txBox="1"/>
          <p:nvPr/>
        </p:nvSpPr>
        <p:spPr>
          <a:xfrm>
            <a:off x="9042400" y="61214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93C7AE"/>
                </a:solidFill>
                <a:latin typeface="MiSans"/>
                <a:ea typeface="MiSans"/>
              </a:rPr>
              <a:t>37 / 37</a:t>
            </a:r>
            <a:endParaRPr lang="en-US" sz="12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6964</Words>
  <Application>Microsoft Office PowerPoint</Application>
  <PresentationFormat>宽屏</PresentationFormat>
  <Paragraphs>780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3" baseType="lpstr">
      <vt:lpstr>MiSans</vt:lpstr>
      <vt:lpstr>Times New Roman</vt:lpstr>
      <vt:lpstr>思源宋体</vt:lpstr>
      <vt:lpstr>Roboto Mono</vt:lpstr>
      <vt:lpstr>Cambria Math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Hindley–Milner 类型系统教学课件</dc:title>
  <cp:lastModifiedBy>新宇 冯</cp:lastModifiedBy>
  <cp:revision>2</cp:revision>
  <dcterms:modified xsi:type="dcterms:W3CDTF">2026-10-10T05:49:28Z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