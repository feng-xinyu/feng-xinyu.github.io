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9" r:id="rId4"/>
    <p:sldId id="268" r:id="rId5"/>
    <p:sldId id="270" r:id="rId6"/>
    <p:sldId id="269" r:id="rId7"/>
    <p:sldId id="258" r:id="rId8"/>
    <p:sldId id="364" r:id="rId9"/>
    <p:sldId id="365" r:id="rId10"/>
    <p:sldId id="379" r:id="rId11"/>
    <p:sldId id="367" r:id="rId12"/>
    <p:sldId id="369" r:id="rId13"/>
    <p:sldId id="370" r:id="rId14"/>
    <p:sldId id="373" r:id="rId15"/>
    <p:sldId id="374" r:id="rId16"/>
    <p:sldId id="383" r:id="rId17"/>
    <p:sldId id="375" r:id="rId18"/>
    <p:sldId id="372" r:id="rId19"/>
    <p:sldId id="376" r:id="rId20"/>
    <p:sldId id="36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97" d="100"/>
          <a:sy n="97" d="100"/>
        </p:scale>
        <p:origin x="60" y="2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65210-DEFD-AFFF-7626-52245DAB8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252B66-7831-0CB9-FF05-ADECF4E69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AE917A-F802-367A-9043-733227937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F5F40-DB7C-484C-8F29-2A8C0C79223F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23EE99-9FD4-B4FF-1C9B-2BF051CC4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824AB8-6B7C-53E7-D5AC-F83FB2D4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1E57-DC58-4533-973B-DCCE3C615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80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07D1B-9E3B-3613-E5E5-3D359EE7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D89F4D-8AF4-7C94-7BDE-8797F45FD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32335C-BF00-9451-CFD0-EC1408E4A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F5F40-DB7C-484C-8F29-2A8C0C79223F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93C91-C3E1-E258-806B-E4F522F74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214887-A9EE-AE2A-5347-79890F6D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1E57-DC58-4533-973B-DCCE3C615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519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4B927-3029-B2CE-1515-A715C5D98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EC2E67-0495-5C73-5933-24CEF16D9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A2DA7B-AF7D-249E-7C01-F9F5D9D2F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F5F40-DB7C-484C-8F29-2A8C0C79223F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8289F5-90DC-B9CB-3547-3053B6706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768B0C-9102-0949-335E-8E46F469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1E57-DC58-4533-973B-DCCE3C615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535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67A74-58C9-B870-4908-58C9E3DE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182BB2-3221-A8D2-C9DA-42B5E3EFD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AF6572-884E-B447-32B9-D8F840912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7C3081-5CC3-5ECA-D26C-F47DCB594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F5F40-DB7C-484C-8F29-2A8C0C79223F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DEC9E1-7E8B-00B9-935F-8AA5EC2E4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2D3577-14CB-EEB9-A5C0-68788FBC8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1E57-DC58-4533-973B-DCCE3C615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481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2265E-B39C-32D9-1D84-7A82C77FC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3279C1-1BF3-BD9A-D538-91C488719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C61427-64C2-A8C0-B705-DA84A98A9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FBB840-AE0D-5D70-84D1-E7E1A9218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F395B4-DCC7-EC07-3D6D-A552A4CEA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9D2FE7-5FA9-E62C-2A37-D2E5CF161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F5F40-DB7C-484C-8F29-2A8C0C79223F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03EE94-4550-E722-873A-D0FE8E369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89D1BE-9376-7574-3664-6E8E0CBD3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1E57-DC58-4533-973B-DCCE3C615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347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1B5A9-0EC8-E3F6-3E7C-4AB5CC8D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048556-D978-CF26-4D76-EF4314B5F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F5F40-DB7C-484C-8F29-2A8C0C79223F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E5965F-FEEC-85B4-E116-499D1D231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56C741-9D1A-2183-4393-093ABE2B7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1E57-DC58-4533-973B-DCCE3C615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93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EA6E97-7F66-86D8-9CF2-8B037FDA3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F5F40-DB7C-484C-8F29-2A8C0C79223F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1A8026-3E4F-2D38-5E52-F63AD548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E70209-1741-F625-645C-A587244E1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1E57-DC58-4533-973B-DCCE3C615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02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E6E21-C957-EE58-C65E-EEB0842C4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06A50A-BAC1-BDCC-7B28-89DF51EE4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493632-91D2-7F27-87F2-6EFE509A5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36FC2F-4E57-BDA9-0449-4BDC710D7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F5F40-DB7C-484C-8F29-2A8C0C79223F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DEE5BB-7483-8503-EDFD-A84266186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CE1D65-0E49-6C86-F2A6-F6FE60E9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1E57-DC58-4533-973B-DCCE3C615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241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D9AE5-46C3-E25B-BBBD-771515A88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A45B69-B793-5A9E-9034-B2019A5915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4EB821-6F21-72EC-2127-AE0D8ECB3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DE2C22-70A3-C8EE-B452-3424DA8F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F5F40-DB7C-484C-8F29-2A8C0C79223F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B97F02-2A6F-36DD-6255-DA8ECC39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936492-FA83-049E-A9BE-4B2211C97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1E57-DC58-4533-973B-DCCE3C615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753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C1555-D9A3-38C7-22F3-2D531CA5D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E10433-138E-2528-75A8-A102AFB26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CD4DA3-C9BA-BF4A-983D-2B087A9D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F5F40-DB7C-484C-8F29-2A8C0C79223F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A3D9B4-A11C-DBA9-737E-B61CE3039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818718-94EB-8B94-AB8D-835DB4E3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1E57-DC58-4533-973B-DCCE3C615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83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515C99-8511-515C-0A94-0F70A14D2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42C6C4-AF61-4117-1183-77ECFC1A4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C8AE6-E2CA-1E1A-BF1A-3A5A1115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F5F40-DB7C-484C-8F29-2A8C0C79223F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13846C-AFA6-EACC-B549-17774F45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444074-39A1-2222-C7E2-C1697018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BB1E57-DC58-4533-973B-DCCE3C615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4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8D4C4-1CC3-4011-9D5C-4780F91C9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13D392-9E92-4D3E-A6C4-B42AAA72A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8BFB56-3C63-4093-9C4F-96429388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687EDF-1429-4671-93E6-75307FFF6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43C760-5085-4F13-AE22-FE4A9B035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223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D06AD-F579-48D3-ACF4-DA7618B6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C4CB24-8994-46A5-BE56-555DA764A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B263B9-A60F-4F58-A47B-205506B8F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F2D95B-31FA-4814-A58F-68C0DEFC8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E08271-DDC4-4317-AEF1-0D24E5964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1475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2F0F1-F87F-4A0E-96C8-8CBDCCDAE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13D6F0-C9BB-47C2-94C7-F34F1CB69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18D731-EC65-4441-B3DE-7D57B532C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D6F04E-19D5-4D2A-B028-B4F4033E3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E2CE13-2BE1-4DFE-97B5-672EB612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687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9DEB0-3F74-4823-9F99-F70FC7B0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5DDE4C-D731-4B1A-A9E3-F75023F76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88D9F5-B710-4AC6-93F4-FB43F789E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87E46D-CD7A-47FF-8FA7-A40FC438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3C26D2-1369-4F7A-B740-DD12E7D6E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3FB6F2-72DA-443F-B178-D7EBC2E0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51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75CF7-7D3E-4088-867D-86FB25551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2BDFDF-1C91-4191-B08F-243CF8051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0C4B91-9493-4071-865D-77EEBE641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286326-B4D3-43D0-9A68-6A3B227DF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98D4F9-71ED-4BE4-A015-43729A198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0C6A61-77B7-480E-B041-B6653CF6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7BB2BC-6F4D-45C1-B707-5D87270FD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286B610-0DEF-4AF1-9B5C-A6DBC630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0338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EF005-BBE8-45BB-82BD-08400E7BA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C0570F-A802-49F9-AFA0-E22028794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BA1A57-8D91-4D41-8730-6A97844CA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2488B8-4A44-421B-B504-9B097634B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2817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EDEC97-D652-4FBC-B764-F699F70A0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DD096B-8823-49AE-B29D-EEB25E29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E296C0-0EAE-45DB-9361-EEA1AD349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5322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08F84-6E21-4FCB-8BC8-EF9842C0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9CB7AC-86BB-4F4D-A442-B2F48096F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0E4D2C-2FEC-4AF2-B730-9E16672D8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D1E015-6639-4431-822B-7F476490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E8C855-868B-4669-BEB3-EF2C3A83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140210-E2C5-45CC-BA14-8992A092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170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79F6E-DC6E-4E3E-A94F-B8A44910A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06543B-2D50-4281-A295-61A89A670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8EB4A7-CF58-4F74-9CAD-C5F857268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80D510-8BD0-47CD-89E6-43FD7240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EE2368-3A51-4A6E-91BC-8117AC113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87C15D-F0F5-4C2C-B314-2F82B675A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7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E46BA-C147-42C1-8740-D90F18D1E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2301BE-3C9C-42BB-A591-C1E526EDA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B8195-EC3F-49A4-809A-8468A02DE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1AB8DC-3C53-42D0-A5F8-3088E9498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D7BABD-2317-4272-9BF4-244B1129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828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553CDF-28D4-485B-8E06-4A2CE95F9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0FB04E-3BD0-46AE-9E15-C335A70E7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961C63-D84D-4E4E-A11D-A8B45D4D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A713-BE76-40FE-96E9-B40E18C20DB2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E580E0-DA98-4004-B748-F2C50F8F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C41816-A5C1-4B17-A73F-FD59397FF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06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BD2CC7-351A-6E36-CF0B-BCE10603E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279400-4086-1A0F-89B0-1AC4C3DD7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915BA5-3906-2885-E822-7C83294E4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F5F40-DB7C-484C-8F29-2A8C0C79223F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254658-84A6-11B7-8888-48DE4D910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0D5BF4-5BB3-556A-3E6E-A695D7B39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B1E57-DC58-4533-973B-DCCE3C6154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82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E5732A-AAF2-4760-A926-A2E87E681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C6CCB4-4539-4579-B716-F8C632BB0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341426-C556-4628-B0FE-00A52B16B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3A713-BE76-40FE-96E9-B40E18C20DB2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13415C-0C6E-4C5E-A175-E60B80AEE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C30D32-9BD6-4833-BECB-42318CA73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0453C-ED34-4B84-8A17-E699F5BE5F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35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14D1FA-853F-4216-4669-D77C4A4350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类型和类型系统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2A0418-C86A-C899-4413-C7FB04F5E1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冯新宇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DA5391-AD9C-2B1C-0970-ADDD743F5541}"/>
              </a:ext>
            </a:extLst>
          </p:cNvPr>
          <p:cNvSpPr txBox="1"/>
          <p:nvPr/>
        </p:nvSpPr>
        <p:spPr>
          <a:xfrm>
            <a:off x="10233061" y="6226139"/>
            <a:ext cx="1474341" cy="36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2025/09/17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4831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0E2F4-D99A-4C62-8221-AF0F25AE4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为什么要类型系统？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E9960A-77B5-42C3-A9AD-1BEADFDDF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790" y="293205"/>
            <a:ext cx="4043569" cy="404356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BFCFF95-B1A0-48A2-9C72-721B53AF6E40}"/>
              </a:ext>
            </a:extLst>
          </p:cNvPr>
          <p:cNvSpPr txBox="1"/>
          <p:nvPr/>
        </p:nvSpPr>
        <p:spPr>
          <a:xfrm>
            <a:off x="1576180" y="1987826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类型的概念天然存在，无法回避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04BBF0-CF9D-42F7-916C-C24940FA1F67}"/>
              </a:ext>
            </a:extLst>
          </p:cNvPr>
          <p:cNvSpPr txBox="1"/>
          <p:nvPr/>
        </p:nvSpPr>
        <p:spPr>
          <a:xfrm>
            <a:off x="1576180" y="2699749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在编程中的体现：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9CB9398-C0FD-4369-9CAB-3D1310BAD156}"/>
              </a:ext>
            </a:extLst>
          </p:cNvPr>
          <p:cNvGrpSpPr/>
          <p:nvPr/>
        </p:nvGrpSpPr>
        <p:grpSpPr>
          <a:xfrm>
            <a:off x="4008909" y="3696587"/>
            <a:ext cx="2745335" cy="1788695"/>
            <a:chOff x="5668219" y="1545491"/>
            <a:chExt cx="2745335" cy="1788695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FBBFF0E-1CC8-45C9-A2BF-81BAC4332AC9}"/>
                </a:ext>
              </a:extLst>
            </p:cNvPr>
            <p:cNvGrpSpPr/>
            <p:nvPr/>
          </p:nvGrpSpPr>
          <p:grpSpPr>
            <a:xfrm>
              <a:off x="5668219" y="1545491"/>
              <a:ext cx="2745335" cy="1788695"/>
              <a:chOff x="5668219" y="1545491"/>
              <a:chExt cx="2745335" cy="1788695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08DD66E-81DE-4C3A-BA83-4C8443E5E1E9}"/>
                  </a:ext>
                </a:extLst>
              </p:cNvPr>
              <p:cNvSpPr/>
              <p:nvPr/>
            </p:nvSpPr>
            <p:spPr>
              <a:xfrm>
                <a:off x="5668219" y="1545491"/>
                <a:ext cx="2392937" cy="178869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9031CE2-04D7-4A31-9BE8-D5C4D900AAFA}"/>
                  </a:ext>
                </a:extLst>
              </p:cNvPr>
              <p:cNvSpPr txBox="1"/>
              <p:nvPr/>
            </p:nvSpPr>
            <p:spPr>
              <a:xfrm>
                <a:off x="5756452" y="1582872"/>
                <a:ext cx="265710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Courier New" panose="02070309020205020404" pitchFamily="49" charset="0"/>
                  </a:rPr>
                  <a:t>int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Courier New" panose="02070309020205020404" pitchFamily="49" charset="0"/>
                  </a:rPr>
                  <a:t>*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Courier New" panose="02070309020205020404" pitchFamily="49" charset="0"/>
                  </a:rPr>
                  <a:t> x, y, z;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Courier New" panose="02070309020205020404" pitchFamily="49" charset="0"/>
                  </a:rPr>
                  <a:t>int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Courier New" panose="02070309020205020404" pitchFamily="49" charset="0"/>
                  </a:rPr>
                  <a:t> o = 4;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Courier New" panose="02070309020205020404" pitchFamily="49" charset="0"/>
                  </a:rPr>
                  <a:t>…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Courier New" panose="02070309020205020404" pitchFamily="49" charset="0"/>
                  </a:rPr>
                  <a:t>z = x + y;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黑体" panose="02010609060101010101" pitchFamily="49" charset="-122"/>
                    <a:cs typeface="Courier New" panose="02070309020205020404" pitchFamily="49" charset="0"/>
                  </a:rPr>
                  <a:t>z = o + “123”;</a:t>
                </a: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9983263-B63F-4314-88E3-90FAD87D57DF}"/>
                </a:ext>
              </a:extLst>
            </p:cNvPr>
            <p:cNvSpPr txBox="1"/>
            <p:nvPr/>
          </p:nvSpPr>
          <p:spPr>
            <a:xfrm>
              <a:off x="7390152" y="2462729"/>
              <a:ext cx="4420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  <a:sym typeface="Wingdings 2" panose="05020102010507070707" pitchFamily="18" charset="2"/>
                </a:rPr>
                <a:t>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3736C594-5308-4355-BC89-A372ACACD581}"/>
              </a:ext>
            </a:extLst>
          </p:cNvPr>
          <p:cNvSpPr txBox="1"/>
          <p:nvPr/>
        </p:nvSpPr>
        <p:spPr>
          <a:xfrm>
            <a:off x="6224457" y="4887853"/>
            <a:ext cx="442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  <a:sym typeface="Wingdings 2" panose="05020102010507070707" pitchFamily="18" charset="2"/>
              </a:rPr>
              <a:t>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9471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B981A-EEFA-4B03-B5D4-C97A0C17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类型系统在编程语言中的作用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25824-854E-4274-9F82-303CFF27C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407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提供一组约束，避免出错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提升可靠性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约束开发者的自由度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让程序更好读、更易维护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类型信息让我们更容易预判程序行为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让编译器做更多优化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更多的约束让开发者遵循更固定的模式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类型给编译器提供了更多信息，指导优化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2895C0-C227-4EDC-8E3C-64D41A0A2197}"/>
              </a:ext>
            </a:extLst>
          </p:cNvPr>
          <p:cNvSpPr txBox="1"/>
          <p:nvPr/>
        </p:nvSpPr>
        <p:spPr>
          <a:xfrm>
            <a:off x="6450495" y="3359426"/>
            <a:ext cx="5575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map: (A -&gt; B) -&gt; List&lt;A&gt; -&gt; List&lt;B&gt;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B8048E-FAE7-42CD-B0B2-C8CF086E7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664" y="3956027"/>
            <a:ext cx="4071488" cy="229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902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BA3ABD-86C8-4D71-BF19-B7B79CC6F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399019"/>
            <a:ext cx="5157787" cy="823912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动态类型语言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E97C12-33F5-4778-A3CE-84BB8A0DF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391893"/>
            <a:ext cx="5157787" cy="511823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代表性语言：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Python, JavaScript, Lua, Ruby, PHP, Pearl, …</a:t>
            </a:r>
          </a:p>
          <a:p>
            <a:pPr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变量的类型可以在运行中变化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类型检查在运行中进行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解释执行为主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约束少、表达能力强、易学易用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可靠性差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难以支持大规模软件开发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7B26CE-4D9C-49DF-B4A9-C4CA5E0DA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399019"/>
            <a:ext cx="5183188" cy="823912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静态类型语言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DB7CE6-A63C-4D8C-8DF2-7804F150B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391893"/>
            <a:ext cx="5183188" cy="511823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代表性语言：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Java, C#, Go, Swift, Scala, Rust … </a:t>
            </a:r>
          </a:p>
          <a:p>
            <a:pPr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变量的类型在编译期确定，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运行中不发生变化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类型检查在编译期完成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虚拟机或静态编译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性能好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可靠性好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易维护，支持大规模软件开发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约束多，有一定学习门槛</a:t>
            </a: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234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B981A-EEFA-4B03-B5D4-C97A0C17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动态类型语言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vs.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静态类型语言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900697B-E093-40B4-ADB2-B3F82A2C86CC}"/>
              </a:ext>
            </a:extLst>
          </p:cNvPr>
          <p:cNvGrpSpPr/>
          <p:nvPr/>
        </p:nvGrpSpPr>
        <p:grpSpPr>
          <a:xfrm>
            <a:off x="2795504" y="2378112"/>
            <a:ext cx="3562488" cy="3162300"/>
            <a:chOff x="8048393" y="1419225"/>
            <a:chExt cx="3562488" cy="31623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D955CD8-B10A-44F7-B67F-ED6413A02C3D}"/>
                </a:ext>
              </a:extLst>
            </p:cNvPr>
            <p:cNvSpPr/>
            <p:nvPr/>
          </p:nvSpPr>
          <p:spPr>
            <a:xfrm>
              <a:off x="8048393" y="1419225"/>
              <a:ext cx="3393640" cy="31623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847499A-4A49-4659-92FC-E2073C7730DF}"/>
                </a:ext>
              </a:extLst>
            </p:cNvPr>
            <p:cNvSpPr txBox="1"/>
            <p:nvPr/>
          </p:nvSpPr>
          <p:spPr>
            <a:xfrm>
              <a:off x="8221050" y="1550788"/>
              <a:ext cx="3389831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if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(x &gt; 0)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y = “hello”;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else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y = 3;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if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(x &gt; 0)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z = y + “world”;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else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等线" panose="02010600030101010101" pitchFamily="2" charset="-122"/>
                  <a:cs typeface="Courier New" panose="02070309020205020404" pitchFamily="49" charset="0"/>
                </a:rPr>
                <a:t>  z = y + 4;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A1E73B1-E3D7-458E-9E11-1DE9FABDD42B}"/>
              </a:ext>
            </a:extLst>
          </p:cNvPr>
          <p:cNvSpPr txBox="1"/>
          <p:nvPr/>
        </p:nvSpPr>
        <p:spPr>
          <a:xfrm>
            <a:off x="7354957" y="2584174"/>
            <a:ext cx="3160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动态类型：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OK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3C3523-57AB-4F73-8FB5-626229289E6E}"/>
              </a:ext>
            </a:extLst>
          </p:cNvPr>
          <p:cNvSpPr txBox="1"/>
          <p:nvPr/>
        </p:nvSpPr>
        <p:spPr>
          <a:xfrm>
            <a:off x="7354957" y="3298782"/>
            <a:ext cx="3160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静态类型：报错</a:t>
            </a:r>
          </a:p>
        </p:txBody>
      </p:sp>
    </p:spTree>
    <p:extLst>
      <p:ext uri="{BB962C8B-B14F-4D97-AF65-F5344CB8AC3E}">
        <p14:creationId xmlns:p14="http://schemas.microsoft.com/office/powerpoint/2010/main" val="670305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FAA5832-B142-4E89-B4F7-33D30F8F80ED}"/>
              </a:ext>
            </a:extLst>
          </p:cNvPr>
          <p:cNvGrpSpPr/>
          <p:nvPr/>
        </p:nvGrpSpPr>
        <p:grpSpPr>
          <a:xfrm>
            <a:off x="5712437" y="1376613"/>
            <a:ext cx="6084928" cy="4104774"/>
            <a:chOff x="5933661" y="2326105"/>
            <a:chExt cx="6084928" cy="4104774"/>
          </a:xfrm>
        </p:grpSpPr>
        <p:pic>
          <p:nvPicPr>
            <p:cNvPr id="1026" name="Picture 2" descr="无脸日&quot;上班不再看脸色">
              <a:extLst>
                <a:ext uri="{FF2B5EF4-FFF2-40B4-BE49-F238E27FC236}">
                  <a16:creationId xmlns:a16="http://schemas.microsoft.com/office/drawing/2014/main" id="{0B270CE3-FEE8-444E-986E-1C98DDD7CA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5658" y="2413261"/>
              <a:ext cx="6052931" cy="391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D506D82-8E25-42F6-8AA9-4B70839C20C9}"/>
                </a:ext>
              </a:extLst>
            </p:cNvPr>
            <p:cNvSpPr/>
            <p:nvPr/>
          </p:nvSpPr>
          <p:spPr>
            <a:xfrm>
              <a:off x="5933661" y="2326105"/>
              <a:ext cx="2594113" cy="4104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95462E3-165D-408C-AF00-13DA677F1200}"/>
              </a:ext>
            </a:extLst>
          </p:cNvPr>
          <p:cNvGrpSpPr/>
          <p:nvPr/>
        </p:nvGrpSpPr>
        <p:grpSpPr>
          <a:xfrm>
            <a:off x="1013791" y="1793707"/>
            <a:ext cx="4721087" cy="5084650"/>
            <a:chOff x="934278" y="427121"/>
            <a:chExt cx="6052931" cy="594961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24F8545-D208-4E7D-9A55-996332EC2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8858" y="427121"/>
              <a:ext cx="5715000" cy="5715000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54EC64D-0DD4-41BB-B603-4D24BEB1836C}"/>
                </a:ext>
              </a:extLst>
            </p:cNvPr>
            <p:cNvSpPr/>
            <p:nvPr/>
          </p:nvSpPr>
          <p:spPr>
            <a:xfrm>
              <a:off x="934278" y="4531895"/>
              <a:ext cx="6052931" cy="18448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6553D50F-E9D8-4056-985D-3140BD54CC15}"/>
              </a:ext>
            </a:extLst>
          </p:cNvPr>
          <p:cNvSpPr txBox="1"/>
          <p:nvPr/>
        </p:nvSpPr>
        <p:spPr>
          <a:xfrm>
            <a:off x="1411356" y="5868750"/>
            <a:ext cx="1679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静态类型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F99CC4-9795-488B-BA9A-E8F0676E4F38}"/>
              </a:ext>
            </a:extLst>
          </p:cNvPr>
          <p:cNvSpPr txBox="1"/>
          <p:nvPr/>
        </p:nvSpPr>
        <p:spPr>
          <a:xfrm>
            <a:off x="8580782" y="5868750"/>
            <a:ext cx="1679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动态类型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3E38E9-893E-46BE-BBF7-CB81E7F74370}"/>
              </a:ext>
            </a:extLst>
          </p:cNvPr>
          <p:cNvSpPr txBox="1"/>
          <p:nvPr/>
        </p:nvSpPr>
        <p:spPr>
          <a:xfrm>
            <a:off x="586408" y="706012"/>
            <a:ext cx="8709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假如你是会议组织者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主持者，要与参会人积极互动。。。</a:t>
            </a:r>
          </a:p>
        </p:txBody>
      </p:sp>
    </p:spTree>
    <p:extLst>
      <p:ext uri="{BB962C8B-B14F-4D97-AF65-F5344CB8AC3E}">
        <p14:creationId xmlns:p14="http://schemas.microsoft.com/office/powerpoint/2010/main" val="2215482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52394-59BF-457C-8213-36BDA446E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类型系统和类型检查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8619E2-8D79-4340-BE1B-8558288F2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8671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类型系统：一组类型定义和类型检查规则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0F9F8A-51CC-470C-98FE-E75A173D71EA}"/>
              </a:ext>
            </a:extLst>
          </p:cNvPr>
          <p:cNvSpPr txBox="1"/>
          <p:nvPr/>
        </p:nvSpPr>
        <p:spPr>
          <a:xfrm>
            <a:off x="1013792" y="2474842"/>
            <a:ext cx="4542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bool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类型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D23E77-5CBC-4FC5-A3C8-80285DC656E1}"/>
              </a:ext>
            </a:extLst>
          </p:cNvPr>
          <p:cNvSpPr txBox="1"/>
          <p:nvPr/>
        </p:nvSpPr>
        <p:spPr>
          <a:xfrm>
            <a:off x="1013792" y="3050710"/>
            <a:ext cx="9163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每种类型都有相应的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Introduction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Elimination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101C845-C80A-485E-8F0C-4A937BBAB06F}"/>
                  </a:ext>
                </a:extLst>
              </p:cNvPr>
              <p:cNvSpPr txBox="1"/>
              <p:nvPr/>
            </p:nvSpPr>
            <p:spPr>
              <a:xfrm>
                <a:off x="992346" y="4293705"/>
                <a:ext cx="1824153" cy="7257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/>
                        <m:den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  <a:sym typeface="Symbol" panose="05050102010706020507" pitchFamily="18" charset="2"/>
                            </a:rPr>
                            <m:t>true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bool</m:t>
                          </m:r>
                          <m:r>
                            <a:rPr kumimoji="0" lang="zh-CN" altLang="en-US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101C845-C80A-485E-8F0C-4A937BBAB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346" y="4293705"/>
                <a:ext cx="1824153" cy="7257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C1E2076-1733-4ABE-8C28-0DC5430949E6}"/>
                  </a:ext>
                </a:extLst>
              </p:cNvPr>
              <p:cNvSpPr txBox="1"/>
              <p:nvPr/>
            </p:nvSpPr>
            <p:spPr>
              <a:xfrm>
                <a:off x="3284883" y="4293705"/>
                <a:ext cx="1883464" cy="7257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/>
                        <m:den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  <a:sym typeface="Symbol" panose="05050102010706020507" pitchFamily="18" charset="2"/>
                            </a:rPr>
                            <m:t>false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bool</m:t>
                          </m:r>
                          <m:r>
                            <a:rPr kumimoji="0" lang="zh-CN" altLang="en-US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C1E2076-1733-4ABE-8C28-0DC543094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883" y="4293705"/>
                <a:ext cx="1883464" cy="7257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4471693-FE5E-4DB6-95F3-5A7862E4D8BD}"/>
                  </a:ext>
                </a:extLst>
              </p:cNvPr>
              <p:cNvSpPr txBox="1"/>
              <p:nvPr/>
            </p:nvSpPr>
            <p:spPr>
              <a:xfrm>
                <a:off x="992346" y="5724108"/>
                <a:ext cx="3964547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𝑏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bool</m:t>
                          </m:r>
                          <m: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   ⊢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T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     </m:t>
                          </m:r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T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if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𝑏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then</m:t>
                          </m:r>
                          <m:r>
                            <a:rPr kumimoji="0" lang="en-US" altLang="zh-CN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else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2 : 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T</m:t>
                          </m:r>
                          <m:r>
                            <a:rPr kumimoji="0" lang="zh-CN" altLang="en-US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64471693-FE5E-4DB6-95F3-5A7862E4D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346" y="5724108"/>
                <a:ext cx="3964547" cy="7014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573E66BC-4D83-4A48-BF26-B7689ED11940}"/>
              </a:ext>
            </a:extLst>
          </p:cNvPr>
          <p:cNvSpPr txBox="1"/>
          <p:nvPr/>
        </p:nvSpPr>
        <p:spPr>
          <a:xfrm>
            <a:off x="614549" y="3789121"/>
            <a:ext cx="2670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Introduction rules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6995022-CC48-4644-B6F6-B95EC64EA389}"/>
              </a:ext>
            </a:extLst>
          </p:cNvPr>
          <p:cNvSpPr txBox="1"/>
          <p:nvPr/>
        </p:nvSpPr>
        <p:spPr>
          <a:xfrm>
            <a:off x="614549" y="5214001"/>
            <a:ext cx="3458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Elimination rules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对话气泡: 圆角矩形 34">
            <a:extLst>
              <a:ext uri="{FF2B5EF4-FFF2-40B4-BE49-F238E27FC236}">
                <a16:creationId xmlns:a16="http://schemas.microsoft.com/office/drawing/2014/main" id="{2754BA95-E421-46EB-8B3B-6441A335BAE0}"/>
              </a:ext>
            </a:extLst>
          </p:cNvPr>
          <p:cNvSpPr/>
          <p:nvPr/>
        </p:nvSpPr>
        <p:spPr>
          <a:xfrm>
            <a:off x="6313824" y="5214001"/>
            <a:ext cx="2881871" cy="558995"/>
          </a:xfrm>
          <a:prstGeom prst="wedgeRoundRectCallout">
            <a:avLst>
              <a:gd name="adj1" fmla="val -96839"/>
              <a:gd name="adj2" fmla="val 7842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左右分支类型必须相同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82FE3A8-F5AD-4213-A6D4-FB818C661B59}"/>
                  </a:ext>
                </a:extLst>
              </p:cNvPr>
              <p:cNvSpPr txBox="1"/>
              <p:nvPr/>
            </p:nvSpPr>
            <p:spPr>
              <a:xfrm>
                <a:off x="5717723" y="4290470"/>
                <a:ext cx="3610347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1 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bool</m:t>
                          </m:r>
                          <m: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      </m:t>
                          </m:r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1 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bool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and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2: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bool</m:t>
                          </m:r>
                          <m:r>
                            <a:rPr kumimoji="0" lang="zh-CN" altLang="en-US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82FE3A8-F5AD-4213-A6D4-FB818C661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723" y="4290470"/>
                <a:ext cx="3610347" cy="7014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799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AAFFB-A49C-4C80-8D64-656E304B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类型检查规则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C033ED3-2CB9-4713-81BB-CE1553761B3F}"/>
                  </a:ext>
                </a:extLst>
              </p:cNvPr>
              <p:cNvSpPr txBox="1"/>
              <p:nvPr/>
            </p:nvSpPr>
            <p:spPr>
              <a:xfrm>
                <a:off x="1002285" y="1647892"/>
                <a:ext cx="1824153" cy="7257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/>
                        <m:den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  <a:sym typeface="Symbol" panose="05050102010706020507" pitchFamily="18" charset="2"/>
                            </a:rPr>
                            <m:t>true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bool</m:t>
                          </m:r>
                          <m:r>
                            <a:rPr kumimoji="0" lang="zh-CN" altLang="en-US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C033ED3-2CB9-4713-81BB-CE1553761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285" y="1647892"/>
                <a:ext cx="1824153" cy="7257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0E5A4F7-65E5-4612-B4F4-04F412F9D190}"/>
                  </a:ext>
                </a:extLst>
              </p:cNvPr>
              <p:cNvSpPr txBox="1"/>
              <p:nvPr/>
            </p:nvSpPr>
            <p:spPr>
              <a:xfrm>
                <a:off x="3294822" y="1647892"/>
                <a:ext cx="1883464" cy="7257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/>
                        <m:den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+mn-cs"/>
                              <a:sym typeface="Symbol" panose="05050102010706020507" pitchFamily="18" charset="2"/>
                            </a:rPr>
                            <m:t>false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bool</m:t>
                          </m:r>
                          <m:r>
                            <a:rPr kumimoji="0" lang="zh-CN" altLang="en-US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0E5A4F7-65E5-4612-B4F4-04F412F9D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4822" y="1647892"/>
                <a:ext cx="1883464" cy="7257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07AA74E-BE3E-4316-A3DF-D06283FD492A}"/>
                  </a:ext>
                </a:extLst>
              </p:cNvPr>
              <p:cNvSpPr txBox="1"/>
              <p:nvPr/>
            </p:nvSpPr>
            <p:spPr>
              <a:xfrm>
                <a:off x="1002285" y="3078295"/>
                <a:ext cx="3964547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bool</m:t>
                          </m:r>
                          <m: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   ⊢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1:</m:t>
                          </m:r>
                          <m:r>
                            <m:rPr>
                              <m:sty m:val="p"/>
                            </m:rPr>
                            <a:rPr kumimoji="0" lang="el-GR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     </m:t>
                          </m:r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2:</m:t>
                          </m:r>
                          <m:r>
                            <m:rPr>
                              <m:sty m:val="p"/>
                            </m:rPr>
                            <a:rPr kumimoji="0" lang="el-GR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if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then</m:t>
                          </m:r>
                          <m:r>
                            <a:rPr kumimoji="0" lang="en-US" altLang="zh-CN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else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2 : </m:t>
                          </m:r>
                          <m:r>
                            <m:rPr>
                              <m:sty m:val="p"/>
                            </m:rPr>
                            <a:rPr kumimoji="0" lang="el-GR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  <m:r>
                            <a:rPr kumimoji="0" lang="zh-CN" altLang="en-US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07AA74E-BE3E-4316-A3DF-D06283FD4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285" y="3078295"/>
                <a:ext cx="3964547" cy="7014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A9342015-B7C4-47D2-B428-19D8A9FCA0E5}"/>
              </a:ext>
            </a:extLst>
          </p:cNvPr>
          <p:cNvSpPr txBox="1"/>
          <p:nvPr/>
        </p:nvSpPr>
        <p:spPr>
          <a:xfrm>
            <a:off x="888885" y="4445425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Judgment: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74A4EB1-1A46-4CF9-BA1E-88FF05DC556B}"/>
                  </a:ext>
                </a:extLst>
              </p:cNvPr>
              <p:cNvSpPr txBox="1"/>
              <p:nvPr/>
            </p:nvSpPr>
            <p:spPr>
              <a:xfrm>
                <a:off x="1914361" y="5025442"/>
                <a:ext cx="108149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⊢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e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 : 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</a:t>
                </a: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74A4EB1-1A46-4CF9-BA1E-88FF05DC5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361" y="5025442"/>
                <a:ext cx="1081490" cy="369332"/>
              </a:xfrm>
              <a:prstGeom prst="rect">
                <a:avLst/>
              </a:prstGeom>
              <a:blipFill>
                <a:blip r:embed="rId5"/>
                <a:stretch>
                  <a:fillRect l="-8475" t="-27869" b="-49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845B7CFA-C844-479C-AD90-9742D42EB0EE}"/>
              </a:ext>
            </a:extLst>
          </p:cNvPr>
          <p:cNvSpPr txBox="1"/>
          <p:nvPr/>
        </p:nvSpPr>
        <p:spPr>
          <a:xfrm>
            <a:off x="6096000" y="3198930"/>
            <a:ext cx="578457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check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Expr,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Typ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 : Bool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    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match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(e){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true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return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(T == </a:t>
            </a:r>
            <a:r>
              <a:rPr kumimoji="0" lang="en-US" altLang="zh-CN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bool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false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return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(T == </a:t>
            </a:r>
            <a:r>
              <a:rPr kumimoji="0" lang="en-US" altLang="zh-CN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bool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case </a:t>
            </a:r>
            <a:r>
              <a:rPr kumimoji="0" lang="en-US" altLang="zh-CN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e1 and e2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return</a:t>
            </a:r>
            <a:r>
              <a:rPr kumimoji="0" lang="en-US" altLang="zh-CN" sz="1800" b="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check(e1, </a:t>
            </a:r>
            <a:r>
              <a:rPr kumimoji="0" lang="en-US" altLang="zh-CN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bool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 &amp;&amp; check(e2, </a:t>
            </a:r>
            <a:r>
              <a:rPr kumimoji="0" lang="en-US" altLang="zh-CN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bool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case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 e then e1 else e2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return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check(e, </a:t>
            </a:r>
            <a:r>
              <a:rPr kumimoji="0" lang="en-US" altLang="zh-CN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bool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 </a:t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           &amp;&amp; check(e1, T) </a:t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           &amp;&amp; check(e2, 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CDA435E-C4E0-4792-A5B5-CD71C4020F42}"/>
                  </a:ext>
                </a:extLst>
              </p:cNvPr>
              <p:cNvSpPr txBox="1"/>
              <p:nvPr/>
            </p:nvSpPr>
            <p:spPr>
              <a:xfrm>
                <a:off x="6096000" y="1690688"/>
                <a:ext cx="3610347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1 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bool</m:t>
                          </m:r>
                          <m: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      </m:t>
                          </m:r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1 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bool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1 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and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2:</m:t>
                          </m:r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bool</m:t>
                          </m:r>
                          <m:r>
                            <a:rPr kumimoji="0" lang="zh-CN" altLang="en-US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CDA435E-C4E0-4792-A5B5-CD71C4020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690688"/>
                <a:ext cx="3610347" cy="7014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5064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EDEE0-263E-4C67-168F-E5E450BA7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类型的分类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基本类型和复合类型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418233-1C4F-A1E1-CF6C-B81E6DC52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基本类型：整数、浮点数、布尔等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复合类型</a:t>
            </a:r>
            <a:endParaRPr lang="en-US" altLang="zh-CN" dirty="0"/>
          </a:p>
          <a:p>
            <a:pPr lvl="1"/>
            <a:r>
              <a:rPr lang="zh-CN" altLang="en-US" dirty="0"/>
              <a:t>数组、</a:t>
            </a:r>
            <a:r>
              <a:rPr lang="en-US" altLang="zh-CN" dirty="0"/>
              <a:t>struct</a:t>
            </a:r>
            <a:r>
              <a:rPr lang="zh-CN" altLang="en-US" dirty="0"/>
              <a:t>、</a:t>
            </a:r>
            <a:r>
              <a:rPr lang="en-US" altLang="zh-CN" dirty="0"/>
              <a:t>class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r>
              <a:rPr lang="zh-CN" altLang="en-US" dirty="0"/>
              <a:t>积类型、和类型</a:t>
            </a:r>
          </a:p>
        </p:txBody>
      </p:sp>
    </p:spTree>
    <p:extLst>
      <p:ext uri="{BB962C8B-B14F-4D97-AF65-F5344CB8AC3E}">
        <p14:creationId xmlns:p14="http://schemas.microsoft.com/office/powerpoint/2010/main" val="3601536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AAFFB-A49C-4C80-8D64-656E304B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代数数据类型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积类型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CDA435E-C4E0-4792-A5B5-CD71C4020F42}"/>
                  </a:ext>
                </a:extLst>
              </p:cNvPr>
              <p:cNvSpPr txBox="1"/>
              <p:nvPr/>
            </p:nvSpPr>
            <p:spPr>
              <a:xfrm>
                <a:off x="971764" y="2453780"/>
                <a:ext cx="3020442" cy="7593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1 :</m:t>
                          </m:r>
                          <m:r>
                            <a:rPr kumimoji="0" lang="el-GR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      </m:t>
                          </m:r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2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:</m:t>
                          </m:r>
                          <m:r>
                            <a:rPr lang="el-GR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sz="2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𝑒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1,  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𝑒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  <a:sym typeface="Symbol" panose="05050102010706020507" pitchFamily="18" charset="2"/>
                                </a:rPr>
                                <m:t>2</m:t>
                              </m:r>
                            </m:e>
                          </m:d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:</m:t>
                          </m:r>
                          <m:r>
                            <a:rPr kumimoji="0" lang="el-GR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kumimoji="0" lang="zh-CN" altLang="el-GR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zh-CN" altLang="en-US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CDA435E-C4E0-4792-A5B5-CD71C4020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764" y="2453780"/>
                <a:ext cx="3020442" cy="7593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8FE3AED2-DEAE-E0D0-8F07-E25940A844DB}"/>
              </a:ext>
            </a:extLst>
          </p:cNvPr>
          <p:cNvSpPr txBox="1"/>
          <p:nvPr/>
        </p:nvSpPr>
        <p:spPr>
          <a:xfrm>
            <a:off x="349432" y="1751743"/>
            <a:ext cx="4828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pairs and tuples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C0025B6-5449-F5A1-F6D9-7EAD7BA156A4}"/>
                  </a:ext>
                </a:extLst>
              </p:cNvPr>
              <p:cNvSpPr txBox="1"/>
              <p:nvPr/>
            </p:nvSpPr>
            <p:spPr>
              <a:xfrm>
                <a:off x="4730393" y="2453779"/>
                <a:ext cx="1764137" cy="757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:</m:t>
                          </m:r>
                          <m:r>
                            <a:rPr lang="el-GR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lang="zh-CN" altLang="el-GR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m:rPr>
                              <m:nor/>
                            </m:rP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fst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 : </m:t>
                          </m:r>
                          <m:r>
                            <a:rPr kumimoji="0" lang="zh-CN" altLang="en-US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𝜏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</m:t>
                          </m:r>
                          <m:r>
                            <a:rPr kumimoji="0" lang="zh-CN" altLang="en-US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C0025B6-5449-F5A1-F6D9-7EAD7BA15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393" y="2453779"/>
                <a:ext cx="1764137" cy="757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9695ABA-E6B0-9771-6FA1-E1BC915813EC}"/>
                  </a:ext>
                </a:extLst>
              </p:cNvPr>
              <p:cNvSpPr txBox="1"/>
              <p:nvPr/>
            </p:nvSpPr>
            <p:spPr>
              <a:xfrm>
                <a:off x="7374276" y="2453779"/>
                <a:ext cx="1764137" cy="695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:</m:t>
                          </m:r>
                          <m:r>
                            <a:rPr lang="el-GR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</m:t>
                          </m:r>
                          <m:r>
                            <a:rPr lang="zh-CN" altLang="el-GR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m:rPr>
                              <m:nor/>
                            </m:rP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  <a:sym typeface="Symbol" panose="05050102010706020507" pitchFamily="18" charset="2"/>
                            </a:rPr>
                            <m:t>snd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 : </m:t>
                          </m:r>
                          <m:r>
                            <a:rPr kumimoji="0" lang="zh-CN" altLang="en-US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𝜏</m:t>
                          </m:r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  <m:r>
                            <a:rPr kumimoji="0" lang="zh-CN" altLang="en-US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9695ABA-E6B0-9771-6FA1-E1BC91581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276" y="2453779"/>
                <a:ext cx="1764137" cy="6956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75ED8A00-4F3F-F03A-F5E8-CBD8B96F3D63}"/>
              </a:ext>
            </a:extLst>
          </p:cNvPr>
          <p:cNvSpPr txBox="1"/>
          <p:nvPr/>
        </p:nvSpPr>
        <p:spPr>
          <a:xfrm>
            <a:off x="681951" y="3461668"/>
            <a:ext cx="48288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多元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tuple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可以看成是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pair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的泛化：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A05B9E3-7C80-4BE6-87A0-F44B10FCAE8B}"/>
                  </a:ext>
                </a:extLst>
              </p:cNvPr>
              <p:cNvSpPr txBox="1"/>
              <p:nvPr/>
            </p:nvSpPr>
            <p:spPr>
              <a:xfrm>
                <a:off x="889998" y="3973991"/>
                <a:ext cx="17812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kumimoji="0" lang="en-US" altLang="zh-CN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kumimoji="0" lang="en-US" altLang="zh-CN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1, </m:t>
                          </m:r>
                          <m:r>
                            <a:rPr kumimoji="0" lang="en-US" altLang="zh-CN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2, …,</m:t>
                          </m:r>
                          <m:r>
                            <a:rPr lang="en-US" altLang="zh-CN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𝑒𝑛</m:t>
                          </m:r>
                          <m:r>
                            <a:rPr lang="en-US" altLang="zh-CN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 </m:t>
                          </m:r>
                        </m:e>
                      </m:d>
                      <m:r>
                        <a:rPr kumimoji="0" lang="en-US" altLang="zh-C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2A05B9E3-7C80-4BE6-87A0-F44B10FCA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998" y="3973991"/>
                <a:ext cx="17812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47080F3-9824-3E68-9004-BD238979D3C5}"/>
                  </a:ext>
                </a:extLst>
              </p:cNvPr>
              <p:cNvSpPr txBox="1"/>
              <p:nvPr/>
            </p:nvSpPr>
            <p:spPr>
              <a:xfrm>
                <a:off x="3775864" y="3973991"/>
                <a:ext cx="25838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kumimoji="0" lang="en-US" altLang="zh-CN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kumimoji="0" lang="en-US" altLang="zh-CN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1, (</m:t>
                          </m:r>
                          <m:r>
                            <a:rPr kumimoji="0" lang="en-US" altLang="zh-CN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kumimoji="0" lang="en-US" altLang="zh-CN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2, </m:t>
                          </m:r>
                          <m:d>
                            <m:dPr>
                              <m:ctrlPr>
                                <a:rPr lang="en-US" altLang="zh-CN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…,</m:t>
                              </m:r>
                              <m:r>
                                <a:rPr lang="en-US" altLang="zh-CN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𝑒𝑛</m:t>
                              </m:r>
                            </m:e>
                          </m:d>
                          <m:r>
                            <a:rPr lang="en-US" altLang="zh-CN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…) </m:t>
                          </m:r>
                        </m:e>
                      </m:d>
                      <m:r>
                        <a:rPr kumimoji="0" lang="en-US" altLang="zh-C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47080F3-9824-3E68-9004-BD238979D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864" y="3973991"/>
                <a:ext cx="2583840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BFB73B0E-B971-2213-9924-15ECDFE705B1}"/>
              </a:ext>
            </a:extLst>
          </p:cNvPr>
          <p:cNvSpPr txBox="1"/>
          <p:nvPr/>
        </p:nvSpPr>
        <p:spPr>
          <a:xfrm>
            <a:off x="2578813" y="3981001"/>
            <a:ext cx="178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可以看做是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EEC9C5-7ADF-E20A-D581-2B0345C7D99C}"/>
              </a:ext>
            </a:extLst>
          </p:cNvPr>
          <p:cNvSpPr txBox="1"/>
          <p:nvPr/>
        </p:nvSpPr>
        <p:spPr>
          <a:xfrm>
            <a:off x="6193603" y="3981001"/>
            <a:ext cx="127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的简写，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76680B0-CF8E-96E3-E500-4AE97E3B37E2}"/>
              </a:ext>
            </a:extLst>
          </p:cNvPr>
          <p:cNvGrpSpPr/>
          <p:nvPr/>
        </p:nvGrpSpPr>
        <p:grpSpPr>
          <a:xfrm>
            <a:off x="3096378" y="4357343"/>
            <a:ext cx="6624255" cy="388284"/>
            <a:chOff x="5128516" y="5432066"/>
            <a:chExt cx="6624255" cy="388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DE5222C7-23A3-22D7-974F-A9D5F1B41F70}"/>
                    </a:ext>
                  </a:extLst>
                </p:cNvPr>
                <p:cNvSpPr txBox="1"/>
                <p:nvPr/>
              </p:nvSpPr>
              <p:spPr>
                <a:xfrm>
                  <a:off x="9168931" y="5451018"/>
                  <a:ext cx="258384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zh-CN" altLang="en-US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𝜏</m:t>
                        </m:r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×</m:t>
                        </m:r>
                        <m:r>
                          <a:rPr lang="zh-CN" altLang="en-US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𝜏</m:t>
                        </m:r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×</m:t>
                        </m:r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…</m:t>
                        </m:r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×</m:t>
                        </m:r>
                        <m:r>
                          <a:rPr lang="zh-CN" altLang="en-US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𝜏</m:t>
                        </m:r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𝑛</m:t>
                        </m:r>
                        <m:r>
                          <a:rPr kumimoji="0" lang="en-US" altLang="zh-CN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  <a:sym typeface="Symbol" panose="05050102010706020507" pitchFamily="18" charset="2"/>
                          </a:rPr>
                          <m:t> 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DE5222C7-23A3-22D7-974F-A9D5F1B41F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8931" y="5451018"/>
                  <a:ext cx="258384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5B67578-B5AB-B3AF-02A8-1ACF24524396}"/>
                </a:ext>
              </a:extLst>
            </p:cNvPr>
            <p:cNvSpPr txBox="1"/>
            <p:nvPr/>
          </p:nvSpPr>
          <p:spPr>
            <a:xfrm>
              <a:off x="8232161" y="5449350"/>
              <a:ext cx="14178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可以表示为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B1A76123-B822-CE0E-9574-903F59250D64}"/>
                    </a:ext>
                  </a:extLst>
                </p:cNvPr>
                <p:cNvSpPr txBox="1"/>
                <p:nvPr/>
              </p:nvSpPr>
              <p:spPr>
                <a:xfrm>
                  <a:off x="5808002" y="5432066"/>
                  <a:ext cx="258384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zh-CN" altLang="en-US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𝜏</m:t>
                        </m:r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  <m:r>
                          <a:rPr lang="en-US" altLang="zh-CN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×</m:t>
                        </m:r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r>
                          <a:rPr lang="zh-CN" altLang="en-US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𝜏</m:t>
                        </m:r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en-US" altLang="zh-CN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×</m:t>
                        </m:r>
                        <m:d>
                          <m:dPr>
                            <m:ctrlPr>
                              <a:rPr lang="en-US" altLang="zh-CN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…</m:t>
                            </m:r>
                            <m:r>
                              <a:rPr lang="en-US" altLang="zh-CN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×</m:t>
                            </m:r>
                            <m:r>
                              <a:rPr lang="zh-CN" altLang="en-US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𝜏</m:t>
                            </m:r>
                            <m:r>
                              <a:rPr lang="en-US" altLang="zh-CN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…)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B1A76123-B822-CE0E-9574-903F59250D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8002" y="5432066"/>
                  <a:ext cx="2583840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563F444-A495-0ABF-B17F-A3A54CB8ABE4}"/>
                </a:ext>
              </a:extLst>
            </p:cNvPr>
            <p:cNvSpPr txBox="1"/>
            <p:nvPr/>
          </p:nvSpPr>
          <p:spPr>
            <a:xfrm>
              <a:off x="5128516" y="5439076"/>
              <a:ext cx="23185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其类型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314A8D96-0DB4-44F9-2A3B-D94F45BF88D6}"/>
              </a:ext>
            </a:extLst>
          </p:cNvPr>
          <p:cNvSpPr txBox="1"/>
          <p:nvPr/>
        </p:nvSpPr>
        <p:spPr>
          <a:xfrm>
            <a:off x="681950" y="5221973"/>
            <a:ext cx="84158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struct/records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可以看做是带标签的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tuple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labelled tuples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CC860A7-C21A-08F0-FBDC-63DF303C7361}"/>
                  </a:ext>
                </a:extLst>
              </p:cNvPr>
              <p:cNvSpPr txBox="1"/>
              <p:nvPr/>
            </p:nvSpPr>
            <p:spPr>
              <a:xfrm>
                <a:off x="534029" y="5634420"/>
                <a:ext cx="92058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𝑑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1:</m:t>
                          </m:r>
                          <m:r>
                            <a:rPr lang="zh-CN" altLang="en-US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𝜏</m:t>
                          </m:r>
                          <m:r>
                            <a:rPr lang="en-US" altLang="zh-CN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  <a:sym typeface="Symbol" panose="05050102010706020507" pitchFamily="18" charset="2"/>
                            </a:rPr>
                            <m:t>= </m:t>
                          </m:r>
                          <m:r>
                            <a:rPr lang="en-US" altLang="zh-CN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lang="en-US" altLang="zh-CN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1,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𝑑</m:t>
                          </m:r>
                          <m: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:</m:t>
                          </m:r>
                          <m:r>
                            <a:rPr lang="zh-CN" altLang="en-US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𝜏</m:t>
                          </m:r>
                          <m:r>
                            <a:rPr lang="en-US" altLang="zh-CN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= </m:t>
                          </m:r>
                          <m:r>
                            <a:rPr lang="en-US" altLang="zh-CN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𝑒</m:t>
                          </m:r>
                          <m:r>
                            <a:rPr lang="en-US" altLang="zh-CN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  <m:r>
                            <a:rPr lang="en-US" altLang="zh-CN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, …,</m:t>
                          </m:r>
                          <m:r>
                            <a:rPr lang="en-US" altLang="zh-CN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𝑑𝑛</m:t>
                          </m:r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:</m:t>
                          </m:r>
                          <m:r>
                            <a:rPr lang="zh-CN" altLang="en-US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𝜏</m:t>
                          </m:r>
                          <m:r>
                            <a:rPr lang="en-US" altLang="zh-CN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𝑛</m:t>
                          </m:r>
                          <m:r>
                            <a:rPr lang="en-US" altLang="zh-CN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= </m:t>
                          </m:r>
                          <m:r>
                            <a:rPr lang="en-US" altLang="zh-CN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𝑒𝑛</m:t>
                          </m:r>
                        </m:e>
                      </m:d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 :</m:t>
                      </m:r>
                      <m:r>
                        <m:rPr>
                          <m:nor/>
                        </m:rP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m:t>struct MyStruct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 {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𝑑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1:</m:t>
                      </m:r>
                      <m:r>
                        <a:rPr lang="zh-CN" altLang="en-US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𝜏</m:t>
                      </m:r>
                      <m:r>
                        <a:rPr lang="en-US" altLang="zh-CN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1,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𝑑</m:t>
                      </m:r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2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:</m:t>
                      </m:r>
                      <m:r>
                        <a:rPr lang="zh-CN" altLang="en-US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𝜏</m:t>
                      </m:r>
                      <m:r>
                        <a:rPr lang="en-US" altLang="zh-CN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2</m:t>
                      </m:r>
                      <m:r>
                        <a:rPr lang="en-US" altLang="zh-CN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,</m:t>
                      </m:r>
                      <m:r>
                        <a:rPr lang="en-US" altLang="zh-CN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…, </m:t>
                      </m:r>
                      <m:r>
                        <a:rPr lang="en-US" altLang="zh-CN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𝑑𝑛</m:t>
                      </m:r>
                      <m:r>
                        <a:rPr lang="en-US" altLang="zh-CN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:</m:t>
                      </m:r>
                      <m:r>
                        <a:rPr lang="zh-CN" altLang="en-US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𝜏</m:t>
                      </m:r>
                      <m:r>
                        <a:rPr lang="en-US" altLang="zh-CN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1</m:t>
                      </m:r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}</m:t>
                      </m:r>
                      <m:r>
                        <a:rPr kumimoji="0" lang="en-US" altLang="zh-C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  <a:sym typeface="Symbol" panose="05050102010706020507" pitchFamily="18" charset="2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8CC860A7-C21A-08F0-FBDC-63DF303C7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29" y="5634420"/>
                <a:ext cx="9205871" cy="369332"/>
              </a:xfrm>
              <a:prstGeom prst="rect">
                <a:avLst/>
              </a:prstGeom>
              <a:blipFill>
                <a:blip r:embed="rId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7000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AAFFB-A49C-4C80-8D64-656E304B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代数数据类型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和类型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E3AED2-DEAE-E0D0-8F07-E25940A844DB}"/>
              </a:ext>
            </a:extLst>
          </p:cNvPr>
          <p:cNvSpPr txBox="1"/>
          <p:nvPr/>
        </p:nvSpPr>
        <p:spPr>
          <a:xfrm>
            <a:off x="349432" y="1751743"/>
            <a:ext cx="4828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 types and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enum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BAB970-663B-786A-6428-9450C5013179}"/>
              </a:ext>
            </a:extLst>
          </p:cNvPr>
          <p:cNvSpPr txBox="1"/>
          <p:nvPr/>
        </p:nvSpPr>
        <p:spPr>
          <a:xfrm>
            <a:off x="1640655" y="2867101"/>
            <a:ext cx="7135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ym typeface="Symbol" panose="05050102010706020507" pitchFamily="18" charset="2"/>
              </a:rPr>
              <a:t>(Terms)  e ::=  …  |  left e  |  right e  |  case e do e1 e2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1626A2-A06B-CD92-3B78-79EC2BDC83A8}"/>
              </a:ext>
            </a:extLst>
          </p:cNvPr>
          <p:cNvSpPr txBox="1"/>
          <p:nvPr/>
        </p:nvSpPr>
        <p:spPr>
          <a:xfrm>
            <a:off x="1640655" y="2363228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ym typeface="Symbol" panose="05050102010706020507" pitchFamily="18" charset="2"/>
              </a:rPr>
              <a:t>(Types)    ::=  …  | 1 + 2</a:t>
            </a:r>
            <a:endParaRPr lang="zh-CN" altLang="en-US" sz="16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06A6F7-1B42-FE71-FBA0-71E315093BD1}"/>
              </a:ext>
            </a:extLst>
          </p:cNvPr>
          <p:cNvSpPr txBox="1"/>
          <p:nvPr/>
        </p:nvSpPr>
        <p:spPr>
          <a:xfrm>
            <a:off x="3100966" y="4222909"/>
            <a:ext cx="21611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union</a:t>
            </a:r>
            <a:r>
              <a:rPr lang="en-US" altLang="zh-CN" sz="2400" dirty="0"/>
              <a:t> data{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    float f;</a:t>
            </a:r>
          </a:p>
          <a:p>
            <a:r>
              <a:rPr lang="en-US" altLang="zh-CN" sz="2400" dirty="0"/>
              <a:t>    char c;</a:t>
            </a:r>
          </a:p>
          <a:p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BDEA82-074B-9DA3-8C61-FACFB75F2BED}"/>
              </a:ext>
            </a:extLst>
          </p:cNvPr>
          <p:cNvSpPr txBox="1"/>
          <p:nvPr/>
        </p:nvSpPr>
        <p:spPr>
          <a:xfrm>
            <a:off x="2070491" y="3761244"/>
            <a:ext cx="3633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Consider unions in C: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FD5D09-C30E-6E8A-D923-CD2868B77F66}"/>
              </a:ext>
            </a:extLst>
          </p:cNvPr>
          <p:cNvSpPr txBox="1"/>
          <p:nvPr/>
        </p:nvSpPr>
        <p:spPr>
          <a:xfrm>
            <a:off x="6698583" y="4443535"/>
            <a:ext cx="41227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400" dirty="0">
                <a:solidFill>
                  <a:srgbClr val="FF0000"/>
                </a:solidFill>
              </a:rPr>
              <a:t>Using the same location for multiple data. </a:t>
            </a:r>
          </a:p>
          <a:p>
            <a:pPr lvl="0"/>
            <a:r>
              <a:rPr lang="en-US" altLang="zh-CN" sz="2400" dirty="0">
                <a:solidFill>
                  <a:srgbClr val="FF0000"/>
                </a:solidFill>
              </a:rPr>
              <a:t>Can contain only one value at any given time.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46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AAFFB-A49C-4C80-8D64-656E304B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代数数据类型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和类型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E3AED2-DEAE-E0D0-8F07-E25940A844DB}"/>
              </a:ext>
            </a:extLst>
          </p:cNvPr>
          <p:cNvSpPr txBox="1"/>
          <p:nvPr/>
        </p:nvSpPr>
        <p:spPr>
          <a:xfrm>
            <a:off x="349432" y="1751743"/>
            <a:ext cx="4828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类型：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sum types and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enum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BAB970-663B-786A-6428-9450C5013179}"/>
              </a:ext>
            </a:extLst>
          </p:cNvPr>
          <p:cNvSpPr txBox="1"/>
          <p:nvPr/>
        </p:nvSpPr>
        <p:spPr>
          <a:xfrm>
            <a:off x="1640655" y="2867101"/>
            <a:ext cx="7135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sym typeface="Symbol" panose="05050102010706020507" pitchFamily="18" charset="2"/>
              </a:rPr>
              <a:t>(Terms)  e ::=  …  |  left e  |  right e  |  case e do e1 e2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1626A2-A06B-CD92-3B78-79EC2BDC83A8}"/>
              </a:ext>
            </a:extLst>
          </p:cNvPr>
          <p:cNvSpPr txBox="1"/>
          <p:nvPr/>
        </p:nvSpPr>
        <p:spPr>
          <a:xfrm>
            <a:off x="1640655" y="2363228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sym typeface="Symbol" panose="05050102010706020507" pitchFamily="18" charset="2"/>
              </a:rPr>
              <a:t>(Types)    ::=  …  | 1 + 2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41DE7C8-8404-C810-348A-097B2F21FDE3}"/>
              </a:ext>
            </a:extLst>
          </p:cNvPr>
          <p:cNvGrpSpPr/>
          <p:nvPr/>
        </p:nvGrpSpPr>
        <p:grpSpPr>
          <a:xfrm>
            <a:off x="1239963" y="3921137"/>
            <a:ext cx="3717432" cy="756297"/>
            <a:chOff x="1439061" y="3459838"/>
            <a:chExt cx="3717432" cy="7562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1F4A4FF-74F5-9F5A-7D21-C008FFB8202E}"/>
                    </a:ext>
                  </a:extLst>
                </p:cNvPr>
                <p:cNvSpPr txBox="1"/>
                <p:nvPr/>
              </p:nvSpPr>
              <p:spPr>
                <a:xfrm>
                  <a:off x="1439061" y="3459838"/>
                  <a:ext cx="2895601" cy="7562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⊢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⊢</m:t>
                            </m:r>
                            <m:sSub>
                              <m:sSubPr>
                                <m:ctrlPr>
                                  <a:rPr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left</m:t>
                                </m:r>
                              </m:e>
                              <m:sub>
                                <m:r>
                                  <a:rPr lang="zh-CN" altLang="en-US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zh-CN" altLang="en-US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𝑒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lang="el-GR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oMath>
                    </m:oMathPara>
                  </a14:m>
                  <a:endParaRPr lang="zh-CN" altLang="en-US" sz="2400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1F4A4FF-74F5-9F5A-7D21-C008FFB82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9061" y="3459838"/>
                  <a:ext cx="2895601" cy="7562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6C7E5FE-9D86-3C23-040E-A3F07C1ECFC8}"/>
                </a:ext>
              </a:extLst>
            </p:cNvPr>
            <p:cNvSpPr txBox="1"/>
            <p:nvPr/>
          </p:nvSpPr>
          <p:spPr>
            <a:xfrm>
              <a:off x="4464316" y="3643770"/>
              <a:ext cx="6921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(left)</a:t>
              </a:r>
              <a:endParaRPr lang="zh-CN" altLang="en-US" sz="2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BCC079A-A67B-5B45-EB8B-F03EF79B67C9}"/>
              </a:ext>
            </a:extLst>
          </p:cNvPr>
          <p:cNvGrpSpPr/>
          <p:nvPr/>
        </p:nvGrpSpPr>
        <p:grpSpPr>
          <a:xfrm>
            <a:off x="2457451" y="5281482"/>
            <a:ext cx="6893483" cy="693908"/>
            <a:chOff x="1439061" y="4695080"/>
            <a:chExt cx="6893483" cy="6939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0B6482F4-8AEE-C790-E22F-01B616EDDD21}"/>
                    </a:ext>
                  </a:extLst>
                </p:cNvPr>
                <p:cNvSpPr txBox="1"/>
                <p:nvPr/>
              </p:nvSpPr>
              <p:spPr>
                <a:xfrm>
                  <a:off x="1439061" y="4695080"/>
                  <a:ext cx="5971570" cy="6939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⊢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⊢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  <m:r>
                              <a:rPr lang="en-US" altLang="zh-CN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m:rPr>
                                <m:sty m:val="p"/>
                              </m:r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⊢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  <m:r>
                              <a:rPr lang="en-US" altLang="zh-CN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 </m:t>
                            </m:r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altLang="zh-CN" sz="24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τ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⊢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case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  <m:r>
                              <a:rPr lang="en-US" altLang="zh-CN" sz="2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do</m:t>
                            </m:r>
                            <m:r>
                              <a:rPr lang="en-US" altLang="zh-CN" sz="2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e</m:t>
                            </m:r>
                            <m:r>
                              <a:rPr lang="en-US" altLang="zh-CN" sz="2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1 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e</m:t>
                            </m:r>
                            <m:r>
                              <a:rPr lang="en-US" altLang="zh-CN" sz="2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2:</m:t>
                            </m:r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τ</m:t>
                            </m:r>
                          </m:den>
                        </m:f>
                      </m:oMath>
                    </m:oMathPara>
                  </a14:m>
                  <a:endParaRPr lang="zh-CN" altLang="en-US" sz="2400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0B6482F4-8AEE-C790-E22F-01B616ED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9061" y="4695080"/>
                  <a:ext cx="5971570" cy="69390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A0B2324-7FB8-ADD3-5D46-DC5315C4A220}"/>
                </a:ext>
              </a:extLst>
            </p:cNvPr>
            <p:cNvSpPr txBox="1"/>
            <p:nvPr/>
          </p:nvSpPr>
          <p:spPr>
            <a:xfrm>
              <a:off x="7531234" y="4873205"/>
              <a:ext cx="8013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(case)</a:t>
              </a:r>
              <a:endParaRPr lang="zh-CN" altLang="en-US" sz="2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021F8BE-74A0-6002-F17A-AF12B75A4DDE}"/>
              </a:ext>
            </a:extLst>
          </p:cNvPr>
          <p:cNvGrpSpPr/>
          <p:nvPr/>
        </p:nvGrpSpPr>
        <p:grpSpPr>
          <a:xfrm>
            <a:off x="5846211" y="3921137"/>
            <a:ext cx="4024683" cy="758669"/>
            <a:chOff x="1439061" y="3459838"/>
            <a:chExt cx="4024683" cy="7586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0F7A111-5D42-2513-AE69-06F89A8BB8EB}"/>
                    </a:ext>
                  </a:extLst>
                </p:cNvPr>
                <p:cNvSpPr txBox="1"/>
                <p:nvPr/>
              </p:nvSpPr>
              <p:spPr>
                <a:xfrm>
                  <a:off x="1439061" y="3459838"/>
                  <a:ext cx="3102388" cy="7586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⊢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⊢</m:t>
                            </m:r>
                            <m:sSub>
                              <m:sSubPr>
                                <m:ctrlPr>
                                  <a:rPr lang="en-US" altLang="zh-CN" sz="24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right</m:t>
                                </m:r>
                              </m:e>
                              <m:sub>
                                <m:r>
                                  <a:rPr lang="zh-CN" altLang="en-US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zh-CN" altLang="en-US" sz="24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𝑒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lang="el-GR" altLang="zh-CN" sz="24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τ</m:t>
                            </m:r>
                            <m:r>
                              <a:rPr lang="en-US" altLang="zh-CN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oMath>
                    </m:oMathPara>
                  </a14:m>
                  <a:endParaRPr lang="zh-CN" altLang="en-US" sz="2400" dirty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0F7A111-5D42-2513-AE69-06F89A8BB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9061" y="3459838"/>
                  <a:ext cx="3102388" cy="7586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5D3971F-F5C6-C115-FEE5-FBBB6109C1A2}"/>
                </a:ext>
              </a:extLst>
            </p:cNvPr>
            <p:cNvSpPr txBox="1"/>
            <p:nvPr/>
          </p:nvSpPr>
          <p:spPr>
            <a:xfrm>
              <a:off x="4633837" y="3643770"/>
              <a:ext cx="8299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solidFill>
                    <a:prstClr val="black"/>
                  </a:solidFill>
                  <a:latin typeface="Calibri" panose="020F0502020204030204"/>
                  <a:ea typeface="宋体" panose="02010600030101010101" pitchFamily="2" charset="-122"/>
                </a:rPr>
                <a:t>(right)</a:t>
              </a:r>
              <a:endParaRPr lang="zh-CN" altLang="en-US" sz="20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6963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AAFFB-A49C-4C80-8D64-656E304B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代数数据类型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和类型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E3AED2-DEAE-E0D0-8F07-E25940A844DB}"/>
              </a:ext>
            </a:extLst>
          </p:cNvPr>
          <p:cNvSpPr txBox="1"/>
          <p:nvPr/>
        </p:nvSpPr>
        <p:spPr>
          <a:xfrm>
            <a:off x="349432" y="1751743"/>
            <a:ext cx="4828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类型：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sum types and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enum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BAB970-663B-786A-6428-9450C5013179}"/>
              </a:ext>
            </a:extLst>
          </p:cNvPr>
          <p:cNvSpPr txBox="1"/>
          <p:nvPr/>
        </p:nvSpPr>
        <p:spPr>
          <a:xfrm>
            <a:off x="1640655" y="2867101"/>
            <a:ext cx="7135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sym typeface="Symbol" panose="05050102010706020507" pitchFamily="18" charset="2"/>
              </a:rPr>
              <a:t>(Terms)  e ::=  …  |  left e  |  right e  |  case e do e1 e2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1626A2-A06B-CD92-3B78-79EC2BDC83A8}"/>
              </a:ext>
            </a:extLst>
          </p:cNvPr>
          <p:cNvSpPr txBox="1"/>
          <p:nvPr/>
        </p:nvSpPr>
        <p:spPr>
          <a:xfrm>
            <a:off x="1640655" y="2363228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  <a:sym typeface="Symbol" panose="05050102010706020507" pitchFamily="18" charset="2"/>
              </a:rPr>
              <a:t>(Types)    ::=  …  | 1 + 2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41DE7C8-8404-C810-348A-097B2F21FDE3}"/>
              </a:ext>
            </a:extLst>
          </p:cNvPr>
          <p:cNvGrpSpPr/>
          <p:nvPr/>
        </p:nvGrpSpPr>
        <p:grpSpPr>
          <a:xfrm>
            <a:off x="1239963" y="3921137"/>
            <a:ext cx="3717432" cy="756297"/>
            <a:chOff x="1439061" y="3459838"/>
            <a:chExt cx="3717432" cy="7562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1F4A4FF-74F5-9F5A-7D21-C008FFB8202E}"/>
                    </a:ext>
                  </a:extLst>
                </p:cNvPr>
                <p:cNvSpPr txBox="1"/>
                <p:nvPr/>
              </p:nvSpPr>
              <p:spPr>
                <a:xfrm>
                  <a:off x="1439061" y="3459838"/>
                  <a:ext cx="2895601" cy="75629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⊢</m:t>
                            </m:r>
                            <m:r>
                              <m:rPr>
                                <m:sty m:val="p"/>
                              </m:rPr>
                              <a:rPr kumimoji="0" lang="en-US" altLang="zh-CN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e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kumimoji="0" lang="zh-CN" alt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τ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⊢</m:t>
                            </m:r>
                            <m:sSub>
                              <m:sSubPr>
                                <m:ctrlPr>
                                  <a:rPr kumimoji="0" lang="en-US" altLang="zh-CN" sz="24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0" lang="en-US" altLang="zh-CN" sz="24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left</m:t>
                                </m:r>
                              </m:e>
                              <m:sub>
                                <m:r>
                                  <a:rPr kumimoji="0" lang="zh-CN" alt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𝜏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1+</m:t>
                                </m:r>
                                <m:r>
                                  <a:rPr kumimoji="0" lang="zh-CN" alt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𝜏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  <a:sym typeface="Symbol" panose="05050102010706020507" pitchFamily="18" charset="2"/>
                              </a:rPr>
                              <m:t>𝑒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kumimoji="0" lang="el-GR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τ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1+</m:t>
                            </m:r>
                            <m:r>
                              <m:rPr>
                                <m:sty m:val="p"/>
                              </m:rPr>
                              <a:rPr kumimoji="0" lang="zh-CN" alt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τ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  <m:r>
                              <a:rPr kumimoji="0" lang="zh-CN" altLang="en-US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</m:den>
                        </m:f>
                      </m:oMath>
                    </m:oMathPara>
                  </a14:m>
                  <a:endPara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1F4A4FF-74F5-9F5A-7D21-C008FFB82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9061" y="3459838"/>
                  <a:ext cx="2895601" cy="7562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6C7E5FE-9D86-3C23-040E-A3F07C1ECFC8}"/>
                </a:ext>
              </a:extLst>
            </p:cNvPr>
            <p:cNvSpPr txBox="1"/>
            <p:nvPr/>
          </p:nvSpPr>
          <p:spPr>
            <a:xfrm>
              <a:off x="4464316" y="3643770"/>
              <a:ext cx="6921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(left)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BCC079A-A67B-5B45-EB8B-F03EF79B67C9}"/>
              </a:ext>
            </a:extLst>
          </p:cNvPr>
          <p:cNvGrpSpPr/>
          <p:nvPr/>
        </p:nvGrpSpPr>
        <p:grpSpPr>
          <a:xfrm>
            <a:off x="2457451" y="5281482"/>
            <a:ext cx="6893483" cy="693908"/>
            <a:chOff x="1439061" y="4695080"/>
            <a:chExt cx="6893483" cy="6939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0B6482F4-8AEE-C790-E22F-01B616EDDD21}"/>
                    </a:ext>
                  </a:extLst>
                </p:cNvPr>
                <p:cNvSpPr txBox="1"/>
                <p:nvPr/>
              </p:nvSpPr>
              <p:spPr>
                <a:xfrm>
                  <a:off x="1439061" y="4695080"/>
                  <a:ext cx="5971570" cy="6939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⊢</m:t>
                            </m:r>
                            <m:r>
                              <m:rPr>
                                <m:sty m:val="p"/>
                              </m:rPr>
                              <a:rPr kumimoji="0" lang="en-US" altLang="zh-CN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e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kumimoji="0" lang="zh-CN" alt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τ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1+</m:t>
                            </m:r>
                            <m:r>
                              <m:rPr>
                                <m:sty m:val="p"/>
                              </m:rPr>
                              <a:rPr kumimoji="0" lang="zh-CN" alt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τ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2      </m:t>
                            </m:r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⊢</m:t>
                            </m:r>
                            <m:r>
                              <m:rPr>
                                <m:sty m:val="p"/>
                              </m:rPr>
                              <a:rPr kumimoji="0" lang="en-US" altLang="zh-CN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e</m:t>
                            </m:r>
                            <m:r>
                              <a:rPr kumimoji="0" lang="en-US" altLang="zh-CN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1:</m:t>
                            </m:r>
                            <m:r>
                              <m:rPr>
                                <m:sty m:val="p"/>
                              </m:rPr>
                              <a:rPr kumimoji="0" lang="zh-CN" alt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τ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  <m:r>
                              <a:rPr kumimoji="0" lang="en-US" altLang="zh-CN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→</m:t>
                            </m:r>
                            <m:r>
                              <m:rPr>
                                <m:sty m:val="p"/>
                              </m:rPr>
                              <a:rPr kumimoji="0" lang="zh-CN" alt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τ</m:t>
                            </m:r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    </m:t>
                            </m:r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⊢</m:t>
                            </m:r>
                            <m:r>
                              <m:rPr>
                                <m:sty m:val="p"/>
                              </m:rPr>
                              <a:rPr kumimoji="0" lang="en-US" altLang="zh-CN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e</m:t>
                            </m:r>
                            <m:r>
                              <a:rPr kumimoji="0" lang="en-US" altLang="zh-CN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2: </m:t>
                            </m:r>
                            <m:r>
                              <m:rPr>
                                <m:sty m:val="p"/>
                              </m:rPr>
                              <a:rPr kumimoji="0" lang="zh-CN" altLang="en-US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τ</m:t>
                            </m:r>
                            <m:r>
                              <a:rPr kumimoji="0" lang="en-US" altLang="zh-CN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→</m:t>
                            </m:r>
                            <m:r>
                              <m:rPr>
                                <m:sty m:val="p"/>
                              </m:rPr>
                              <a:rPr kumimoji="0" lang="zh-CN" altLang="en-US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τ</m:t>
                            </m:r>
                          </m:num>
                          <m:den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⊢</m:t>
                            </m:r>
                            <m:r>
                              <m:rPr>
                                <m:sty m:val="p"/>
                              </m:rPr>
                              <a:rPr kumimoji="0" lang="en-US" altLang="zh-CN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case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0" lang="en-US" altLang="zh-CN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e</m:t>
                            </m:r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0" lang="en-US" altLang="zh-CN" sz="24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  <a:sym typeface="Symbol" panose="05050102010706020507" pitchFamily="18" charset="2"/>
                              </a:rPr>
                              <m:t>do</m:t>
                            </m:r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  <a:sym typeface="Symbol" panose="05050102010706020507" pitchFamily="18" charset="2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0" lang="en-US" altLang="zh-CN" sz="24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  <a:sym typeface="Symbol" panose="05050102010706020507" pitchFamily="18" charset="2"/>
                              </a:rPr>
                              <m:t>e</m:t>
                            </m:r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  <a:sym typeface="Symbol" panose="05050102010706020507" pitchFamily="18" charset="2"/>
                              </a:rPr>
                              <m:t>1 </m:t>
                            </m:r>
                            <m:r>
                              <m:rPr>
                                <m:sty m:val="p"/>
                              </m:rPr>
                              <a:rPr kumimoji="0" lang="en-US" altLang="zh-CN" sz="24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  <a:sym typeface="Symbol" panose="05050102010706020507" pitchFamily="18" charset="2"/>
                              </a:rPr>
                              <m:t>e</m:t>
                            </m:r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  <a:sym typeface="Symbol" panose="05050102010706020507" pitchFamily="18" charset="2"/>
                              </a:rPr>
                              <m:t>2:</m:t>
                            </m:r>
                            <m:r>
                              <m:rPr>
                                <m:sty m:val="p"/>
                              </m:rPr>
                              <a:rPr kumimoji="0" lang="zh-CN" altLang="en-US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τ</m:t>
                            </m:r>
                          </m:den>
                        </m:f>
                      </m:oMath>
                    </m:oMathPara>
                  </a14:m>
                  <a:endPara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0B6482F4-8AEE-C790-E22F-01B616ED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9061" y="4695080"/>
                  <a:ext cx="5971570" cy="69390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A0B2324-7FB8-ADD3-5D46-DC5315C4A220}"/>
                </a:ext>
              </a:extLst>
            </p:cNvPr>
            <p:cNvSpPr txBox="1"/>
            <p:nvPr/>
          </p:nvSpPr>
          <p:spPr>
            <a:xfrm>
              <a:off x="7531234" y="4873205"/>
              <a:ext cx="8013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(case)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021F8BE-74A0-6002-F17A-AF12B75A4DDE}"/>
              </a:ext>
            </a:extLst>
          </p:cNvPr>
          <p:cNvGrpSpPr/>
          <p:nvPr/>
        </p:nvGrpSpPr>
        <p:grpSpPr>
          <a:xfrm>
            <a:off x="5846211" y="3921137"/>
            <a:ext cx="4024683" cy="758669"/>
            <a:chOff x="1439061" y="3459838"/>
            <a:chExt cx="4024683" cy="7586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0F7A111-5D42-2513-AE69-06F89A8BB8EB}"/>
                    </a:ext>
                  </a:extLst>
                </p:cNvPr>
                <p:cNvSpPr txBox="1"/>
                <p:nvPr/>
              </p:nvSpPr>
              <p:spPr>
                <a:xfrm>
                  <a:off x="1439061" y="3459838"/>
                  <a:ext cx="3102388" cy="7586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f>
                          <m:f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⊢</m:t>
                            </m:r>
                            <m:r>
                              <m:rPr>
                                <m:sty m:val="p"/>
                              </m:rPr>
                              <a:rPr kumimoji="0" lang="en-US" altLang="zh-CN" sz="24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e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kumimoji="0" lang="zh-CN" alt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τ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num>
                          <m:den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⊢</m:t>
                            </m:r>
                            <m:sSub>
                              <m:sSubPr>
                                <m:ctrlPr>
                                  <a:rPr kumimoji="0" lang="en-US" altLang="zh-CN" sz="24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0" lang="en-US" altLang="zh-CN" sz="24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right</m:t>
                                </m:r>
                              </m:e>
                              <m:sub>
                                <m:r>
                                  <a:rPr kumimoji="0" lang="zh-CN" alt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𝜏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1+</m:t>
                                </m:r>
                                <m:r>
                                  <a:rPr kumimoji="0" lang="zh-CN" alt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𝜏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  <a:sym typeface="Symbol" panose="05050102010706020507" pitchFamily="18" charset="2"/>
                              </a:rPr>
                              <m:t>𝑒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kumimoji="0" lang="el-GR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τ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1+</m:t>
                            </m:r>
                            <m:r>
                              <m:rPr>
                                <m:sty m:val="p"/>
                              </m:rPr>
                              <a:rPr kumimoji="0" lang="zh-CN" alt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τ</m:t>
                            </m:r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  <m:r>
                              <a:rPr kumimoji="0" lang="zh-CN" altLang="en-US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</m:den>
                        </m:f>
                      </m:oMath>
                    </m:oMathPara>
                  </a14:m>
                  <a:endPara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0F7A111-5D42-2513-AE69-06F89A8BB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9061" y="3459838"/>
                  <a:ext cx="3102388" cy="7586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5D3971F-F5C6-C115-FEE5-FBBB6109C1A2}"/>
                </a:ext>
              </a:extLst>
            </p:cNvPr>
            <p:cNvSpPr txBox="1"/>
            <p:nvPr/>
          </p:nvSpPr>
          <p:spPr>
            <a:xfrm>
              <a:off x="4633837" y="3643770"/>
              <a:ext cx="8299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(right)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9753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AAFFB-A49C-4C80-8D64-656E304B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和类型在实际语言中的形式（仓颉）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2BF224-BBEF-2976-4FB9-DE812CC1B7FC}"/>
              </a:ext>
            </a:extLst>
          </p:cNvPr>
          <p:cNvSpPr txBox="1"/>
          <p:nvPr/>
        </p:nvSpPr>
        <p:spPr>
          <a:xfrm>
            <a:off x="783384" y="1530372"/>
            <a:ext cx="4476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dirty="0" err="1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enum</a:t>
            </a:r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Expr =</a:t>
            </a:r>
          </a:p>
          <a:p>
            <a:pPr algn="l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 | CONST(Int)</a:t>
            </a:r>
            <a:endParaRPr lang="en-US" altLang="zh-CN" sz="2000" b="1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 | ADD(</a:t>
            </a:r>
            <a:r>
              <a:rPr lang="en-US" altLang="zh-CN" sz="20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Expr, Expr)</a:t>
            </a:r>
          </a:p>
          <a:p>
            <a:pPr algn="l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 | MUL(</a:t>
            </a:r>
            <a:r>
              <a:rPr lang="en-US" altLang="zh-CN" sz="20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Expr, Expr)</a:t>
            </a:r>
            <a:endParaRPr lang="zh-CN" altLang="en-US" sz="2000" b="1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DE240FE-BDFE-A4E2-E383-C8EA60A02B4E}"/>
              </a:ext>
            </a:extLst>
          </p:cNvPr>
          <p:cNvSpPr txBox="1"/>
          <p:nvPr/>
        </p:nvSpPr>
        <p:spPr>
          <a:xfrm>
            <a:off x="5260134" y="1630416"/>
            <a:ext cx="55943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CONST(3)</a:t>
            </a:r>
          </a:p>
          <a:p>
            <a:pPr algn="l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ADD(CONST(3), COSNT(4))</a:t>
            </a:r>
          </a:p>
          <a:p>
            <a:pPr algn="l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MUL(CONST(3), </a:t>
            </a:r>
          </a:p>
          <a:p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   ADD(CONST(4), COSNT(5))</a:t>
            </a:r>
          </a:p>
          <a:p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  <a:endParaRPr lang="zh-CN" altLang="en-US" sz="20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E0C509-6B90-9658-6047-7840639360DB}"/>
              </a:ext>
            </a:extLst>
          </p:cNvPr>
          <p:cNvSpPr txBox="1"/>
          <p:nvPr/>
        </p:nvSpPr>
        <p:spPr>
          <a:xfrm>
            <a:off x="838200" y="3668986"/>
            <a:ext cx="9043241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pt-BR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func eval (e: Expr): Int {</a:t>
            </a:r>
          </a:p>
          <a:p>
            <a:pPr>
              <a:spcBef>
                <a:spcPts val="600"/>
              </a:spcBef>
              <a:buNone/>
            </a:pPr>
            <a:r>
              <a:rPr lang="pt-BR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    match(e) {</a:t>
            </a:r>
          </a:p>
          <a:p>
            <a:pPr>
              <a:spcBef>
                <a:spcPts val="600"/>
              </a:spcBef>
              <a:buNone/>
            </a:pPr>
            <a:r>
              <a:rPr lang="pt-BR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        case CONST(i) =&gt; i</a:t>
            </a:r>
          </a:p>
          <a:p>
            <a:pPr>
              <a:spcBef>
                <a:spcPts val="600"/>
              </a:spcBef>
              <a:buNone/>
            </a:pPr>
            <a:r>
              <a:rPr lang="pt-BR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        case ADD(e1, e2) =&gt; eval(e1) + eval(e2)</a:t>
            </a:r>
          </a:p>
          <a:p>
            <a:pPr>
              <a:spcBef>
                <a:spcPts val="600"/>
              </a:spcBef>
              <a:buNone/>
            </a:pPr>
            <a:r>
              <a:rPr lang="pt-BR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        case MUL(e1, e2) =&gt; eval(e1) * eval(e2)</a:t>
            </a:r>
          </a:p>
          <a:p>
            <a:pPr>
              <a:spcBef>
                <a:spcPts val="600"/>
              </a:spcBef>
              <a:buNone/>
            </a:pPr>
            <a:r>
              <a:rPr lang="pt-BR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    }</a:t>
            </a:r>
          </a:p>
          <a:p>
            <a:pPr>
              <a:spcBef>
                <a:spcPts val="600"/>
              </a:spcBef>
              <a:buNone/>
            </a:pPr>
            <a:r>
              <a:rPr lang="pt-BR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9022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9F309-FD09-58AB-58CD-A6977E3A3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A60AF-3092-CBC9-3E0C-A51FCF9A5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和类型在实际语言中的形式（仓颉）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9300D3F-0C7D-8AEE-A156-47687CE708DB}"/>
                  </a:ext>
                </a:extLst>
              </p:cNvPr>
              <p:cNvSpPr txBox="1"/>
              <p:nvPr/>
            </p:nvSpPr>
            <p:spPr>
              <a:xfrm>
                <a:off x="1619250" y="4824641"/>
                <a:ext cx="6368421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𝑖𝑛𝑡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𝑒𝑥𝑝𝑟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𝑒𝑥𝑝𝑟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𝑒𝑥𝑝𝑟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𝑒𝑥𝑝𝑟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9300D3F-0C7D-8AEE-A156-47687CE70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50" y="4824641"/>
                <a:ext cx="6368421" cy="5091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28B14D48-CEF3-9892-7F6B-E1E37FE34763}"/>
              </a:ext>
            </a:extLst>
          </p:cNvPr>
          <p:cNvSpPr txBox="1"/>
          <p:nvPr/>
        </p:nvSpPr>
        <p:spPr>
          <a:xfrm>
            <a:off x="1562100" y="4320496"/>
            <a:ext cx="4108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对应于下面的和类型：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6A4262-3685-BFA4-1189-A3CB4E257592}"/>
              </a:ext>
            </a:extLst>
          </p:cNvPr>
          <p:cNvSpPr txBox="1"/>
          <p:nvPr/>
        </p:nvSpPr>
        <p:spPr>
          <a:xfrm>
            <a:off x="783384" y="1548540"/>
            <a:ext cx="44767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dirty="0" err="1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enum</a:t>
            </a:r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Expr =</a:t>
            </a:r>
          </a:p>
          <a:p>
            <a:pPr algn="l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 | CONST(Int)</a:t>
            </a:r>
            <a:endParaRPr lang="en-US" altLang="zh-CN" sz="2000" b="1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 | ADD(</a:t>
            </a:r>
            <a:r>
              <a:rPr lang="en-US" altLang="zh-CN" sz="20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Expr, Expr)</a:t>
            </a:r>
          </a:p>
          <a:p>
            <a:pPr algn="l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 | MUL(</a:t>
            </a:r>
            <a:r>
              <a:rPr lang="en-US" altLang="zh-CN" sz="20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Expr, Expr)</a:t>
            </a:r>
            <a:endParaRPr lang="zh-CN" altLang="en-US" sz="2000" b="1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A58AB7-160D-D809-78A8-C6F867FDBF64}"/>
              </a:ext>
            </a:extLst>
          </p:cNvPr>
          <p:cNvSpPr txBox="1"/>
          <p:nvPr/>
        </p:nvSpPr>
        <p:spPr>
          <a:xfrm>
            <a:off x="5260134" y="1648584"/>
            <a:ext cx="55943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CONST(3)</a:t>
            </a:r>
          </a:p>
          <a:p>
            <a:pPr algn="l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ADD(CONST(3), COSNT(4))</a:t>
            </a:r>
          </a:p>
          <a:p>
            <a:pPr algn="l"/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MUL(CONST(3), </a:t>
            </a:r>
          </a:p>
          <a:p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   ADD(CONST(4), COSNT(5))</a:t>
            </a:r>
          </a:p>
          <a:p>
            <a:r>
              <a:rPr lang="en-US" altLang="zh-CN" sz="20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  <a:endParaRPr lang="zh-CN" altLang="en-US" sz="20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557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AAFFB-A49C-4C80-8D64-656E304B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和类型在实际语言中的形式（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Swift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/>
          </a:p>
        </p:txBody>
      </p:sp>
      <p:sp>
        <p:nvSpPr>
          <p:cNvPr id="7" name="流程图: 文档 6">
            <a:extLst>
              <a:ext uri="{FF2B5EF4-FFF2-40B4-BE49-F238E27FC236}">
                <a16:creationId xmlns:a16="http://schemas.microsoft.com/office/drawing/2014/main" id="{E2702539-17DE-EA24-5F07-46E35D44D751}"/>
              </a:ext>
            </a:extLst>
          </p:cNvPr>
          <p:cNvSpPr/>
          <p:nvPr/>
        </p:nvSpPr>
        <p:spPr>
          <a:xfrm>
            <a:off x="546100" y="1608794"/>
            <a:ext cx="5213350" cy="1890055"/>
          </a:xfrm>
          <a:prstGeom prst="flowChartDocumen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2BF224-BBEF-2976-4FB9-DE812CC1B7FC}"/>
              </a:ext>
            </a:extLst>
          </p:cNvPr>
          <p:cNvSpPr txBox="1"/>
          <p:nvPr/>
        </p:nvSpPr>
        <p:spPr>
          <a:xfrm>
            <a:off x="546100" y="1757769"/>
            <a:ext cx="5549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dirty="0" err="1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enum</a:t>
            </a:r>
            <a:r>
              <a:rPr lang="en-US" altLang="zh-CN" sz="20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Barcode {</a:t>
            </a:r>
          </a:p>
          <a:p>
            <a:pPr algn="l"/>
            <a:r>
              <a:rPr lang="en-US" altLang="zh-CN" sz="20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   case </a:t>
            </a:r>
            <a:r>
              <a:rPr lang="en-US" altLang="zh-CN" sz="2000" b="1" dirty="0" err="1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upc</a:t>
            </a:r>
            <a:r>
              <a:rPr lang="en-US" altLang="zh-CN" sz="20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(Int, Int, Int, Int)</a:t>
            </a:r>
          </a:p>
          <a:p>
            <a:pPr algn="l"/>
            <a:r>
              <a:rPr lang="en-US" altLang="zh-CN" sz="20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    case </a:t>
            </a:r>
            <a:r>
              <a:rPr lang="en-US" altLang="zh-CN" sz="2000" b="1" dirty="0" err="1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qrCode</a:t>
            </a:r>
            <a:r>
              <a:rPr lang="en-US" altLang="zh-CN" sz="20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(String)</a:t>
            </a:r>
          </a:p>
          <a:p>
            <a:pPr algn="l"/>
            <a:r>
              <a:rPr lang="en-US" altLang="zh-CN" sz="2000" b="1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}</a:t>
            </a:r>
            <a:endParaRPr lang="zh-CN" altLang="en-US" sz="2000" b="1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FBF84F-15B8-5DDD-2078-E2A2B053EEBF}"/>
              </a:ext>
            </a:extLst>
          </p:cNvPr>
          <p:cNvSpPr txBox="1"/>
          <p:nvPr/>
        </p:nvSpPr>
        <p:spPr>
          <a:xfrm>
            <a:off x="3613150" y="3932394"/>
            <a:ext cx="8477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i="0" dirty="0">
                <a:effectLst/>
                <a:latin typeface="Menlo"/>
              </a:rPr>
              <a:t>var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Menlo"/>
              </a:rPr>
              <a:t>productBarcode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 = </a:t>
            </a:r>
            <a:r>
              <a:rPr lang="en-US" altLang="zh-CN" sz="2000" b="0" i="0" dirty="0" err="1">
                <a:effectLst/>
                <a:latin typeface="Menlo"/>
              </a:rPr>
              <a:t>Barcode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Menlo"/>
              </a:rPr>
              <a:t>.upc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(</a:t>
            </a:r>
            <a:r>
              <a:rPr lang="en-US" altLang="zh-CN" sz="2000" b="0" i="0" dirty="0">
                <a:effectLst/>
                <a:latin typeface="Menlo"/>
              </a:rPr>
              <a:t>8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, </a:t>
            </a:r>
            <a:r>
              <a:rPr lang="en-US" altLang="zh-CN" sz="2000" b="0" i="0" dirty="0">
                <a:effectLst/>
                <a:latin typeface="Menlo"/>
              </a:rPr>
              <a:t>85909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, </a:t>
            </a:r>
            <a:r>
              <a:rPr lang="en-US" altLang="zh-CN" sz="2000" b="0" i="0" dirty="0">
                <a:effectLst/>
                <a:latin typeface="Menlo"/>
              </a:rPr>
              <a:t>51226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, </a:t>
            </a:r>
            <a:r>
              <a:rPr lang="en-US" altLang="zh-CN" sz="2000" b="0" i="0" dirty="0">
                <a:effectLst/>
                <a:latin typeface="Menlo"/>
              </a:rPr>
              <a:t>3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)</a:t>
            </a:r>
          </a:p>
          <a:p>
            <a:pPr algn="l"/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Menlo"/>
              </a:rPr>
              <a:t>productBarcode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 = .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Menlo"/>
              </a:rPr>
              <a:t>qrCode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(</a:t>
            </a:r>
            <a:r>
              <a:rPr lang="en-US" altLang="zh-CN" sz="2000" b="0" i="0" dirty="0">
                <a:effectLst/>
                <a:latin typeface="Menlo"/>
              </a:rPr>
              <a:t>"ABCDEFGHIJKLMNOP"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Menlo"/>
            </a:endParaRPr>
          </a:p>
          <a:p>
            <a:pPr algn="l"/>
            <a:endParaRPr lang="en-US" altLang="zh-CN" sz="2000" b="1" dirty="0">
              <a:solidFill>
                <a:srgbClr val="000000"/>
              </a:solidFill>
              <a:latin typeface="Menlo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l"/>
            <a:r>
              <a:rPr lang="en-US" altLang="zh-CN" sz="2000" b="1" i="0" dirty="0">
                <a:solidFill>
                  <a:srgbClr val="000000"/>
                </a:solidFill>
                <a:effectLst/>
                <a:latin typeface="Menlo"/>
              </a:rPr>
              <a:t>switch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Menlo"/>
              </a:rPr>
              <a:t>productBarcode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 { </a:t>
            </a:r>
          </a:p>
          <a:p>
            <a:pPr algn="l"/>
            <a:r>
              <a:rPr lang="en-US" altLang="zh-CN" sz="2000" dirty="0">
                <a:solidFill>
                  <a:srgbClr val="000000"/>
                </a:solidFill>
                <a:latin typeface="Menlo"/>
              </a:rPr>
              <a:t>    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Menlo"/>
              </a:rPr>
              <a:t>case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 .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Menlo"/>
              </a:rPr>
              <a:t>upc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(let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Menlo"/>
              </a:rPr>
              <a:t>numberSystem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, let manufacturer, let product, let check): </a:t>
            </a:r>
          </a:p>
          <a:p>
            <a:pPr algn="l"/>
            <a:r>
              <a:rPr lang="en-US" altLang="zh-CN" sz="2000" dirty="0">
                <a:solidFill>
                  <a:srgbClr val="000000"/>
                </a:solidFill>
                <a:latin typeface="Menlo"/>
              </a:rPr>
              <a:t>    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print("UPC: \(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Menlo"/>
              </a:rPr>
              <a:t>numberSystem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), \(manufacturer), \(product), \(check).") </a:t>
            </a:r>
          </a:p>
          <a:p>
            <a:pPr algn="l"/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    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Menlo"/>
              </a:rPr>
              <a:t>case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 .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Menlo"/>
              </a:rPr>
              <a:t>qrCode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(let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Menlo"/>
              </a:rPr>
              <a:t>productCode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): </a:t>
            </a:r>
          </a:p>
          <a:p>
            <a:pPr algn="l"/>
            <a:r>
              <a:rPr lang="en-US" altLang="zh-CN" sz="2000" dirty="0">
                <a:solidFill>
                  <a:srgbClr val="000000"/>
                </a:solidFill>
                <a:latin typeface="Menlo"/>
              </a:rPr>
              <a:t>    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print("QR code: \(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Menlo"/>
              </a:rPr>
              <a:t>productCode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).")</a:t>
            </a:r>
          </a:p>
          <a:p>
            <a:pPr algn="l"/>
            <a:r>
              <a:rPr lang="en-US" altLang="zh-CN" sz="2000" b="0" i="0" dirty="0">
                <a:solidFill>
                  <a:srgbClr val="000000"/>
                </a:solidFill>
                <a:effectLst/>
                <a:latin typeface="Menlo"/>
              </a:rPr>
              <a:t> }</a:t>
            </a:r>
            <a:endParaRPr lang="zh-CN" altLang="en-US" sz="2000" b="1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77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AAFFB-A49C-4C80-8D64-656E304B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“积类型”和“和类型”</a:t>
            </a:r>
            <a:endParaRPr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22830CB-ABA7-A7E4-20F5-651C21D3D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11438348" cy="4351338"/>
          </a:xfrm>
        </p:spPr>
        <p:txBody>
          <a:bodyPr/>
          <a:lstStyle/>
          <a:p>
            <a:r>
              <a:rPr lang="en-US" altLang="zh-CN" dirty="0"/>
              <a:t>“logical duals”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To make a </a:t>
            </a:r>
            <a:r>
              <a:rPr lang="en-US" altLang="zh-CN" dirty="0">
                <a:sym typeface="Symbol" panose="05050102010706020507" pitchFamily="18" charset="2"/>
              </a:rPr>
              <a:t>1  2, we need a 1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and</a:t>
            </a:r>
            <a:r>
              <a:rPr lang="en-US" altLang="zh-CN" dirty="0">
                <a:sym typeface="Symbol" panose="05050102010706020507" pitchFamily="18" charset="2"/>
              </a:rPr>
              <a:t> a 2</a:t>
            </a:r>
          </a:p>
          <a:p>
            <a:pPr lvl="1">
              <a:spcBef>
                <a:spcPts val="1200"/>
              </a:spcBef>
            </a:pPr>
            <a:r>
              <a:rPr lang="en-US" altLang="zh-CN" dirty="0">
                <a:sym typeface="Symbol" panose="05050102010706020507" pitchFamily="18" charset="2"/>
              </a:rPr>
              <a:t>To make a 1 + 2, we need a 1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or</a:t>
            </a:r>
            <a:r>
              <a:rPr lang="en-US" altLang="zh-CN" dirty="0">
                <a:sym typeface="Symbol" panose="05050102010706020507" pitchFamily="18" charset="2"/>
              </a:rPr>
              <a:t> a 2</a:t>
            </a:r>
          </a:p>
          <a:p>
            <a:pPr lvl="1">
              <a:spcBef>
                <a:spcPts val="1200"/>
              </a:spcBef>
            </a:pPr>
            <a:r>
              <a:rPr lang="en-US" altLang="zh-CN" dirty="0">
                <a:sym typeface="Symbol" panose="05050102010706020507" pitchFamily="18" charset="2"/>
              </a:rPr>
              <a:t>Given a 1  2, we can get a 1 or a 2 or both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(our “choice”)</a:t>
            </a:r>
          </a:p>
          <a:p>
            <a:pPr lvl="1">
              <a:spcBef>
                <a:spcPts val="1200"/>
              </a:spcBef>
            </a:pPr>
            <a:r>
              <a:rPr lang="en-US" altLang="zh-CN" dirty="0">
                <a:sym typeface="Symbol" panose="05050102010706020507" pitchFamily="18" charset="2"/>
              </a:rPr>
              <a:t>Given a 1 + 2, we must be prepared for either a 1 or a 2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(the value’s “choice”)</a:t>
            </a:r>
            <a:endParaRPr lang="en-US" altLang="zh-CN" dirty="0">
              <a:sym typeface="Symbol" panose="05050102010706020507" pitchFamily="18" charset="2"/>
            </a:endParaRPr>
          </a:p>
          <a:p>
            <a:pPr lvl="1">
              <a:spcBef>
                <a:spcPts val="1200"/>
              </a:spcBef>
            </a:pPr>
            <a:r>
              <a:rPr lang="en-US" altLang="zh-CN" dirty="0">
                <a:sym typeface="Symbol" panose="05050102010706020507" pitchFamily="18" charset="2"/>
              </a:rPr>
              <a:t>If 1 has n1 possible values, and 2 has n2 possible values,</a:t>
            </a:r>
          </a:p>
          <a:p>
            <a:pPr lvl="2">
              <a:spcBef>
                <a:spcPts val="1200"/>
              </a:spcBef>
            </a:pPr>
            <a:r>
              <a:rPr lang="en-US" altLang="zh-CN" dirty="0">
                <a:sym typeface="Symbol" panose="05050102010706020507" pitchFamily="18" charset="2"/>
              </a:rPr>
              <a:t> 1  2 has n1  n2 possible values</a:t>
            </a:r>
          </a:p>
          <a:p>
            <a:pPr lvl="2">
              <a:spcBef>
                <a:spcPts val="1200"/>
              </a:spcBef>
            </a:pPr>
            <a:r>
              <a:rPr lang="en-US" altLang="zh-CN" dirty="0">
                <a:sym typeface="Symbol" panose="05050102010706020507" pitchFamily="18" charset="2"/>
              </a:rPr>
              <a:t> 1 + 2 has n1 + n2 possible values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3345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AAFFB-A49C-4C80-8D64-656E304B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“积类型”和“和类型”</a:t>
            </a:r>
            <a:endParaRPr lang="zh-CN" altLang="en-US" dirty="0"/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22830CB-ABA7-A7E4-20F5-651C21D3D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11438348" cy="4351338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”和“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nothing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”类型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类型：只有一个值 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”，可以视作特殊的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tuple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 unit  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nothing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类型：没有值！可以视作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个分支的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 + nothing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 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各自有什么用？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1119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AAFFB-A49C-4C80-8D64-656E304B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函数类型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C12C3E1-4E82-4CB8-9E65-F09557FD0D53}"/>
                  </a:ext>
                </a:extLst>
              </p:cNvPr>
              <p:cNvSpPr txBox="1"/>
              <p:nvPr/>
            </p:nvSpPr>
            <p:spPr>
              <a:xfrm>
                <a:off x="861223" y="5037428"/>
                <a:ext cx="2568075" cy="629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0" lang="el-GR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Γ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  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:</m:t>
                          </m:r>
                          <m:r>
                            <m:rPr>
                              <m:sty m:val="p"/>
                            </m:rPr>
                            <a:rPr kumimoji="0" lang="el-GR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τ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⊢ 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:</m:t>
                          </m:r>
                          <m:r>
                            <m:rPr>
                              <m:sty m:val="p"/>
                            </m:rPr>
                            <a:rPr kumimoji="0" lang="zh-CN" alt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τ</m:t>
                          </m:r>
                          <m:r>
                            <a:rPr kumimoji="0" lang="zh-CN" alt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C12C3E1-4E82-4CB8-9E65-F09557FD0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23" y="5037428"/>
                <a:ext cx="2568075" cy="6297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77E6384-2EF4-44A1-940A-DCA2CF12CF1E}"/>
                  </a:ext>
                </a:extLst>
              </p:cNvPr>
              <p:cNvSpPr txBox="1"/>
              <p:nvPr/>
            </p:nvSpPr>
            <p:spPr>
              <a:xfrm>
                <a:off x="258076" y="3680000"/>
                <a:ext cx="3977948" cy="8955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l-GR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l-GR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Γ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lang="el-GR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  <m:r>
                            <a:rPr kumimoji="0" lang="en-US" altLang="zh-CN" sz="2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1→</m:t>
                          </m:r>
                          <m:r>
                            <m:rPr>
                              <m:sty m:val="p"/>
                            </m:rPr>
                            <a:rPr lang="el-GR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</m:t>
                          </m:r>
                          <m:r>
                            <m:rPr>
                              <m:sty m:val="p"/>
                            </m:rPr>
                            <a:rPr kumimoji="0" lang="el-GR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Γ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lang="el-GR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  <m:r>
                            <a:rPr kumimoji="0" lang="en-US" altLang="zh-CN" sz="2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0" lang="el-GR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Γ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) :</m:t>
                          </m:r>
                          <m:r>
                            <m:rPr>
                              <m:sty m:val="p"/>
                            </m:rPr>
                            <a:rPr lang="el-GR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</m:den>
                      </m:f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77E6384-2EF4-44A1-940A-DCA2CF12C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76" y="3680000"/>
                <a:ext cx="3977948" cy="8955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4D118E9-192C-4D2D-B970-E773E540C38B}"/>
                  </a:ext>
                </a:extLst>
              </p:cNvPr>
              <p:cNvSpPr txBox="1"/>
              <p:nvPr/>
            </p:nvSpPr>
            <p:spPr>
              <a:xfrm>
                <a:off x="377345" y="2034801"/>
                <a:ext cx="3987823" cy="868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l-GR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l-GR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Γ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, 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:</m:t>
                          </m:r>
                          <m:r>
                            <m:rPr>
                              <m:sty m:val="p"/>
                            </m:rPr>
                            <a:rPr kumimoji="0" lang="el-GR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  <m:r>
                            <a:rPr kumimoji="0" lang="en-US" altLang="zh-CN" sz="2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r>
                            <a:rPr kumimoji="0" lang="en-US" altLang="zh-CN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𝑒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:</m:t>
                          </m:r>
                          <m:r>
                            <m:rPr>
                              <m:sty m:val="p"/>
                            </m:rPr>
                            <a:rPr lang="el-GR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  <m:r>
                            <a:rPr kumimoji="0" lang="en-US" altLang="zh-CN" sz="2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0" lang="el-GR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Γ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⊢</m:t>
                          </m:r>
                          <m:d>
                            <m:dPr>
                              <m:ctrlPr>
                                <a:rPr kumimoji="0" lang="zh-CN" alt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kumimoji="0" lang="zh-CN" altLang="en-US" sz="2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λ</m:t>
                              </m:r>
                              <m:r>
                                <a:rPr kumimoji="0" lang="en-US" altLang="zh-CN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altLang="zh-CN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: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τ</m:t>
                              </m:r>
                              <m: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  <m:r>
                                <a:rPr kumimoji="0" lang="en-US" altLang="zh-CN" sz="2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altLang="zh-CN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𝑒</m:t>
                              </m:r>
                            </m:e>
                          </m:d>
                          <m:r>
                            <a:rPr kumimoji="0" lang="en-US" altLang="zh-C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:</m:t>
                          </m:r>
                          <m:r>
                            <m:rPr>
                              <m:sty m:val="p"/>
                            </m:rPr>
                            <a:rPr lang="el-GR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  <m:r>
                            <a:rPr kumimoji="0" lang="en-US" altLang="zh-CN" sz="2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</m:t>
                          </m:r>
                          <m:r>
                            <a:rPr kumimoji="0" lang="en-US" altLang="zh-CN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→</m:t>
                          </m:r>
                          <m:r>
                            <m:rPr>
                              <m:sty m:val="p"/>
                            </m:rPr>
                            <a:rPr lang="el-GR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τ</m:t>
                          </m:r>
                          <m:r>
                            <a:rPr kumimoji="0" lang="en-US" altLang="zh-CN" sz="2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r>
                            <a:rPr kumimoji="0" lang="zh-CN" altLang="en-US" sz="2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4D118E9-192C-4D2D-B970-E773E540C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45" y="2034801"/>
                <a:ext cx="3987823" cy="868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内容占位符 2">
            <a:extLst>
              <a:ext uri="{FF2B5EF4-FFF2-40B4-BE49-F238E27FC236}">
                <a16:creationId xmlns:a16="http://schemas.microsoft.com/office/drawing/2014/main" id="{9F672B5A-D864-4296-90E6-29907EBB19E9}"/>
              </a:ext>
            </a:extLst>
          </p:cNvPr>
          <p:cNvSpPr txBox="1">
            <a:spLocks/>
          </p:cNvSpPr>
          <p:nvPr/>
        </p:nvSpPr>
        <p:spPr>
          <a:xfrm>
            <a:off x="5903015" y="3680000"/>
            <a:ext cx="6288985" cy="2211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Under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,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e is a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well-typed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 expr of type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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Typing context 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b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(records types of non-local variables)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B47DFBC-00CD-4F2C-8210-FF8BD1C965F9}"/>
                  </a:ext>
                </a:extLst>
              </p:cNvPr>
              <p:cNvSpPr txBox="1"/>
              <p:nvPr/>
            </p:nvSpPr>
            <p:spPr>
              <a:xfrm>
                <a:off x="7323547" y="2934219"/>
                <a:ext cx="133658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0" lang="el-GR" altLang="zh-CN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Γ</m:t>
                      </m:r>
                      <m:r>
                        <a:rPr kumimoji="0" lang="en-US" altLang="zh-C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⊢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𝑒</m:t>
                      </m:r>
                      <m:r>
                        <a:rPr kumimoji="0" lang="en-US" altLang="zh-CN" sz="2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:</m:t>
                      </m:r>
                      <m:r>
                        <m:rPr>
                          <m:sty m:val="p"/>
                        </m:rPr>
                        <a:rPr lang="el-GR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τ</m:t>
                      </m:r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BB47DFBC-00CD-4F2C-8210-FF8BD1C96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547" y="2934219"/>
                <a:ext cx="133658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C69B9AD-AFA2-4FDB-906E-681DDFE6419F}"/>
                  </a:ext>
                </a:extLst>
              </p:cNvPr>
              <p:cNvSpPr txBox="1"/>
              <p:nvPr/>
            </p:nvSpPr>
            <p:spPr>
              <a:xfrm>
                <a:off x="7323547" y="5145962"/>
                <a:ext cx="239559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0" lang="el-GR" altLang="zh-CN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Γ</m:t>
                      </m:r>
                      <m:r>
                        <a:rPr kumimoji="0" lang="en-US" altLang="zh-CN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∷=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 ∙|  </m:t>
                      </m:r>
                      <m:r>
                        <m:rPr>
                          <m:sty m:val="p"/>
                        </m:rPr>
                        <a:rPr kumimoji="0" lang="el-GR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Γ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, </m:t>
                      </m:r>
                      <m:r>
                        <a:rPr kumimoji="0" lang="en-US" altLang="zh-CN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𝑥</m:t>
                      </m:r>
                      <m:r>
                        <a:rPr kumimoji="0" lang="en-US" altLang="zh-CN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:</m:t>
                      </m:r>
                      <m:r>
                        <m:rPr>
                          <m:sty m:val="p"/>
                        </m:rPr>
                        <a:rPr kumimoji="0" lang="el-GR" altLang="zh-CN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τ</m:t>
                      </m:r>
                    </m:oMath>
                  </m:oMathPara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C69B9AD-AFA2-4FDB-906E-681DDFE64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547" y="5145962"/>
                <a:ext cx="2395592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1299038C-D277-4479-AC9B-8C8F767EEB75}"/>
              </a:ext>
            </a:extLst>
          </p:cNvPr>
          <p:cNvSpPr txBox="1"/>
          <p:nvPr/>
        </p:nvSpPr>
        <p:spPr>
          <a:xfrm>
            <a:off x="6004224" y="231417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Judgment: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E488D30E-5FAC-41A0-8BC8-CB2A6D42A085}"/>
              </a:ext>
            </a:extLst>
          </p:cNvPr>
          <p:cNvSpPr/>
          <p:nvPr/>
        </p:nvSpPr>
        <p:spPr>
          <a:xfrm>
            <a:off x="6669157" y="496957"/>
            <a:ext cx="5436703" cy="1502319"/>
          </a:xfrm>
          <a:prstGeom prst="wedgeRoundRectCallout">
            <a:avLst>
              <a:gd name="adj1" fmla="val -29242"/>
              <a:gd name="adj2" fmla="val 10174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func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check(Gamma: Env, e: Expr, T: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Typ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 : Bool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392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27955</TotalTime>
  <Words>1657</Words>
  <Application>Microsoft Office PowerPoint</Application>
  <PresentationFormat>宽屏</PresentationFormat>
  <Paragraphs>228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Menlo</vt:lpstr>
      <vt:lpstr>等线</vt:lpstr>
      <vt:lpstr>等线 Light</vt:lpstr>
      <vt:lpstr>微软雅黑</vt:lpstr>
      <vt:lpstr>Arial</vt:lpstr>
      <vt:lpstr>Calibri</vt:lpstr>
      <vt:lpstr>Cambria Math</vt:lpstr>
      <vt:lpstr>Courier New</vt:lpstr>
      <vt:lpstr>Symbol</vt:lpstr>
      <vt:lpstr>Times New Roman</vt:lpstr>
      <vt:lpstr>Office 主题​​</vt:lpstr>
      <vt:lpstr>1_Office 主题​​</vt:lpstr>
      <vt:lpstr>类型和类型系统</vt:lpstr>
      <vt:lpstr>为什么要类型系统？</vt:lpstr>
      <vt:lpstr>类型系统在编程语言中的作用</vt:lpstr>
      <vt:lpstr>PowerPoint 演示文稿</vt:lpstr>
      <vt:lpstr>动态类型语言 vs. 静态类型语言</vt:lpstr>
      <vt:lpstr>PowerPoint 演示文稿</vt:lpstr>
      <vt:lpstr>类型系统和类型检查</vt:lpstr>
      <vt:lpstr>类型检查规则</vt:lpstr>
      <vt:lpstr>类型的分类 —— 基本类型和复合类型</vt:lpstr>
      <vt:lpstr>代数数据类型 —— 积类型</vt:lpstr>
      <vt:lpstr>代数数据类型 —— 和类型</vt:lpstr>
      <vt:lpstr>代数数据类型 —— 和类型</vt:lpstr>
      <vt:lpstr>代数数据类型 —— 和类型</vt:lpstr>
      <vt:lpstr>和类型在实际语言中的形式（仓颉）</vt:lpstr>
      <vt:lpstr>和类型在实际语言中的形式（仓颉）</vt:lpstr>
      <vt:lpstr>和类型在实际语言中的形式（Swift）</vt:lpstr>
      <vt:lpstr>“积类型”和“和类型”</vt:lpstr>
      <vt:lpstr>“积类型”和“和类型”</vt:lpstr>
      <vt:lpstr>函数类型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类型和类型系统</dc:title>
  <dc:creator>冯 新宇</dc:creator>
  <cp:lastModifiedBy>新宇 冯</cp:lastModifiedBy>
  <cp:revision>42</cp:revision>
  <dcterms:created xsi:type="dcterms:W3CDTF">2024-03-15T09:19:27Z</dcterms:created>
  <dcterms:modified xsi:type="dcterms:W3CDTF">2026-09-30T17:27:59Z</dcterms:modified>
</cp:coreProperties>
</file>