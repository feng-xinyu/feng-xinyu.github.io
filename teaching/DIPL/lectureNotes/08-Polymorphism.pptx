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7"/>
  </p:notesMasterIdLst>
  <p:sldIdLst>
    <p:sldId id="256" r:id="rId4"/>
    <p:sldId id="257" r:id="rId5"/>
    <p:sldId id="377" r:id="rId6"/>
    <p:sldId id="260" r:id="rId7"/>
    <p:sldId id="378" r:id="rId8"/>
    <p:sldId id="379" r:id="rId9"/>
    <p:sldId id="368" r:id="rId10"/>
    <p:sldId id="369" r:id="rId11"/>
    <p:sldId id="370" r:id="rId12"/>
    <p:sldId id="376" r:id="rId13"/>
    <p:sldId id="382" r:id="rId14"/>
    <p:sldId id="281" r:id="rId15"/>
    <p:sldId id="3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7" d="100"/>
          <a:sy n="97" d="100"/>
        </p:scale>
        <p:origin x="60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6442C-BB4A-4112-9DA7-5241E7A56D2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CACE7-E4FC-44B0-A992-068578C78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637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Kotlin is much safer than Java. Arrays in Kotlin have invariant type parameter. </a:t>
            </a:r>
            <a:r>
              <a:rPr lang="en-US" altLang="zh-CN" dirty="0"/>
              <a:t>List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interface has covariant type parameter, because it is immutable.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MutableList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invariant type parameter.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02886-4F41-40D3-8DFB-D5215FB3040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963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D3988-B9CC-0D68-B277-6037A35F1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A561BC-B24F-93CB-C262-BEA490A56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796720-6121-13A9-38BF-3051ECDA8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4CDC0A-B73B-7215-C379-30EB55B5C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0B5F5-8932-E3B8-2D17-854FA475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18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0F7F3-F19B-5452-4B1C-27AE3891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53D7B1-28D6-C070-D467-1EC8484EF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A800AC-D389-CB91-92D4-63F6FB4EE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6167B2-76F7-932C-23B3-D6A8E80E5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1F4D7-872A-0AAE-9632-0C49573C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68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9A41A-C74E-2005-DBCE-BC5ECDDB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98A22A-72A6-C7D8-EA1B-0F16560C6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DB8E30-BFEE-50BC-CE97-118633077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548D5F-79EB-D443-2640-F7DA2578B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C6A33-DF4C-4248-12CB-EBD4C73D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57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F1C7C-CAA7-4159-EB3D-DEBFE3BD3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28A811-67EC-E66B-484B-BE08E4F35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B9BDB3-980A-7100-ACF9-9D80402E8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8C731A-C253-A5BE-6DE8-96AAF921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135ACA-0888-98F7-9715-70E17A0C4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763F14-B409-61BC-FAD1-6B552CA9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85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2EE2D-DF17-71C0-A9E9-43792CE2B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BFCFE1-B047-9906-D613-BE7B39186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CF6DEC-7E1F-43B2-8B5C-313E2A708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A6F122-7F06-16ED-B11B-B5E58244C3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9AAD1C-A414-640E-CB14-02706848B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03BE18-71FD-103B-4A39-F7529C063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42C6D6-ECE8-4BE9-06EA-860744F6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94E40B-D897-43A4-5D8A-38FFA859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223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AC454-3658-6036-C2B3-7C514BE27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F9B2CF-6EBC-DC52-6EFC-57554BD4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D8CDD5-6A64-FBF2-5241-BC7B6165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2616D0-C367-AB8C-EBB6-80446CB6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03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756008-F528-7C1C-18E5-4DF0685C8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6E2F14-1D3A-3095-CBFE-3E326AF9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CE9424-0AA2-6283-6DD3-EAEF5E14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498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53DDB-0BF1-E8E0-E01A-EA676E04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B8C304-7AFD-AFD2-D00A-247F0B847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9C0B6C-9FCB-C0E8-1434-A66CF5441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3C15CC-6772-8C59-2241-BA2755F3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513AE3-5A67-D36C-009E-0CB688AC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5A037A-57FC-D62B-9E6E-145039CD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18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085541-013D-33AB-2DA8-5C81CECA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AA72A7-900A-9E96-2F0B-ECBEBB816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F98C96-9687-71F1-EBD3-5CEDE1164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BD914E-BB21-A219-FAC6-33011A8A7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F1A946-45B1-AA98-22EF-FED0DA9F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C9B2E5-1298-A65A-8FC6-20F1C3A7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035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95B3C-60F6-1B54-C2DB-8893FC4C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3D0767-137A-D016-7F58-22EFBD978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543004-E4B7-2271-6521-D69BA3849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FA2D9-EAEC-D542-5FB4-DBEB1C07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57494C-A570-84AA-0AA8-21626F3F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75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06CE0D-9656-E870-AD4B-4C1A818B2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39A248-B260-D283-F9B5-E3E2AA1EA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3F3DB9-4095-A7A5-17C7-1B9115B8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822979-E136-DE4A-C897-D76D2F6E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340B10-38D4-5DD6-5B98-0E2DD7B2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103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8D4C4-1CC3-4011-9D5C-4780F91C9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13D392-9E92-4D3E-A6C4-B42AAA72A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BFB56-3C63-4093-9C4F-96429388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687EDF-1429-4671-93E6-75307FFF6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3C760-5085-4F13-AE22-FE4A9B03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90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D06AD-F579-48D3-ACF4-DA7618B6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C4CB24-8994-46A5-BE56-555DA764A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B263B9-A60F-4F58-A47B-205506B8F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2D95B-31FA-4814-A58F-68C0DEFC8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E08271-DDC4-4317-AEF1-0D24E596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45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2F0F1-F87F-4A0E-96C8-8CBDCCDA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13D6F0-C9BB-47C2-94C7-F34F1CB69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8D731-EC65-4441-B3DE-7D57B532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D6F04E-19D5-4D2A-B028-B4F4033E3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E2CE13-2BE1-4DFE-97B5-672EB612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440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9DEB0-3F74-4823-9F99-F70FC7B0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5DDE4C-D731-4B1A-A9E3-F75023F76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88D9F5-B710-4AC6-93F4-FB43F789E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87E46D-CD7A-47FF-8FA7-A40FC438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3C26D2-1369-4F7A-B740-DD12E7D6E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3FB6F2-72DA-443F-B178-D7EBC2E0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816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75CF7-7D3E-4088-867D-86FB2555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2BDFDF-1C91-4191-B08F-243CF8051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0C4B91-9493-4071-865D-77EEBE641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286326-B4D3-43D0-9A68-6A3B227DF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98D4F9-71ED-4BE4-A015-43729A198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0C6A61-77B7-480E-B041-B6653CF6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7BB2BC-6F4D-45C1-B707-5D87270F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286B610-0DEF-4AF1-9B5C-A6DBC630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964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EF005-BBE8-45BB-82BD-08400E7BA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C0570F-A802-49F9-AFA0-E2202879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BA1A57-8D91-4D41-8730-6A97844CA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2488B8-4A44-421B-B504-9B097634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7678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EDEC97-D652-4FBC-B764-F699F70A0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DD096B-8823-49AE-B29D-EEB25E29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E296C0-0EAE-45DB-9361-EEA1AD349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123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08F84-6E21-4FCB-8BC8-EF9842C0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9CB7AC-86BB-4F4D-A442-B2F48096F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0E4D2C-2FEC-4AF2-B730-9E16672D8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D1E015-6639-4431-822B-7F476490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E8C855-868B-4669-BEB3-EF2C3A83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140210-E2C5-45CC-BA14-8992A092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814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79F6E-DC6E-4E3E-A94F-B8A44910A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06543B-2D50-4281-A295-61A89A670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8EB4A7-CF58-4F74-9CAD-C5F857268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80D510-8BD0-47CD-89E6-43FD7240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EE2368-3A51-4A6E-91BC-8117AC11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87C15D-F0F5-4C2C-B314-2F82B675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9104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46BA-C147-42C1-8740-D90F18D1E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2301BE-3C9C-42BB-A591-C1E526EDA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B8195-EC3F-49A4-809A-8468A02D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1AB8DC-3C53-42D0-A5F8-3088E949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D7BABD-2317-4272-9BF4-244B1129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71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553CDF-28D4-485B-8E06-4A2CE95F9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0FB04E-3BD0-46AE-9E15-C335A70E7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961C63-D84D-4E4E-A11D-A8B45D4D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E580E0-DA98-4004-B748-F2C50F8F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C41816-A5C1-4B17-A73F-FD59397F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8249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39C797-B227-42E5-9898-742238358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DD03B4-7475-4629-BC83-A432BE465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73DDD6-59F4-4FB9-8DD9-BBD9948A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6062FF-D54F-4BD5-B3C4-A1672CD3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DC97F4-947E-4A95-BAE1-405B3D45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3191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1405C-0B76-4680-B5CE-9C38F65F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48BEF8-DA1B-4C92-8AA3-C14CD573E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EBA17B-C6F5-4FB3-A801-E3EFAA23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3226BE-6086-4A37-B60F-CDCDB8F8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E336C-B988-4A5F-AD19-E1E972C1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982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6FC82-8BE3-4D90-8723-75A366B02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49F52E-5292-40BF-96E2-F2E56DEC9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31BA77-847C-48C9-B91C-BB2B3C2A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922481-2F99-4A87-9372-DD403C52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B0F62B-A50C-4F6F-B4F1-EB1A7025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0782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80B3F-F92C-4B1E-8924-CC86D2C6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A95963-DE18-4729-8D11-75E7FDE08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37E378-EB42-4E59-A53E-34D9D5D2E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554602-6952-4A83-A307-00FA3E35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E70DCB-75B8-4C09-92D0-4296F518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32F69A-9D52-4BFA-856E-1E26E7F4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6157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EE102-274E-468D-BC3C-8929A8E45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EAC915-57F1-4450-A110-5B74C0E88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46710C-F3FE-4583-971D-E71628636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84A09D-7A5A-4346-B7FA-3EB70209A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EEAA6B-73DD-4BC1-934D-9B729E817E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831410-D9B1-49F4-A2DB-3A2E46A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918C89-122D-42AD-963C-A73C7C7F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DDD7F6-3A19-450B-93E0-1667FAD51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2157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81213-8D20-4223-8C1A-1F692A619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9B3216-E55D-4BF0-BB24-55543400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F32EF4-9771-493A-A0E5-B0DB80BF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32A0FE-6666-4A90-AF4D-E2B4E2F5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3768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730B5F-8544-4C5C-8BEA-8F18AED4A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5CD771-7770-49F0-833C-15D6448A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37668B-F622-4A35-BB54-82B4DB0A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109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BE2CD-53D2-4183-8D58-EB1DE3AAB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2B8F6-E45D-488F-88C8-AE56CB4A0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3B3A2E-38B9-44E1-84F2-0B115F40E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0E5118-2761-43E3-B66B-419FD1F5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5A3D5D-6D57-470B-A31B-9F2113F0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65DCFB-116C-4E2C-A492-1AE94FD5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488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75412-474A-4E11-8A3D-4C0350F1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379766-9FD7-45E9-9000-5767DA3FA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6082D7-ED4C-4321-A616-0DA0CF8EE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47549E-9D98-4F10-B964-0E4320FF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4BC84C-A844-4EFB-9ACF-AE68ECFE3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03EF2-A0CC-458E-AD4F-14472EAC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4736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50BB2-6A24-4B88-9192-F0C5FC82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59A92E-B34A-4FBA-A9E6-48286B14C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991FD5-A94F-48D9-AE32-41ADED806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C33287-19C1-40DD-A275-B9A146F2B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7FC7F6-D9D1-49BA-915B-17D7F32A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5141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D8B0A4-6E13-4525-8E61-37D991BEA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C31E9C-3CA5-41B1-8B9A-82F5B850F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72D4C3-F5CC-408F-AF60-B60C3E38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60EB2B-F46E-43CA-989A-3ED4E455D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52FE0-FDDC-4BAA-B424-FA7910CC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47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D23BE9-0C8A-EBBE-2243-B374F85E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362F50-59D3-9690-0295-624A5AC84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AECB28-8AEC-10D6-A9B5-48C86E5C1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939B5-084E-4D25-BDC1-3360101B355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A2B0F8-C0CB-E1A7-B09B-0BC0A7D09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A2190D-EAE1-A5EB-AEA4-37BB97906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5ACAC-943B-4F92-A8D6-4F5F0ADFC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10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E5732A-AAF2-4760-A926-A2E87E681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C6CCB4-4539-4579-B716-F8C632BB0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341426-C556-4628-B0FE-00A52B16B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3A713-BE76-40FE-96E9-B40E18C20DB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3415C-0C6E-4C5E-A175-E60B80AEE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C30D32-9BD6-4833-BECB-42318CA73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02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BEA876-FE81-4B71-B9B9-EB1E359D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F9CB87-942A-4C0B-A121-023275A1B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C729CE-5955-4258-9D8A-A0D090C44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032D2-3DCE-4714-8827-5082B18268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B173E7-22E5-450C-A3AB-AB73D748A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F4F205-BD3B-4EC9-92DD-8B9DC9724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E747D-A5DD-42AD-B9A3-FB8C7A2C1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4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87834-B8CB-A1CE-4C45-68D9425408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Polymorphism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449D3A-EF8B-5F04-B2C0-1D4E61E359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冯新宇</a:t>
            </a:r>
          </a:p>
        </p:txBody>
      </p:sp>
    </p:spTree>
    <p:extLst>
      <p:ext uri="{BB962C8B-B14F-4D97-AF65-F5344CB8AC3E}">
        <p14:creationId xmlns:p14="http://schemas.microsoft.com/office/powerpoint/2010/main" val="347116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D4C87-57F3-910B-0EF5-E93D912D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什么是多态（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Polymorphism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349383-5525-2767-0AEF-46F2142DB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一种“实体”，多种不同的使用方式，呈现出不同的形态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名称或定义的复用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常见的多态形式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重载（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overloading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ad-hoc polymorphism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泛型（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generics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）或参数化多态（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parametric polymorphism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子类型（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sub-typing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27749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753B-D464-AC67-C7EC-48D87649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6DD68-E340-D1F7-D4A7-EF9FEC8C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1B58E-E1F6-D8C5-6CDA-28A308CC0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96008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什么是重载（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Overloading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一个函数名能对应多个实现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不同的实现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算法具有不同的类型（函数签名）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依据类型上下文来选取对应的实现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算法（重载解析）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不同的函数签名之间没有明确关联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的类型可以是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(Int, Int) -&gt; Int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，也可以是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(Float32, Float32) -&gt; Float32</a:t>
            </a:r>
          </a:p>
          <a:p>
            <a:pPr lvl="5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为什么要重载：名字复用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重载的问题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代码可读性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Mangling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类型推断更困难</a:t>
            </a:r>
          </a:p>
        </p:txBody>
      </p:sp>
    </p:spTree>
    <p:extLst>
      <p:ext uri="{BB962C8B-B14F-4D97-AF65-F5344CB8AC3E}">
        <p14:creationId xmlns:p14="http://schemas.microsoft.com/office/powerpoint/2010/main" val="126980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8ADE2-C544-4FB0-B69C-5A1D0986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参数化多态（泛型）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3FAEDA-9F43-EE4A-AFF5-4083587D52AE}"/>
              </a:ext>
            </a:extLst>
          </p:cNvPr>
          <p:cNvSpPr txBox="1"/>
          <p:nvPr/>
        </p:nvSpPr>
        <p:spPr>
          <a:xfrm>
            <a:off x="309093" y="1690688"/>
            <a:ext cx="8361142" cy="4801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pPr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|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|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&gt;)</a:t>
            </a:r>
          </a:p>
          <a:p>
            <a:pPr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length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&gt;):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(_,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lst1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 =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buNone/>
            </a:pP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lst2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 =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buNone/>
            </a:pP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l1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lst1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Should be 3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l2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lst2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Should be 3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5C089BA5-D0B6-018F-9D7D-831923B0C039}"/>
              </a:ext>
            </a:extLst>
          </p:cNvPr>
          <p:cNvSpPr/>
          <p:nvPr/>
        </p:nvSpPr>
        <p:spPr>
          <a:xfrm>
            <a:off x="4024647" y="1328302"/>
            <a:ext cx="1609859" cy="608862"/>
          </a:xfrm>
          <a:prstGeom prst="wedgeRoundRectCallout">
            <a:avLst>
              <a:gd name="adj1" fmla="val -118997"/>
              <a:gd name="adj2" fmla="val 5566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泛型类型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D4B15C92-DF9D-0290-A8E7-DE29D665033B}"/>
              </a:ext>
            </a:extLst>
          </p:cNvPr>
          <p:cNvSpPr/>
          <p:nvPr/>
        </p:nvSpPr>
        <p:spPr>
          <a:xfrm>
            <a:off x="6540321" y="2573416"/>
            <a:ext cx="1609859" cy="608862"/>
          </a:xfrm>
          <a:prstGeom prst="wedgeRoundRectCallout">
            <a:avLst>
              <a:gd name="adj1" fmla="val -116597"/>
              <a:gd name="adj2" fmla="val 7047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泛型函数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7A0D54F-6E11-E9C2-F930-B9B87378B31D}"/>
              </a:ext>
            </a:extLst>
          </p:cNvPr>
          <p:cNvSpPr/>
          <p:nvPr/>
        </p:nvSpPr>
        <p:spPr>
          <a:xfrm>
            <a:off x="1738648" y="1716444"/>
            <a:ext cx="521594" cy="40856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FBE5353-8117-727F-3AA9-502DF13F8AF7}"/>
              </a:ext>
            </a:extLst>
          </p:cNvPr>
          <p:cNvSpPr/>
          <p:nvPr/>
        </p:nvSpPr>
        <p:spPr>
          <a:xfrm>
            <a:off x="1738648" y="3046298"/>
            <a:ext cx="521594" cy="40856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19EF493-5792-1507-DDA8-61B7969A0C2E}"/>
              </a:ext>
            </a:extLst>
          </p:cNvPr>
          <p:cNvSpPr/>
          <p:nvPr/>
        </p:nvSpPr>
        <p:spPr>
          <a:xfrm>
            <a:off x="3715555" y="2573417"/>
            <a:ext cx="1564783" cy="4728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类型变元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608C182-1D77-DACB-6DF9-F2BE138E289A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 flipV="1">
            <a:off x="2260242" y="1920728"/>
            <a:ext cx="1455313" cy="889130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EE1E896-39B1-D4EA-EF7C-D7FBFC3F59F1}"/>
              </a:ext>
            </a:extLst>
          </p:cNvPr>
          <p:cNvCxnSpPr>
            <a:stCxn id="15" idx="1"/>
            <a:endCxn id="14" idx="3"/>
          </p:cNvCxnSpPr>
          <p:nvPr/>
        </p:nvCxnSpPr>
        <p:spPr>
          <a:xfrm flipH="1">
            <a:off x="2260242" y="2809858"/>
            <a:ext cx="1455313" cy="440724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6FEE1A5-7354-EA40-A1A5-749F163A16A4}"/>
              </a:ext>
            </a:extLst>
          </p:cNvPr>
          <p:cNvSpPr/>
          <p:nvPr/>
        </p:nvSpPr>
        <p:spPr>
          <a:xfrm>
            <a:off x="2399763" y="5022760"/>
            <a:ext cx="671848" cy="30909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3061B64-E28F-4BD5-2B05-4B0984849715}"/>
              </a:ext>
            </a:extLst>
          </p:cNvPr>
          <p:cNvSpPr/>
          <p:nvPr/>
        </p:nvSpPr>
        <p:spPr>
          <a:xfrm>
            <a:off x="2419080" y="5331853"/>
            <a:ext cx="1071095" cy="30909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474DB07-9EFF-BC00-CD45-D7914EBFA531}"/>
              </a:ext>
            </a:extLst>
          </p:cNvPr>
          <p:cNvSpPr/>
          <p:nvPr/>
        </p:nvSpPr>
        <p:spPr>
          <a:xfrm>
            <a:off x="2880574" y="5837489"/>
            <a:ext cx="671848" cy="30909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E1BCDBC-20AE-FCA8-9D23-3CA87D3007FA}"/>
              </a:ext>
            </a:extLst>
          </p:cNvPr>
          <p:cNvSpPr/>
          <p:nvPr/>
        </p:nvSpPr>
        <p:spPr>
          <a:xfrm>
            <a:off x="2899891" y="6146582"/>
            <a:ext cx="1071095" cy="30909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0552B17-9948-0971-EC8B-2567434F7EB0}"/>
              </a:ext>
            </a:extLst>
          </p:cNvPr>
          <p:cNvSpPr/>
          <p:nvPr/>
        </p:nvSpPr>
        <p:spPr>
          <a:xfrm>
            <a:off x="4750158" y="4296353"/>
            <a:ext cx="3310477" cy="6244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类型参数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变元实例化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（仓颉中可以自动推导）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773FCD1-F156-9191-A4F5-E474B5BC65A1}"/>
              </a:ext>
            </a:extLst>
          </p:cNvPr>
          <p:cNvCxnSpPr>
            <a:cxnSpLocks/>
            <a:stCxn id="28" idx="1"/>
            <a:endCxn id="24" idx="3"/>
          </p:cNvCxnSpPr>
          <p:nvPr/>
        </p:nvCxnSpPr>
        <p:spPr>
          <a:xfrm flipH="1">
            <a:off x="3071611" y="4608595"/>
            <a:ext cx="1678547" cy="56871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91DCD9C-B8C8-446E-6858-06C79C7B5C5E}"/>
              </a:ext>
            </a:extLst>
          </p:cNvPr>
          <p:cNvCxnSpPr>
            <a:cxnSpLocks/>
            <a:stCxn id="28" idx="1"/>
            <a:endCxn id="25" idx="3"/>
          </p:cNvCxnSpPr>
          <p:nvPr/>
        </p:nvCxnSpPr>
        <p:spPr>
          <a:xfrm flipH="1">
            <a:off x="3490175" y="4608595"/>
            <a:ext cx="1259983" cy="877805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96C12E9-8FE8-D321-C2E4-FCCD457875ED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3552422" y="4608595"/>
            <a:ext cx="1197736" cy="1383441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1AC58AA-DF29-C394-FDD6-0AB654644DC9}"/>
              </a:ext>
            </a:extLst>
          </p:cNvPr>
          <p:cNvCxnSpPr>
            <a:cxnSpLocks/>
            <a:stCxn id="28" idx="1"/>
            <a:endCxn id="27" idx="3"/>
          </p:cNvCxnSpPr>
          <p:nvPr/>
        </p:nvCxnSpPr>
        <p:spPr>
          <a:xfrm flipH="1">
            <a:off x="3970986" y="4608595"/>
            <a:ext cx="779172" cy="1692534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23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72D1A-E14D-00B5-7979-CF1BF1E3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3BD32-2249-E09F-1E97-D562C3F1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参数化多态（泛型）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4123DF-DA54-D63B-CC0D-428A44437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663" y="1409684"/>
            <a:ext cx="2449476" cy="51195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18F0BF6-022E-2A32-D57B-0B1D15DD7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854" y="1409684"/>
            <a:ext cx="4435647" cy="533579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F2A3B16-C9FC-4558-D834-43C1A3818CC7}"/>
              </a:ext>
            </a:extLst>
          </p:cNvPr>
          <p:cNvSpPr txBox="1"/>
          <p:nvPr/>
        </p:nvSpPr>
        <p:spPr>
          <a:xfrm>
            <a:off x="606430" y="2472743"/>
            <a:ext cx="2582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std.collection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接口和类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9529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D2306-635D-B4CD-AEEF-A509EB8C1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29000-D8C2-E0C0-68E4-E1BB5812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参数化多态（泛型）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A14B9D-302F-91C9-454E-93EB85BFB978}"/>
              </a:ext>
            </a:extLst>
          </p:cNvPr>
          <p:cNvSpPr txBox="1"/>
          <p:nvPr/>
        </p:nvSpPr>
        <p:spPr>
          <a:xfrm>
            <a:off x="8859078" y="2509125"/>
            <a:ext cx="2305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如何实现？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93F7F9-93BF-F668-8D34-2B5502429480}"/>
              </a:ext>
            </a:extLst>
          </p:cNvPr>
          <p:cNvSpPr txBox="1"/>
          <p:nvPr/>
        </p:nvSpPr>
        <p:spPr>
          <a:xfrm>
            <a:off x="9217586" y="3198166"/>
            <a:ext cx="2928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代码实例化（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431F0F-FD75-757D-3184-06BA85DB0BEE}"/>
              </a:ext>
            </a:extLst>
          </p:cNvPr>
          <p:cNvSpPr txBox="1"/>
          <p:nvPr/>
        </p:nvSpPr>
        <p:spPr>
          <a:xfrm>
            <a:off x="9217586" y="3887207"/>
            <a:ext cx="2305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类型擦除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16A137-24FC-128F-D916-CC0811CE1287}"/>
              </a:ext>
            </a:extLst>
          </p:cNvPr>
          <p:cNvSpPr txBox="1"/>
          <p:nvPr/>
        </p:nvSpPr>
        <p:spPr>
          <a:xfrm>
            <a:off x="309093" y="1690688"/>
            <a:ext cx="8361142" cy="4801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enum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MyList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&gt;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|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Nil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|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MyList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&gt;)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func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length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&gt;(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MyList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&gt;):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match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case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=&gt;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0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case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(_,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tail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=&gt;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+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length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tail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lst1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MyList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&gt;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lst2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MyList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String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&gt;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"a"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"b"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"c"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l1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length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&gt;(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lst1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// Should be 3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l2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length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&lt;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String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&gt;(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lst2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// Should be 3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7337F122-C096-F919-0BFE-EDE5DB83B61B}"/>
              </a:ext>
            </a:extLst>
          </p:cNvPr>
          <p:cNvSpPr/>
          <p:nvPr/>
        </p:nvSpPr>
        <p:spPr>
          <a:xfrm>
            <a:off x="4024647" y="1328302"/>
            <a:ext cx="1609859" cy="608862"/>
          </a:xfrm>
          <a:prstGeom prst="wedgeRoundRectCallout">
            <a:avLst>
              <a:gd name="adj1" fmla="val -118997"/>
              <a:gd name="adj2" fmla="val 5566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泛型类型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F9F6A1A2-B8E0-E471-C030-46C2A26520D5}"/>
              </a:ext>
            </a:extLst>
          </p:cNvPr>
          <p:cNvSpPr/>
          <p:nvPr/>
        </p:nvSpPr>
        <p:spPr>
          <a:xfrm>
            <a:off x="6540321" y="2573416"/>
            <a:ext cx="1609859" cy="608862"/>
          </a:xfrm>
          <a:prstGeom prst="wedgeRoundRectCallout">
            <a:avLst>
              <a:gd name="adj1" fmla="val -116597"/>
              <a:gd name="adj2" fmla="val 7047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泛型函数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982F96F-EE2C-2790-4FAA-4421A32D1823}"/>
              </a:ext>
            </a:extLst>
          </p:cNvPr>
          <p:cNvSpPr/>
          <p:nvPr/>
        </p:nvSpPr>
        <p:spPr>
          <a:xfrm>
            <a:off x="1738648" y="1716444"/>
            <a:ext cx="521594" cy="40856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A23082D-2BE1-939B-A7BA-9FB8525B0AA6}"/>
              </a:ext>
            </a:extLst>
          </p:cNvPr>
          <p:cNvSpPr/>
          <p:nvPr/>
        </p:nvSpPr>
        <p:spPr>
          <a:xfrm>
            <a:off x="1738648" y="3046298"/>
            <a:ext cx="521594" cy="40856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2A0D74E-C43F-BBD4-43ED-5F00C1E7C80E}"/>
              </a:ext>
            </a:extLst>
          </p:cNvPr>
          <p:cNvSpPr/>
          <p:nvPr/>
        </p:nvSpPr>
        <p:spPr>
          <a:xfrm>
            <a:off x="3715555" y="2573417"/>
            <a:ext cx="1564783" cy="4728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类型变元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2F82F56-CAB9-01C7-014F-A560C32B4DCA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 flipV="1">
            <a:off x="2260242" y="1920728"/>
            <a:ext cx="1455313" cy="889130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8DACFFB-3D8B-5E24-E8B4-1AE2BDB0B831}"/>
              </a:ext>
            </a:extLst>
          </p:cNvPr>
          <p:cNvCxnSpPr>
            <a:stCxn id="15" idx="1"/>
            <a:endCxn id="14" idx="3"/>
          </p:cNvCxnSpPr>
          <p:nvPr/>
        </p:nvCxnSpPr>
        <p:spPr>
          <a:xfrm flipH="1">
            <a:off x="2260242" y="2809858"/>
            <a:ext cx="1455313" cy="440724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AD5827D-C406-CD1F-24E0-7E6724A2EA4B}"/>
              </a:ext>
            </a:extLst>
          </p:cNvPr>
          <p:cNvSpPr/>
          <p:nvPr/>
        </p:nvSpPr>
        <p:spPr>
          <a:xfrm>
            <a:off x="2399763" y="5022760"/>
            <a:ext cx="671848" cy="30909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15E1A35-AC06-55F8-5EF4-9D03BE3C5F4A}"/>
              </a:ext>
            </a:extLst>
          </p:cNvPr>
          <p:cNvSpPr/>
          <p:nvPr/>
        </p:nvSpPr>
        <p:spPr>
          <a:xfrm>
            <a:off x="2419080" y="5331853"/>
            <a:ext cx="1071095" cy="30909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C4A5B5D-D347-5206-8B92-AB55855A0C69}"/>
              </a:ext>
            </a:extLst>
          </p:cNvPr>
          <p:cNvSpPr/>
          <p:nvPr/>
        </p:nvSpPr>
        <p:spPr>
          <a:xfrm>
            <a:off x="2880574" y="5837489"/>
            <a:ext cx="671848" cy="30909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F9E7833-9B8D-9900-4C79-86035C68A9D7}"/>
              </a:ext>
            </a:extLst>
          </p:cNvPr>
          <p:cNvSpPr/>
          <p:nvPr/>
        </p:nvSpPr>
        <p:spPr>
          <a:xfrm>
            <a:off x="2899891" y="6146582"/>
            <a:ext cx="1071095" cy="30909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073BE99-210A-6E6B-1CE1-A31C7F76D324}"/>
              </a:ext>
            </a:extLst>
          </p:cNvPr>
          <p:cNvSpPr/>
          <p:nvPr/>
        </p:nvSpPr>
        <p:spPr>
          <a:xfrm>
            <a:off x="4750158" y="4296353"/>
            <a:ext cx="3310477" cy="6244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类型参数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变元实例化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（仓颉中可以自动推导）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899D225-C425-35A1-B9E7-326205F43706}"/>
              </a:ext>
            </a:extLst>
          </p:cNvPr>
          <p:cNvCxnSpPr>
            <a:cxnSpLocks/>
            <a:stCxn id="28" idx="1"/>
            <a:endCxn id="24" idx="3"/>
          </p:cNvCxnSpPr>
          <p:nvPr/>
        </p:nvCxnSpPr>
        <p:spPr>
          <a:xfrm flipH="1">
            <a:off x="3071611" y="4608595"/>
            <a:ext cx="1678547" cy="56871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65CCCBF-6624-C7D9-15E4-8A30B6D78F0A}"/>
              </a:ext>
            </a:extLst>
          </p:cNvPr>
          <p:cNvCxnSpPr>
            <a:cxnSpLocks/>
            <a:stCxn id="28" idx="1"/>
            <a:endCxn id="25" idx="3"/>
          </p:cNvCxnSpPr>
          <p:nvPr/>
        </p:nvCxnSpPr>
        <p:spPr>
          <a:xfrm flipH="1">
            <a:off x="3490175" y="4608595"/>
            <a:ext cx="1259983" cy="877805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2B37FB0-FA4A-0810-B99E-23AFEF346102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3552422" y="4608595"/>
            <a:ext cx="1197736" cy="1383441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90B8348-5AE0-6A73-C12E-76F11B8D8DC3}"/>
              </a:ext>
            </a:extLst>
          </p:cNvPr>
          <p:cNvCxnSpPr>
            <a:cxnSpLocks/>
            <a:stCxn id="28" idx="1"/>
            <a:endCxn id="27" idx="3"/>
          </p:cNvCxnSpPr>
          <p:nvPr/>
        </p:nvCxnSpPr>
        <p:spPr>
          <a:xfrm flipH="1">
            <a:off x="3970986" y="4608595"/>
            <a:ext cx="779172" cy="1692534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175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8ADE2-C544-4FB0-B69C-5A1D0986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子类型（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Subtyping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6B5018-D2F3-4831-996F-6C23D478D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06" y="1786204"/>
            <a:ext cx="9758298" cy="4722290"/>
          </a:xfrm>
          <a:prstGeom prst="rect">
            <a:avLst/>
          </a:prstGeom>
        </p:spPr>
      </p:pic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4A00B0CC-78C2-4162-82A3-E4D361E42993}"/>
              </a:ext>
            </a:extLst>
          </p:cNvPr>
          <p:cNvSpPr/>
          <p:nvPr/>
        </p:nvSpPr>
        <p:spPr>
          <a:xfrm>
            <a:off x="6967330" y="1172817"/>
            <a:ext cx="2276061" cy="732656"/>
          </a:xfrm>
          <a:prstGeom prst="wedgeRoundRectCallout">
            <a:avLst>
              <a:gd name="adj1" fmla="val -78197"/>
              <a:gd name="adj2" fmla="val 983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里氏替换原则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50" name="Picture 2" descr="Barbara Liskov | Biography, A.M. Turing Award, &amp; Facts | Britannica">
            <a:extLst>
              <a:ext uri="{FF2B5EF4-FFF2-40B4-BE49-F238E27FC236}">
                <a16:creationId xmlns:a16="http://schemas.microsoft.com/office/drawing/2014/main" id="{08DDC47F-96A2-4275-A8C1-7D35607BB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9127" y="171984"/>
            <a:ext cx="1763604" cy="177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27ACDA8-08D4-43B9-9F9E-A489FD3CBD82}"/>
              </a:ext>
            </a:extLst>
          </p:cNvPr>
          <p:cNvSpPr/>
          <p:nvPr/>
        </p:nvSpPr>
        <p:spPr>
          <a:xfrm>
            <a:off x="9889127" y="1913644"/>
            <a:ext cx="2332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Barbara Liskov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2008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年图灵机得主）</a:t>
            </a:r>
          </a:p>
        </p:txBody>
      </p:sp>
    </p:spTree>
    <p:extLst>
      <p:ext uri="{BB962C8B-B14F-4D97-AF65-F5344CB8AC3E}">
        <p14:creationId xmlns:p14="http://schemas.microsoft.com/office/powerpoint/2010/main" val="936718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8ADE2-C544-4FB0-B69C-5A1D0986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子类型和型变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FB9E2C-9884-492C-A92B-4E0879865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971" y="2040627"/>
            <a:ext cx="6744284" cy="96782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1590271-BA8D-41AA-BF74-B8B2DAF0E76A}"/>
              </a:ext>
            </a:extLst>
          </p:cNvPr>
          <p:cNvSpPr txBox="1"/>
          <p:nvPr/>
        </p:nvSpPr>
        <p:spPr>
          <a:xfrm>
            <a:off x="1824367" y="2052935"/>
            <a:ext cx="1057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协变：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E8C35F-390A-40F2-9846-7E1C0CF10505}"/>
              </a:ext>
            </a:extLst>
          </p:cNvPr>
          <p:cNvSpPr txBox="1"/>
          <p:nvPr/>
        </p:nvSpPr>
        <p:spPr>
          <a:xfrm>
            <a:off x="1824367" y="2514600"/>
            <a:ext cx="1057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逆变：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D71D0F-329F-4414-95FE-59559229386B}"/>
              </a:ext>
            </a:extLst>
          </p:cNvPr>
          <p:cNvSpPr txBox="1"/>
          <p:nvPr/>
        </p:nvSpPr>
        <p:spPr>
          <a:xfrm>
            <a:off x="1824367" y="3512404"/>
            <a:ext cx="6744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例子：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A &lt;: 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，那么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List&lt;A&gt; &lt;: List&lt;B&gt;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6999FCA-7DA9-453A-A91D-5E4F9A320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367" y="4648675"/>
            <a:ext cx="6332769" cy="1844200"/>
          </a:xfrm>
          <a:prstGeom prst="rect">
            <a:avLst/>
          </a:prstGeom>
        </p:spPr>
      </p:pic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4143DD8A-013D-41C3-A286-51D12ABDD5D0}"/>
              </a:ext>
            </a:extLst>
          </p:cNvPr>
          <p:cNvSpPr/>
          <p:nvPr/>
        </p:nvSpPr>
        <p:spPr>
          <a:xfrm>
            <a:off x="7663071" y="4252530"/>
            <a:ext cx="1421296" cy="606287"/>
          </a:xfrm>
          <a:prstGeom prst="wedgeRoundRectCallout">
            <a:avLst>
              <a:gd name="adj1" fmla="val -58904"/>
              <a:gd name="adj2" fmla="val 9364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协变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60B31A95-D738-4120-ADE2-0416BB1D0D4D}"/>
              </a:ext>
            </a:extLst>
          </p:cNvPr>
          <p:cNvSpPr/>
          <p:nvPr/>
        </p:nvSpPr>
        <p:spPr>
          <a:xfrm>
            <a:off x="7988170" y="5295799"/>
            <a:ext cx="1421296" cy="606287"/>
          </a:xfrm>
          <a:prstGeom prst="wedgeRoundRectCallout">
            <a:avLst>
              <a:gd name="adj1" fmla="val -58904"/>
              <a:gd name="adj2" fmla="val 9364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逆变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75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8ADE2-C544-4FB0-B69C-5A1D0986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子类型和型变（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A4AF2C-0D8C-4E75-BF96-C684882BC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980" y="1858618"/>
            <a:ext cx="6001871" cy="432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6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8ADE2-C544-4FB0-B69C-5A1D0986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子类型和型变（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85A1F1-2E5D-4C1C-8B48-27CFC7340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947" y="2053320"/>
            <a:ext cx="7238139" cy="412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26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FACF7-9C34-7511-3A62-A5D069F42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后续课程中展开介绍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64F56E-89BC-E14E-79A2-E8DD1EFE9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子类型多态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泛型：参数化多态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泛型和子类型多态的区别和结合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 classes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9915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8F86B-A10A-4F78-B8D2-DDECEC06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71" y="31827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数组的协变（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covariance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057D6F-064F-424B-AAA2-A3AA703A3E50}"/>
              </a:ext>
            </a:extLst>
          </p:cNvPr>
          <p:cNvSpPr txBox="1"/>
          <p:nvPr/>
        </p:nvSpPr>
        <p:spPr>
          <a:xfrm>
            <a:off x="1212573" y="1769165"/>
            <a:ext cx="9283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数组协变：如果类型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Animal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的子类型，那么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Dog[ ]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Animal[ ]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的子类型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422055-7702-4111-B014-B7FA881E6270}"/>
              </a:ext>
            </a:extLst>
          </p:cNvPr>
          <p:cNvSpPr txBox="1"/>
          <p:nvPr/>
        </p:nvSpPr>
        <p:spPr>
          <a:xfrm>
            <a:off x="6738730" y="2527852"/>
            <a:ext cx="213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子类型关系：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314D5B-D2A9-4933-AF73-32FFEB82EC1D}"/>
              </a:ext>
            </a:extLst>
          </p:cNvPr>
          <p:cNvSpPr/>
          <p:nvPr/>
        </p:nvSpPr>
        <p:spPr>
          <a:xfrm>
            <a:off x="9216058" y="2649547"/>
            <a:ext cx="1679713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Animal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30C123B-8D04-4518-8AD5-AB97FF3D29BB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flipH="1">
            <a:off x="8875643" y="3049657"/>
            <a:ext cx="1180272" cy="680327"/>
          </a:xfrm>
          <a:prstGeom prst="straightConnector1">
            <a:avLst/>
          </a:prstGeom>
          <a:ln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81289AF-34AF-4D09-9338-5F108AD6BC8F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>
            <a:off x="10055915" y="3049657"/>
            <a:ext cx="971549" cy="706063"/>
          </a:xfrm>
          <a:prstGeom prst="straightConnector1">
            <a:avLst/>
          </a:prstGeom>
          <a:ln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1E2EA00-0960-40C8-8651-A0647F9C004F}"/>
              </a:ext>
            </a:extLst>
          </p:cNvPr>
          <p:cNvSpPr/>
          <p:nvPr/>
        </p:nvSpPr>
        <p:spPr>
          <a:xfrm>
            <a:off x="8197297" y="3729984"/>
            <a:ext cx="1356692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Dog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325341-DA7F-4255-9C3A-3EBEFEFFB42E}"/>
              </a:ext>
            </a:extLst>
          </p:cNvPr>
          <p:cNvSpPr/>
          <p:nvPr/>
        </p:nvSpPr>
        <p:spPr>
          <a:xfrm>
            <a:off x="10349118" y="3755720"/>
            <a:ext cx="1356692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2DDB29-616D-4AC3-B2D3-65B3B0705BB8}"/>
              </a:ext>
            </a:extLst>
          </p:cNvPr>
          <p:cNvSpPr txBox="1"/>
          <p:nvPr/>
        </p:nvSpPr>
        <p:spPr>
          <a:xfrm>
            <a:off x="778565" y="3252931"/>
            <a:ext cx="8172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Dog[] d = {d1, d2, …};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Animal[] a = d;          // covariance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Cat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cat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new Cat();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a[0] = cat;              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Cat &lt;: Animal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Dog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dog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d[0];          // a cat is converted to a dog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958A4140-D595-46F3-A477-7044E55316E9}"/>
              </a:ext>
            </a:extLst>
          </p:cNvPr>
          <p:cNvSpPr/>
          <p:nvPr/>
        </p:nvSpPr>
        <p:spPr>
          <a:xfrm>
            <a:off x="2027584" y="5332226"/>
            <a:ext cx="5029200" cy="989061"/>
          </a:xfrm>
          <a:prstGeom prst="wedgeRoundRectCallout">
            <a:avLst>
              <a:gd name="adj1" fmla="val -52811"/>
              <a:gd name="adj2" fmla="val -83456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Statically unsound! Java has to throw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ArrayStoreException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at runtime!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8ADE2-C544-4FB0-B69C-5A1D0986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泛型约束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29ED1B-FF36-48E0-B718-767A52087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83" y="2454390"/>
            <a:ext cx="4339650" cy="194921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71D5D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fun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max&lt;T&gt;(x: T, y: T): 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71D5D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if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(x &gt; 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return 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71D5D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else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return 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54CF85A-4CD0-4CB6-837E-48B9F070D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0167" y="2300502"/>
            <a:ext cx="4185761" cy="225699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71D5D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fun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max&lt;T&gt;(x: T, y: T): 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71D5D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where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T &lt;: Comparable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71D5D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if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(x &gt; 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return 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71D5D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else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return 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D4E371-8F40-41FF-8820-82AF3ED36E7D}"/>
              </a:ext>
            </a:extLst>
          </p:cNvPr>
          <p:cNvSpPr txBox="1"/>
          <p:nvPr/>
        </p:nvSpPr>
        <p:spPr>
          <a:xfrm>
            <a:off x="2790307" y="2645877"/>
            <a:ext cx="442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  <a:sym typeface="Wingdings 2" panose="05020102010507070707" pitchFamily="18" charset="2"/>
              </a:rPr>
              <a:t>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A24E73-8A09-4997-ABCB-C238405075E7}"/>
              </a:ext>
            </a:extLst>
          </p:cNvPr>
          <p:cNvSpPr txBox="1"/>
          <p:nvPr/>
        </p:nvSpPr>
        <p:spPr>
          <a:xfrm>
            <a:off x="9205258" y="2778398"/>
            <a:ext cx="442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  <a:sym typeface="Wingdings 2" panose="05020102010507070707" pitchFamily="18" charset="2"/>
              </a:rPr>
              <a:t>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E270B8AE-955A-4A03-85D9-F253B87165AF}"/>
              </a:ext>
            </a:extLst>
          </p:cNvPr>
          <p:cNvSpPr/>
          <p:nvPr/>
        </p:nvSpPr>
        <p:spPr>
          <a:xfrm>
            <a:off x="5516217" y="3292208"/>
            <a:ext cx="964096" cy="3554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46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3590</TotalTime>
  <Words>973</Words>
  <Application>Microsoft Office PowerPoint</Application>
  <PresentationFormat>宽屏</PresentationFormat>
  <Paragraphs>130</Paragraphs>
  <Slides>13</Slides>
  <Notes>1</Notes>
  <HiddenSlides>2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Consolas</vt:lpstr>
      <vt:lpstr>Courier New</vt:lpstr>
      <vt:lpstr>Office 主题​​</vt:lpstr>
      <vt:lpstr>1_Office 主题​​</vt:lpstr>
      <vt:lpstr>2_Office 主题​​</vt:lpstr>
      <vt:lpstr>多态（Polymorphism）</vt:lpstr>
      <vt:lpstr>什么是多态（Polymorphism）？</vt:lpstr>
      <vt:lpstr>多态 —— 重载</vt:lpstr>
      <vt:lpstr>参数化多态（泛型）</vt:lpstr>
      <vt:lpstr>参数化多态（泛型）</vt:lpstr>
      <vt:lpstr>参数化多态（泛型）</vt:lpstr>
      <vt:lpstr>子类型（Subtyping）</vt:lpstr>
      <vt:lpstr>子类型和型变</vt:lpstr>
      <vt:lpstr>子类型和型变（2）</vt:lpstr>
      <vt:lpstr>子类型和型变（3）</vt:lpstr>
      <vt:lpstr>后续课程中展开介绍</vt:lpstr>
      <vt:lpstr>Java数组的协变（covariance）</vt:lpstr>
      <vt:lpstr>泛型约束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多态（Polymorphism）</dc:title>
  <dc:creator>冯 新宇</dc:creator>
  <cp:lastModifiedBy>新宇 冯</cp:lastModifiedBy>
  <cp:revision>10</cp:revision>
  <dcterms:created xsi:type="dcterms:W3CDTF">2024-03-25T03:08:07Z</dcterms:created>
  <dcterms:modified xsi:type="dcterms:W3CDTF">2026-10-10T13:10:16Z</dcterms:modified>
</cp:coreProperties>
</file>