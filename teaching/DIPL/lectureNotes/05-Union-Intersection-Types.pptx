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12192000" cy="6858000"/>
  <p:embeddedFontLst>
    <p:embeddedFont>
      <p:font typeface="MiSans" panose="02010600030101010101" charset="-122"/>
      <p:regular r:id="rId33"/>
    </p:embeddedFont>
    <p:embeddedFont>
      <p:font typeface="JetBrains Mono" panose="02010600030101010101" charset="0"/>
      <p:regular r:id="rId34"/>
    </p:embeddedFont>
    <p:embeddedFont>
      <p:font typeface="思源宋体"/>
      <p:regular r:id="rId3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51" y="2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rule"/>
          <p:cNvSpPr/>
          <p:nvPr/>
        </p:nvSpPr>
        <p:spPr>
          <a:xfrm>
            <a:off x="762000" y="1270000"/>
            <a:ext cx="609600" cy="508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3" name="cover-kicker"/>
          <p:cNvSpPr txBox="1"/>
          <p:nvPr/>
        </p:nvSpPr>
        <p:spPr>
          <a:xfrm>
            <a:off x="762000" y="1498600"/>
            <a:ext cx="660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类型系统 · 课程讲义</a:t>
            </a:r>
            <a:endParaRPr lang="en-US" sz="1200" noProof="1"/>
          </a:p>
        </p:txBody>
      </p:sp>
      <p:sp>
        <p:nvSpPr>
          <p:cNvPr id="4" name="cover-title"/>
          <p:cNvSpPr txBox="1"/>
          <p:nvPr/>
        </p:nvSpPr>
        <p:spPr>
          <a:xfrm>
            <a:off x="762000" y="1930400"/>
            <a:ext cx="7112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600" b="1" noProof="1">
                <a:solidFill>
                  <a:srgbClr val="23272E"/>
                </a:solidFill>
                <a:latin typeface="思源宋体"/>
                <a:ea typeface="思源宋体"/>
              </a:rPr>
              <a:t>并类型与交类型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lang="en-US" sz="2000" noProof="1">
                <a:solidFill>
                  <a:srgbClr val="6E6A61"/>
                </a:solidFill>
                <a:latin typeface="思源宋体"/>
                <a:ea typeface="思源宋体"/>
              </a:rPr>
              <a:t>Union Types &amp; Intersection Types</a:t>
            </a:r>
            <a:endParaRPr lang="en-US" sz="1600" noProof="1"/>
          </a:p>
        </p:txBody>
      </p:sp>
      <p:sp>
        <p:nvSpPr>
          <p:cNvPr id="5" name="cover-subtitle"/>
          <p:cNvSpPr txBox="1"/>
          <p:nvPr/>
        </p:nvSpPr>
        <p:spPr>
          <a:xfrm>
            <a:off x="762000" y="3759200"/>
            <a:ext cx="685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6E6A61"/>
                </a:solidFill>
                <a:latin typeface="MiSans"/>
                <a:ea typeface="MiSans"/>
              </a:rPr>
              <a:t>基本概念 · 类型规则 · 与代数数据类型的关系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6E6A61"/>
                </a:solidFill>
                <a:latin typeface="MiSans"/>
                <a:ea typeface="MiSans"/>
              </a:rPr>
              <a:t>语言设计取舍 · 实现方式与程序性能</a:t>
            </a:r>
            <a:endParaRPr lang="en-US" sz="1600" noProof="1"/>
          </a:p>
        </p:txBody>
      </p:sp>
      <p:sp>
        <p:nvSpPr>
          <p:cNvPr id="6" name="cover-meta"/>
          <p:cNvSpPr txBox="1"/>
          <p:nvPr/>
        </p:nvSpPr>
        <p:spPr>
          <a:xfrm>
            <a:off x="762000" y="5588000"/>
            <a:ext cx="685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E6A61"/>
                </a:solidFill>
                <a:latin typeface="MiSans"/>
                <a:ea typeface="MiSans"/>
              </a:rPr>
              <a:t>适用：编程语言 / 类型系统课程 · 高年级本科与研究生</a:t>
            </a:r>
            <a:endParaRPr lang="en-US" sz="1400" noProof="1"/>
          </a:p>
        </p:txBody>
      </p:sp>
      <p:sp>
        <p:nvSpPr>
          <p:cNvPr id="7" name="cover-circle-a"/>
          <p:cNvSpPr/>
          <p:nvPr/>
        </p:nvSpPr>
        <p:spPr>
          <a:xfrm>
            <a:off x="7772400" y="1905000"/>
            <a:ext cx="2540000" cy="2540000"/>
          </a:xfrm>
          <a:prstGeom prst="ellipse">
            <a:avLst/>
          </a:prstGeom>
          <a:solidFill>
            <a:srgbClr val="7B2D26">
              <a:alpha val="10980"/>
            </a:srgbClr>
          </a:solidFill>
          <a:ln w="19050">
            <a:solidFill>
              <a:srgbClr val="7B2D26"/>
            </a:solidFill>
          </a:ln>
        </p:spPr>
      </p:sp>
      <p:sp>
        <p:nvSpPr>
          <p:cNvPr id="8" name="cover-circle-b"/>
          <p:cNvSpPr/>
          <p:nvPr/>
        </p:nvSpPr>
        <p:spPr>
          <a:xfrm>
            <a:off x="9296400" y="1905000"/>
            <a:ext cx="2540000" cy="2540000"/>
          </a:xfrm>
          <a:prstGeom prst="ellipse">
            <a:avLst/>
          </a:prstGeom>
          <a:solidFill>
            <a:srgbClr val="8C6D1F">
              <a:alpha val="10980"/>
            </a:srgbClr>
          </a:solidFill>
          <a:ln w="19050">
            <a:solidFill>
              <a:srgbClr val="8C6D1F"/>
            </a:solidFill>
          </a:ln>
        </p:spPr>
      </p:sp>
      <p:sp>
        <p:nvSpPr>
          <p:cNvPr id="9" name="cover-label-a"/>
          <p:cNvSpPr txBox="1"/>
          <p:nvPr/>
        </p:nvSpPr>
        <p:spPr>
          <a:xfrm>
            <a:off x="8153400" y="30226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noProof="1">
                <a:solidFill>
                  <a:srgbClr val="7B2D26"/>
                </a:solidFill>
                <a:latin typeface="MiSans"/>
                <a:ea typeface="MiSans"/>
              </a:rPr>
              <a:t>A</a:t>
            </a:r>
            <a:endParaRPr lang="en-US" sz="2000" noProof="1"/>
          </a:p>
        </p:txBody>
      </p:sp>
      <p:sp>
        <p:nvSpPr>
          <p:cNvPr id="10" name="cover-label-b"/>
          <p:cNvSpPr txBox="1"/>
          <p:nvPr/>
        </p:nvSpPr>
        <p:spPr>
          <a:xfrm>
            <a:off x="10947400" y="30226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noProof="1">
                <a:solidFill>
                  <a:srgbClr val="8C6D1F"/>
                </a:solidFill>
                <a:latin typeface="MiSans"/>
                <a:ea typeface="MiSans"/>
              </a:rPr>
              <a:t>B</a:t>
            </a:r>
            <a:endParaRPr lang="en-US" sz="2000" noProof="1"/>
          </a:p>
        </p:txBody>
      </p:sp>
      <p:sp>
        <p:nvSpPr>
          <p:cNvPr id="11" name="cover-label-ab"/>
          <p:cNvSpPr txBox="1"/>
          <p:nvPr/>
        </p:nvSpPr>
        <p:spPr>
          <a:xfrm>
            <a:off x="9423400" y="30480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A ∩ B</a:t>
            </a:r>
            <a:endParaRPr lang="en-US" sz="1600" noProof="1"/>
          </a:p>
        </p:txBody>
      </p:sp>
      <p:sp>
        <p:nvSpPr>
          <p:cNvPr id="12" name="cover-caption"/>
          <p:cNvSpPr txBox="1"/>
          <p:nvPr/>
        </p:nvSpPr>
        <p:spPr>
          <a:xfrm>
            <a:off x="7899400" y="4724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noProof="1">
                <a:solidFill>
                  <a:srgbClr val="6E6A61"/>
                </a:solidFill>
                <a:latin typeface="MiSans"/>
                <a:ea typeface="MiSans"/>
              </a:rPr>
              <a:t>并集 ∪ 与交集 ∩：组合类型的两种方式</a:t>
            </a:r>
            <a:endParaRPr lang="en-US" sz="14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LEARNING ROUTE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3272E"/>
                </a:solidFill>
                <a:latin typeface="思源宋体"/>
                <a:ea typeface="思源宋体"/>
              </a:rPr>
              <a:t>本讲要回答的四个问题</a:t>
            </a:r>
            <a:endParaRPr lang="en-US" sz="2700" noProof="1"/>
          </a:p>
        </p:txBody>
      </p:sp>
      <p:sp>
        <p:nvSpPr>
          <p:cNvPr id="4" name="rule-accent"/>
          <p:cNvSpPr/>
          <p:nvPr/>
        </p:nvSpPr>
        <p:spPr>
          <a:xfrm>
            <a:off x="762000" y="1346200"/>
            <a:ext cx="812800" cy="381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5" name="rule-line"/>
          <p:cNvSpPr/>
          <p:nvPr/>
        </p:nvSpPr>
        <p:spPr>
          <a:xfrm>
            <a:off x="762000" y="1358900"/>
            <a:ext cx="106680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6" name="q1-num"/>
          <p:cNvSpPr txBox="1"/>
          <p:nvPr/>
        </p:nvSpPr>
        <p:spPr>
          <a:xfrm>
            <a:off x="762000" y="1752600"/>
            <a:ext cx="812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7B2D26"/>
                </a:solidFill>
                <a:latin typeface="思源宋体"/>
                <a:ea typeface="思源宋体"/>
              </a:rPr>
              <a:t>01</a:t>
            </a:r>
            <a:endParaRPr lang="en-US" sz="2600" noProof="1"/>
          </a:p>
        </p:txBody>
      </p:sp>
      <p:sp>
        <p:nvSpPr>
          <p:cNvPr id="7" name="q1-title"/>
          <p:cNvSpPr txBox="1"/>
          <p:nvPr/>
        </p:nvSpPr>
        <p:spPr>
          <a:xfrm>
            <a:off x="1778000" y="17526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23272E"/>
                </a:solidFill>
                <a:latin typeface="MiSans"/>
                <a:ea typeface="MiSans"/>
              </a:rPr>
              <a:t>Union type 是什么？怎么定义、怎么用？</a:t>
            </a:r>
            <a:endParaRPr lang="en-US" sz="1800" noProof="1"/>
          </a:p>
        </p:txBody>
      </p:sp>
      <p:sp>
        <p:nvSpPr>
          <p:cNvPr id="8" name="q1-sub"/>
          <p:cNvSpPr txBox="1"/>
          <p:nvPr/>
        </p:nvSpPr>
        <p:spPr>
          <a:xfrm>
            <a:off x="1778000" y="2133600"/>
            <a:ext cx="9652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E6A61"/>
                </a:solidFill>
                <a:latin typeface="MiSans"/>
                <a:ea typeface="MiSans"/>
              </a:rPr>
              <a:t>集合论含义 · 引入 / 消去规则 · narrowing · 典型用途（第 3–10 页）</a:t>
            </a:r>
            <a:endParaRPr lang="en-US" sz="1400" noProof="1"/>
          </a:p>
        </p:txBody>
      </p:sp>
      <p:sp>
        <p:nvSpPr>
          <p:cNvPr id="9" name="q1-line"/>
          <p:cNvSpPr/>
          <p:nvPr/>
        </p:nvSpPr>
        <p:spPr>
          <a:xfrm>
            <a:off x="1778000" y="2565400"/>
            <a:ext cx="96520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10" name="q2-num"/>
          <p:cNvSpPr txBox="1"/>
          <p:nvPr/>
        </p:nvSpPr>
        <p:spPr>
          <a:xfrm>
            <a:off x="762000" y="2743200"/>
            <a:ext cx="812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7B2D26"/>
                </a:solidFill>
                <a:latin typeface="思源宋体"/>
                <a:ea typeface="思源宋体"/>
              </a:rPr>
              <a:t>02</a:t>
            </a:r>
            <a:endParaRPr lang="en-US" sz="2600" noProof="1"/>
          </a:p>
        </p:txBody>
      </p:sp>
      <p:sp>
        <p:nvSpPr>
          <p:cNvPr id="11" name="q2-title"/>
          <p:cNvSpPr txBox="1"/>
          <p:nvPr/>
        </p:nvSpPr>
        <p:spPr>
          <a:xfrm>
            <a:off x="1778000" y="27432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23272E"/>
                </a:solidFill>
                <a:latin typeface="MiSans"/>
                <a:ea typeface="MiSans"/>
              </a:rPr>
              <a:t>Intersection type 是什么？和 Union 对偶在哪里？</a:t>
            </a:r>
            <a:endParaRPr lang="en-US" sz="1800" noProof="1"/>
          </a:p>
        </p:txBody>
      </p:sp>
      <p:sp>
        <p:nvSpPr>
          <p:cNvPr id="12" name="q2-sub"/>
          <p:cNvSpPr txBox="1"/>
          <p:nvPr/>
        </p:nvSpPr>
        <p:spPr>
          <a:xfrm>
            <a:off x="1778000" y="3124200"/>
            <a:ext cx="9652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E6A61"/>
                </a:solidFill>
                <a:latin typeface="MiSans"/>
                <a:ea typeface="MiSans"/>
              </a:rPr>
              <a:t>集合论含义 · 类型规则 · 多重约束 / mixin / 重载（第 11–16 页）</a:t>
            </a:r>
            <a:endParaRPr lang="en-US" sz="1400" noProof="1"/>
          </a:p>
        </p:txBody>
      </p:sp>
      <p:sp>
        <p:nvSpPr>
          <p:cNvPr id="13" name="q2-line"/>
          <p:cNvSpPr/>
          <p:nvPr/>
        </p:nvSpPr>
        <p:spPr>
          <a:xfrm>
            <a:off x="1778000" y="3556000"/>
            <a:ext cx="96520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14" name="q3-num"/>
          <p:cNvSpPr txBox="1"/>
          <p:nvPr/>
        </p:nvSpPr>
        <p:spPr>
          <a:xfrm>
            <a:off x="762000" y="3733800"/>
            <a:ext cx="812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7B2D26"/>
                </a:solidFill>
                <a:latin typeface="思源宋体"/>
                <a:ea typeface="思源宋体"/>
              </a:rPr>
              <a:t>03</a:t>
            </a:r>
            <a:endParaRPr lang="en-US" sz="2600" noProof="1"/>
          </a:p>
        </p:txBody>
      </p:sp>
      <p:sp>
        <p:nvSpPr>
          <p:cNvPr id="15" name="q3-title"/>
          <p:cNvSpPr txBox="1"/>
          <p:nvPr/>
        </p:nvSpPr>
        <p:spPr>
          <a:xfrm>
            <a:off x="1778000" y="3733800"/>
            <a:ext cx="9652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23272E"/>
                </a:solidFill>
                <a:latin typeface="MiSans"/>
                <a:ea typeface="MiSans"/>
              </a:rPr>
              <a:t>它们与代数数据类型（product / sum）有何区别？如何取舍？</a:t>
            </a:r>
            <a:endParaRPr lang="en-US" sz="1800" noProof="1"/>
          </a:p>
        </p:txBody>
      </p:sp>
      <p:sp>
        <p:nvSpPr>
          <p:cNvPr id="16" name="q3-sub"/>
          <p:cNvSpPr txBox="1"/>
          <p:nvPr/>
        </p:nvSpPr>
        <p:spPr>
          <a:xfrm>
            <a:off x="1778000" y="4114800"/>
            <a:ext cx="9652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E6A61"/>
                </a:solidFill>
                <a:latin typeface="MiSans"/>
                <a:ea typeface="MiSans"/>
              </a:rPr>
              <a:t>有标签 vs 无标签 · 代数性质 · 优缺点 · 语言设计决策（第 17–23 页）</a:t>
            </a:r>
            <a:endParaRPr lang="en-US" sz="1400" noProof="1"/>
          </a:p>
        </p:txBody>
      </p:sp>
      <p:sp>
        <p:nvSpPr>
          <p:cNvPr id="17" name="q3-line"/>
          <p:cNvSpPr/>
          <p:nvPr/>
        </p:nvSpPr>
        <p:spPr>
          <a:xfrm>
            <a:off x="1778000" y="4546600"/>
            <a:ext cx="96520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18" name="q4-num"/>
          <p:cNvSpPr txBox="1"/>
          <p:nvPr/>
        </p:nvSpPr>
        <p:spPr>
          <a:xfrm>
            <a:off x="762000" y="4724400"/>
            <a:ext cx="812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7B2D26"/>
                </a:solidFill>
                <a:latin typeface="思源宋体"/>
                <a:ea typeface="思源宋体"/>
              </a:rPr>
              <a:t>04</a:t>
            </a:r>
            <a:endParaRPr lang="en-US" sz="2600" noProof="1"/>
          </a:p>
        </p:txBody>
      </p:sp>
      <p:sp>
        <p:nvSpPr>
          <p:cNvPr id="19" name="q4-title"/>
          <p:cNvSpPr txBox="1"/>
          <p:nvPr/>
        </p:nvSpPr>
        <p:spPr>
          <a:xfrm>
            <a:off x="1778000" y="4724400"/>
            <a:ext cx="9652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23272E"/>
                </a:solidFill>
                <a:latin typeface="MiSans"/>
                <a:ea typeface="MiSans"/>
              </a:rPr>
              <a:t>它们如何影响语言实现与程序性能？</a:t>
            </a:r>
            <a:endParaRPr lang="en-US" sz="1800" noProof="1"/>
          </a:p>
        </p:txBody>
      </p:sp>
      <p:sp>
        <p:nvSpPr>
          <p:cNvPr id="20" name="q4-sub"/>
          <p:cNvSpPr txBox="1"/>
          <p:nvPr/>
        </p:nvSpPr>
        <p:spPr>
          <a:xfrm>
            <a:off x="1778000" y="5105400"/>
            <a:ext cx="9652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E6A61"/>
                </a:solidFill>
                <a:latin typeface="MiSans"/>
                <a:ea typeface="MiSans"/>
              </a:rPr>
              <a:t>擦除 vs 物化 · 内存布局 · 分派成本 · 优化机会（第 24–29 页）</a:t>
            </a:r>
            <a:endParaRPr lang="en-US" sz="1400" noProof="1"/>
          </a:p>
        </p:txBody>
      </p:sp>
      <p:sp>
        <p:nvSpPr>
          <p:cNvPr id="21" name="footer-left"/>
          <p:cNvSpPr txBox="1"/>
          <p:nvPr/>
        </p:nvSpPr>
        <p:spPr>
          <a:xfrm>
            <a:off x="7620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类型系统讲义 · 并类型与交类型</a:t>
            </a:r>
            <a:endParaRPr lang="en-US" sz="1200" noProof="1"/>
          </a:p>
        </p:txBody>
      </p:sp>
      <p:sp>
        <p:nvSpPr>
          <p:cNvPr id="22" name="footer-page"/>
          <p:cNvSpPr txBox="1"/>
          <p:nvPr/>
        </p:nvSpPr>
        <p:spPr>
          <a:xfrm>
            <a:off x="10922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02</a:t>
            </a:r>
            <a:endParaRPr lang="en-US" sz="12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-num"/>
          <p:cNvSpPr txBox="1"/>
          <p:nvPr/>
        </p:nvSpPr>
        <p:spPr>
          <a:xfrm>
            <a:off x="7874000" y="1397000"/>
            <a:ext cx="3556000" cy="355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0000" b="1" noProof="1">
                <a:solidFill>
                  <a:srgbClr val="7B2D26">
                    <a:alpha val="7843"/>
                  </a:srgbClr>
                </a:solidFill>
                <a:latin typeface="思源宋体"/>
                <a:ea typeface="思源宋体"/>
              </a:rPr>
              <a:t>01</a:t>
            </a:r>
            <a:endParaRPr lang="en-US" sz="20000" noProof="1"/>
          </a:p>
        </p:txBody>
      </p:sp>
      <p:sp>
        <p:nvSpPr>
          <p:cNvPr id="3" name="kicker"/>
          <p:cNvSpPr txBox="1"/>
          <p:nvPr/>
        </p:nvSpPr>
        <p:spPr>
          <a:xfrm>
            <a:off x="762000" y="2362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PART 01 · UNION TYPES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2692400"/>
            <a:ext cx="8128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 noProof="1">
                <a:solidFill>
                  <a:srgbClr val="23272E"/>
                </a:solidFill>
                <a:latin typeface="思源宋体"/>
                <a:ea typeface="思源宋体"/>
              </a:rPr>
              <a:t>Union 类型：一个值，多种可能</a:t>
            </a:r>
            <a:endParaRPr lang="en-US" sz="3400" noProof="1"/>
          </a:p>
        </p:txBody>
      </p:sp>
      <p:sp>
        <p:nvSpPr>
          <p:cNvPr id="5" name="desc"/>
          <p:cNvSpPr txBox="1"/>
          <p:nvPr/>
        </p:nvSpPr>
        <p:spPr>
          <a:xfrm>
            <a:off x="762000" y="3505200"/>
            <a:ext cx="7366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6E6A61"/>
                </a:solidFill>
                <a:latin typeface="MiSans"/>
                <a:ea typeface="MiSans"/>
              </a:rPr>
              <a:t>并类型让我们说"这个值是 A 或 B"。它是类型级别的"或"，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6E6A61"/>
                </a:solidFill>
                <a:latin typeface="MiSans"/>
                <a:ea typeface="MiSans"/>
              </a:rPr>
              <a:t>也是可空类型、结果类型、状态建模的基础构件。</a:t>
            </a:r>
            <a:endParaRPr lang="en-US" sz="1600" noProof="1"/>
          </a:p>
        </p:txBody>
      </p:sp>
      <p:sp>
        <p:nvSpPr>
          <p:cNvPr id="6" name="agenda"/>
          <p:cNvSpPr txBox="1"/>
          <p:nvPr/>
        </p:nvSpPr>
        <p:spPr>
          <a:xfrm>
            <a:off x="762000" y="4368800"/>
            <a:ext cx="7366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90000"/>
              </a:lnSpc>
            </a:pPr>
            <a:r>
              <a:rPr lang="en-US" sz="1500" noProof="1">
                <a:solidFill>
                  <a:srgbClr val="23272E"/>
                </a:solidFill>
                <a:latin typeface="MiSans"/>
                <a:ea typeface="MiSans"/>
              </a:rPr>
              <a:t>· 从一个 API 设计需求出发</a:t>
            </a:r>
            <a:endParaRPr lang="en-US" sz="1500" noProof="1"/>
          </a:p>
          <a:p>
            <a:pPr>
              <a:lnSpc>
                <a:spcPct val="190000"/>
              </a:lnSpc>
            </a:pPr>
            <a:r>
              <a:rPr lang="en-US" sz="1500" noProof="1">
                <a:solidFill>
                  <a:srgbClr val="23272E"/>
                </a:solidFill>
                <a:latin typeface="MiSans"/>
                <a:ea typeface="MiSans"/>
              </a:rPr>
              <a:t>· 定义与集合论直觉：值集合的并集</a:t>
            </a:r>
            <a:endParaRPr lang="en-US" sz="1500" noProof="1"/>
          </a:p>
          <a:p>
            <a:pPr>
              <a:lnSpc>
                <a:spcPct val="190000"/>
              </a:lnSpc>
            </a:pPr>
            <a:r>
              <a:rPr lang="en-US" sz="1500" noProof="1">
                <a:solidFill>
                  <a:srgbClr val="23272E"/>
                </a:solidFill>
                <a:latin typeface="MiSans"/>
                <a:ea typeface="MiSans"/>
              </a:rPr>
              <a:t>· 类型规则：引入（放宽）与消去（分情况）</a:t>
            </a:r>
            <a:endParaRPr lang="en-US" sz="1500" noProof="1"/>
          </a:p>
          <a:p>
            <a:pPr>
              <a:lnSpc>
                <a:spcPct val="190000"/>
              </a:lnSpc>
            </a:pPr>
            <a:r>
              <a:rPr lang="en-US" sz="1500" noProof="1">
                <a:solidFill>
                  <a:srgbClr val="23272E"/>
                </a:solidFill>
                <a:latin typeface="MiSans"/>
                <a:ea typeface="MiSans"/>
              </a:rPr>
              <a:t>· narrowing 与四个典型用途</a:t>
            </a:r>
            <a:endParaRPr lang="en-US" sz="1500" noProof="1"/>
          </a:p>
        </p:txBody>
      </p:sp>
      <p:sp>
        <p:nvSpPr>
          <p:cNvPr id="7" name="footer-left"/>
          <p:cNvSpPr txBox="1"/>
          <p:nvPr/>
        </p:nvSpPr>
        <p:spPr>
          <a:xfrm>
            <a:off x="7620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类型系统讲义 · 并类型与交类型</a:t>
            </a:r>
            <a:endParaRPr lang="en-US" sz="1200" noProof="1"/>
          </a:p>
        </p:txBody>
      </p:sp>
      <p:sp>
        <p:nvSpPr>
          <p:cNvPr id="8" name="footer-page"/>
          <p:cNvSpPr txBox="1"/>
          <p:nvPr/>
        </p:nvSpPr>
        <p:spPr>
          <a:xfrm>
            <a:off x="10922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03</a:t>
            </a:r>
            <a:endParaRPr lang="en-US" sz="12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PART 01 · UNION TYPES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3272E"/>
                </a:solidFill>
                <a:latin typeface="思源宋体"/>
                <a:ea typeface="思源宋体"/>
              </a:rPr>
              <a:t>引入：一个参数想接受"字符串或数字"</a:t>
            </a:r>
            <a:endParaRPr lang="en-US" sz="2700" noProof="1"/>
          </a:p>
        </p:txBody>
      </p:sp>
      <p:sp>
        <p:nvSpPr>
          <p:cNvPr id="4" name="rule-accent"/>
          <p:cNvSpPr/>
          <p:nvPr/>
        </p:nvSpPr>
        <p:spPr>
          <a:xfrm>
            <a:off x="762000" y="1346200"/>
            <a:ext cx="812800" cy="381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5" name="rule-line"/>
          <p:cNvSpPr/>
          <p:nvPr/>
        </p:nvSpPr>
        <p:spPr>
          <a:xfrm>
            <a:off x="762000" y="1358900"/>
            <a:ext cx="106680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6" name="scenario"/>
          <p:cNvSpPr txBox="1"/>
          <p:nvPr/>
        </p:nvSpPr>
        <p:spPr>
          <a:xfrm>
            <a:off x="762000" y="1651000"/>
            <a:ext cx="4318000" cy="279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需求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：写一个 padLeft，给字符串左侧补空白。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padding 既可以是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一段空格串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，也可以是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空格的数量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。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参数类型怎么写？它既可能是 string，也可能是 number——这正是 union type 要表达的事。</a:t>
            </a:r>
            <a:endParaRPr lang="en-US" sz="1600" noProof="1"/>
          </a:p>
        </p:txBody>
      </p:sp>
      <p:sp>
        <p:nvSpPr>
          <p:cNvPr id="7" name="code-bg"/>
          <p:cNvSpPr/>
          <p:nvPr/>
        </p:nvSpPr>
        <p:spPr>
          <a:xfrm>
            <a:off x="5461000" y="1625600"/>
            <a:ext cx="5969000" cy="2489200"/>
          </a:xfrm>
          <a:prstGeom prst="rect">
            <a:avLst/>
          </a:prstGeom>
          <a:solidFill>
            <a:srgbClr val="F3F1EA"/>
          </a:solidFill>
          <a:ln>
            <a:noFill/>
          </a:ln>
        </p:spPr>
      </p:sp>
      <p:sp>
        <p:nvSpPr>
          <p:cNvPr id="8" name="code"/>
          <p:cNvSpPr txBox="1"/>
          <p:nvPr/>
        </p:nvSpPr>
        <p:spPr>
          <a:xfrm>
            <a:off x="5664200" y="1778000"/>
            <a:ext cx="5588000" cy="223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7B2D26"/>
                </a:solidFill>
                <a:latin typeface="JetBrains Mono"/>
                <a:ea typeface="MiSans"/>
              </a:rPr>
              <a:t>function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padLeft(value: </a:t>
            </a:r>
            <a:r>
              <a:rPr lang="en-US" sz="1400" noProof="1">
                <a:solidFill>
                  <a:srgbClr val="1F6F5C"/>
                </a:solidFill>
                <a:latin typeface="JetBrains Mono"/>
                <a:ea typeface="MiSans"/>
              </a:rPr>
              <a:t>string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,</a:t>
            </a:r>
            <a:endParaRPr lang="en-US" sz="14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              padding: </a:t>
            </a:r>
            <a:r>
              <a:rPr lang="en-US" sz="1400" noProof="1">
                <a:solidFill>
                  <a:srgbClr val="1F6F5C"/>
                </a:solidFill>
                <a:latin typeface="JetBrains Mono"/>
                <a:ea typeface="MiSans"/>
              </a:rPr>
              <a:t>string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| </a:t>
            </a:r>
            <a:r>
              <a:rPr lang="en-US" sz="1400" noProof="1">
                <a:solidFill>
                  <a:srgbClr val="1F6F5C"/>
                </a:solidFill>
                <a:latin typeface="JetBrains Mono"/>
                <a:ea typeface="MiSans"/>
              </a:rPr>
              <a:t>number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) {</a:t>
            </a:r>
            <a:endParaRPr lang="en-US" sz="14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 </a:t>
            </a:r>
            <a:r>
              <a:rPr lang="en-US" sz="1400" noProof="1">
                <a:solidFill>
                  <a:srgbClr val="7B2D26"/>
                </a:solidFill>
                <a:latin typeface="JetBrains Mono"/>
                <a:ea typeface="MiSans"/>
              </a:rPr>
              <a:t>if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(</a:t>
            </a:r>
            <a:r>
              <a:rPr lang="en-US" sz="1400" noProof="1">
                <a:solidFill>
                  <a:srgbClr val="7B2D26"/>
                </a:solidFill>
                <a:latin typeface="JetBrains Mono"/>
                <a:ea typeface="MiSans"/>
              </a:rPr>
              <a:t>typeof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padding === </a:t>
            </a:r>
            <a:r>
              <a:rPr lang="en-US" sz="1400" noProof="1">
                <a:solidFill>
                  <a:srgbClr val="8C6D1F"/>
                </a:solidFill>
                <a:latin typeface="JetBrains Mono"/>
                <a:ea typeface="MiSans"/>
              </a:rPr>
              <a:t>"number"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) {</a:t>
            </a:r>
            <a:endParaRPr lang="en-US" sz="14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   </a:t>
            </a:r>
            <a:r>
              <a:rPr lang="en-US" sz="1400" noProof="1">
                <a:solidFill>
                  <a:srgbClr val="7B2D26"/>
                </a:solidFill>
                <a:latin typeface="JetBrains Mono"/>
                <a:ea typeface="MiSans"/>
              </a:rPr>
              <a:t>return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</a:t>
            </a:r>
            <a:r>
              <a:rPr lang="en-US" sz="1400" noProof="1">
                <a:solidFill>
                  <a:srgbClr val="8C6D1F"/>
                </a:solidFill>
                <a:latin typeface="JetBrains Mono"/>
                <a:ea typeface="MiSans"/>
              </a:rPr>
              <a:t>" "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.repeat(padding) + value;</a:t>
            </a:r>
            <a:endParaRPr lang="en-US" sz="14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 }</a:t>
            </a:r>
            <a:endParaRPr lang="en-US" sz="14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 </a:t>
            </a:r>
            <a:r>
              <a:rPr lang="en-US" sz="1400" noProof="1">
                <a:solidFill>
                  <a:srgbClr val="7B2D26"/>
                </a:solidFill>
                <a:latin typeface="JetBrains Mono"/>
                <a:ea typeface="MiSans"/>
              </a:rPr>
              <a:t>return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padding + value;</a:t>
            </a:r>
            <a:endParaRPr lang="en-US" sz="14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}</a:t>
            </a:r>
            <a:endParaRPr lang="en-US" sz="1400" noProof="1"/>
          </a:p>
        </p:txBody>
      </p:sp>
      <p:sp>
        <p:nvSpPr>
          <p:cNvPr id="9" name="code-caption"/>
          <p:cNvSpPr txBox="1"/>
          <p:nvPr/>
        </p:nvSpPr>
        <p:spPr>
          <a:xfrm>
            <a:off x="5461000" y="41910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TypeScript 示例：string | number 就是一个 union type</a:t>
            </a:r>
            <a:endParaRPr lang="en-US" sz="1200" noProof="1"/>
          </a:p>
        </p:txBody>
      </p:sp>
      <p:sp>
        <p:nvSpPr>
          <p:cNvPr id="10" name="alt-title"/>
          <p:cNvSpPr txBox="1"/>
          <p:nvPr/>
        </p:nvSpPr>
        <p:spPr>
          <a:xfrm>
            <a:off x="762000" y="47752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不用 union 的两种常见替代，都不理想</a:t>
            </a:r>
            <a:endParaRPr lang="en-US" sz="1600" noProof="1"/>
          </a:p>
        </p:txBody>
      </p:sp>
      <p:sp>
        <p:nvSpPr>
          <p:cNvPr id="11" name="alt1"/>
          <p:cNvSpPr txBox="1"/>
          <p:nvPr/>
        </p:nvSpPr>
        <p:spPr>
          <a:xfrm>
            <a:off x="762000" y="5156200"/>
            <a:ext cx="5207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b="1" noProof="1">
                <a:solidFill>
                  <a:srgbClr val="23272E"/>
                </a:solidFill>
                <a:latin typeface="MiSans"/>
                <a:ea typeface="MiSans"/>
              </a:rPr>
              <a:t>① 用 any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：编译器不再检查，传 boolean 也能</a:t>
            </a:r>
            <a:endParaRPr lang="en-US" sz="14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通过编译，错误拖到运行时才暴露。</a:t>
            </a:r>
            <a:endParaRPr lang="en-US" sz="1400" noProof="1"/>
          </a:p>
        </p:txBody>
      </p:sp>
      <p:sp>
        <p:nvSpPr>
          <p:cNvPr id="12" name="alt2"/>
          <p:cNvSpPr txBox="1"/>
          <p:nvPr/>
        </p:nvSpPr>
        <p:spPr>
          <a:xfrm>
            <a:off x="6350000" y="51562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b="1" noProof="1">
                <a:solidFill>
                  <a:srgbClr val="23272E"/>
                </a:solidFill>
                <a:latin typeface="MiSans"/>
                <a:ea typeface="MiSans"/>
              </a:rPr>
              <a:t>② 写两个重载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：签名重复；可选种类一多，</a:t>
            </a:r>
            <a:endParaRPr lang="en-US" sz="14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重载数量成倍增长，难以维护。</a:t>
            </a:r>
            <a:endParaRPr lang="en-US" sz="1400" noProof="1"/>
          </a:p>
        </p:txBody>
      </p:sp>
      <p:sp>
        <p:nvSpPr>
          <p:cNvPr id="13" name="takeaway"/>
          <p:cNvSpPr txBox="1"/>
          <p:nvPr/>
        </p:nvSpPr>
        <p:spPr>
          <a:xfrm>
            <a:off x="762000" y="59690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7B2D26"/>
                </a:solidFill>
                <a:latin typeface="MiSans"/>
                <a:ea typeface="MiSans"/>
              </a:rPr>
              <a:t>Union type 让我们精确地说："二选一（或多选一）"，其余情况一律拒绝。</a:t>
            </a:r>
            <a:endParaRPr lang="en-US" sz="1600" noProof="1"/>
          </a:p>
        </p:txBody>
      </p:sp>
      <p:sp>
        <p:nvSpPr>
          <p:cNvPr id="14" name="footer-left"/>
          <p:cNvSpPr txBox="1"/>
          <p:nvPr/>
        </p:nvSpPr>
        <p:spPr>
          <a:xfrm>
            <a:off x="7620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类型系统讲义 · 并类型与交类型</a:t>
            </a:r>
            <a:endParaRPr lang="en-US" sz="1200" noProof="1"/>
          </a:p>
        </p:txBody>
      </p:sp>
      <p:sp>
        <p:nvSpPr>
          <p:cNvPr id="15" name="footer-page"/>
          <p:cNvSpPr txBox="1"/>
          <p:nvPr/>
        </p:nvSpPr>
        <p:spPr>
          <a:xfrm>
            <a:off x="10922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04</a:t>
            </a:r>
            <a:endParaRPr lang="en-US" sz="12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PART 01 · UNION TYPES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3272E"/>
                </a:solidFill>
                <a:latin typeface="思源宋体"/>
                <a:ea typeface="思源宋体"/>
              </a:rPr>
              <a:t>定义：Union type 是值集合的并集</a:t>
            </a:r>
            <a:endParaRPr lang="en-US" sz="2700" noProof="1"/>
          </a:p>
        </p:txBody>
      </p:sp>
      <p:sp>
        <p:nvSpPr>
          <p:cNvPr id="4" name="rule-accent"/>
          <p:cNvSpPr/>
          <p:nvPr/>
        </p:nvSpPr>
        <p:spPr>
          <a:xfrm>
            <a:off x="762000" y="1346200"/>
            <a:ext cx="812800" cy="381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5" name="rule-line"/>
          <p:cNvSpPr/>
          <p:nvPr/>
        </p:nvSpPr>
        <p:spPr>
          <a:xfrm>
            <a:off x="762000" y="1358900"/>
            <a:ext cx="106680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6" name="def-rule"/>
          <p:cNvSpPr/>
          <p:nvPr/>
        </p:nvSpPr>
        <p:spPr>
          <a:xfrm>
            <a:off x="762000" y="1676400"/>
            <a:ext cx="38100" cy="9398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7" name="def-text"/>
          <p:cNvSpPr txBox="1"/>
          <p:nvPr/>
        </p:nvSpPr>
        <p:spPr>
          <a:xfrm>
            <a:off x="990600" y="1676400"/>
            <a:ext cx="5080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定义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　A | B = { v | v : A 或 v : B }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读作"A 或 B"：值集合取两个类型的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并集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。</a:t>
            </a:r>
            <a:endParaRPr lang="en-US" sz="1600" noProof="1"/>
          </a:p>
        </p:txBody>
      </p:sp>
      <p:sp>
        <p:nvSpPr>
          <p:cNvPr id="8" name="examples"/>
          <p:cNvSpPr txBox="1"/>
          <p:nvPr/>
        </p:nvSpPr>
        <p:spPr>
          <a:xfrm>
            <a:off x="762000" y="2895600"/>
            <a:ext cx="5334000" cy="279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例子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</a:t>
            </a:r>
            <a:r>
              <a:rPr lang="en-US" sz="1600" noProof="1">
                <a:solidFill>
                  <a:srgbClr val="23272E"/>
                </a:solidFill>
                <a:latin typeface="JetBrains Mono"/>
                <a:ea typeface="JetBrains Mono"/>
              </a:rPr>
              <a:t>string | number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：字符串或数字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字面量联合：</a:t>
            </a:r>
            <a:r>
              <a:rPr lang="en-US" sz="1600" noProof="1">
                <a:solidFill>
                  <a:srgbClr val="23272E"/>
                </a:solidFill>
                <a:latin typeface="JetBrains Mono"/>
                <a:ea typeface="JetBrains Mono"/>
              </a:rPr>
              <a:t>"read" | "write" | "exec"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可空：</a:t>
            </a:r>
            <a:r>
              <a:rPr lang="en-US" sz="1600" noProof="1">
                <a:solidFill>
                  <a:srgbClr val="23272E"/>
                </a:solidFill>
                <a:latin typeface="JetBrains Mono"/>
                <a:ea typeface="JetBrains Mono"/>
              </a:rPr>
              <a:t>string | null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1400"/>
              </a:spcBef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直觉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：并集"越并越宽"——成员越多，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可能的值越多，但我们对值知道得越少。</a:t>
            </a:r>
            <a:endParaRPr lang="en-US" sz="1600" noProof="1"/>
          </a:p>
        </p:txBody>
      </p:sp>
      <p:sp>
        <p:nvSpPr>
          <p:cNvPr id="9" name="venn-a"/>
          <p:cNvSpPr/>
          <p:nvPr/>
        </p:nvSpPr>
        <p:spPr>
          <a:xfrm>
            <a:off x="6604000" y="1905000"/>
            <a:ext cx="2794000" cy="2032000"/>
          </a:xfrm>
          <a:prstGeom prst="ellipse">
            <a:avLst/>
          </a:prstGeom>
          <a:solidFill>
            <a:srgbClr val="7B2D26">
              <a:alpha val="10980"/>
            </a:srgbClr>
          </a:solidFill>
          <a:ln w="19050">
            <a:solidFill>
              <a:srgbClr val="7B2D26"/>
            </a:solidFill>
          </a:ln>
        </p:spPr>
      </p:sp>
      <p:sp>
        <p:nvSpPr>
          <p:cNvPr id="10" name="venn-b"/>
          <p:cNvSpPr/>
          <p:nvPr/>
        </p:nvSpPr>
        <p:spPr>
          <a:xfrm>
            <a:off x="8382000" y="1905000"/>
            <a:ext cx="2794000" cy="2032000"/>
          </a:xfrm>
          <a:prstGeom prst="ellipse">
            <a:avLst/>
          </a:prstGeom>
          <a:solidFill>
            <a:srgbClr val="8C6D1F">
              <a:alpha val="10980"/>
            </a:srgbClr>
          </a:solidFill>
          <a:ln w="19050">
            <a:solidFill>
              <a:srgbClr val="8C6D1F"/>
            </a:solidFill>
          </a:ln>
        </p:spPr>
      </p:sp>
      <p:sp>
        <p:nvSpPr>
          <p:cNvPr id="11" name="venn-label-a"/>
          <p:cNvSpPr txBox="1"/>
          <p:nvPr/>
        </p:nvSpPr>
        <p:spPr>
          <a:xfrm>
            <a:off x="6921500" y="2730500"/>
            <a:ext cx="635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noProof="1">
                <a:solidFill>
                  <a:srgbClr val="7B2D26"/>
                </a:solidFill>
                <a:latin typeface="MiSans"/>
                <a:ea typeface="MiSans"/>
              </a:rPr>
              <a:t>A</a:t>
            </a:r>
            <a:endParaRPr lang="en-US" sz="1800" noProof="1"/>
          </a:p>
        </p:txBody>
      </p:sp>
      <p:sp>
        <p:nvSpPr>
          <p:cNvPr id="12" name="venn-label-b"/>
          <p:cNvSpPr txBox="1"/>
          <p:nvPr/>
        </p:nvSpPr>
        <p:spPr>
          <a:xfrm>
            <a:off x="10223500" y="2730500"/>
            <a:ext cx="635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noProof="1">
                <a:solidFill>
                  <a:srgbClr val="8C6D1F"/>
                </a:solidFill>
                <a:latin typeface="MiSans"/>
                <a:ea typeface="MiSans"/>
              </a:rPr>
              <a:t>B</a:t>
            </a:r>
            <a:endParaRPr lang="en-US" sz="1800" noProof="1"/>
          </a:p>
        </p:txBody>
      </p:sp>
      <p:sp>
        <p:nvSpPr>
          <p:cNvPr id="13" name="venn-caption"/>
          <p:cNvSpPr txBox="1"/>
          <p:nvPr/>
        </p:nvSpPr>
        <p:spPr>
          <a:xfrm>
            <a:off x="6604000" y="41402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noProof="1">
                <a:solidFill>
                  <a:srgbClr val="6E6A61"/>
                </a:solidFill>
                <a:latin typeface="MiSans"/>
                <a:ea typeface="MiSans"/>
              </a:rPr>
              <a:t>A | B 覆盖两个圆的整个区域</a:t>
            </a:r>
            <a:endParaRPr lang="en-US" sz="1400" noProof="1"/>
          </a:p>
        </p:txBody>
      </p:sp>
      <p:sp>
        <p:nvSpPr>
          <p:cNvPr id="14" name="note"/>
          <p:cNvSpPr txBox="1"/>
          <p:nvPr/>
        </p:nvSpPr>
        <p:spPr>
          <a:xfrm>
            <a:off x="6604000" y="4673600"/>
            <a:ext cx="4826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E6A61"/>
                </a:solidFill>
                <a:latin typeface="MiSans"/>
                <a:ea typeface="MiSans"/>
              </a:rPr>
              <a:t>注意：union 描述的是"值的来源可能不止一种"，</a:t>
            </a:r>
            <a:endParaRPr lang="en-US" sz="14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E6A61"/>
                </a:solidFill>
                <a:latin typeface="MiSans"/>
                <a:ea typeface="MiSans"/>
              </a:rPr>
              <a:t>它本身不记录值究竟来自哪一边——这一点</a:t>
            </a:r>
            <a:endParaRPr lang="en-US" sz="14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E6A61"/>
                </a:solidFill>
                <a:latin typeface="MiSans"/>
                <a:ea typeface="MiSans"/>
              </a:rPr>
              <a:t>在第 3 节与 sum type 对比时会变得关键。</a:t>
            </a:r>
            <a:endParaRPr lang="en-US" sz="1400" noProof="1"/>
          </a:p>
        </p:txBody>
      </p:sp>
      <p:sp>
        <p:nvSpPr>
          <p:cNvPr id="15" name="lit-note"/>
          <p:cNvSpPr txBox="1"/>
          <p:nvPr/>
        </p:nvSpPr>
        <p:spPr>
          <a:xfrm>
            <a:off x="762000" y="6172200"/>
            <a:ext cx="1066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文献：类型的集合论语义见 Frisch, Castagna &amp; Benzaken, Semantic Subtyping (JACM 2008)；教学性综述见 Castagna, Covariance and Contravariance (2020)。</a:t>
            </a:r>
            <a:endParaRPr lang="en-US" sz="1200" noProof="1"/>
          </a:p>
        </p:txBody>
      </p:sp>
      <p:sp>
        <p:nvSpPr>
          <p:cNvPr id="16" name="footer-left"/>
          <p:cNvSpPr txBox="1"/>
          <p:nvPr/>
        </p:nvSpPr>
        <p:spPr>
          <a:xfrm>
            <a:off x="7620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类型系统讲义 · 并类型与交类型</a:t>
            </a:r>
            <a:endParaRPr lang="en-US" sz="1200" noProof="1"/>
          </a:p>
        </p:txBody>
      </p:sp>
      <p:sp>
        <p:nvSpPr>
          <p:cNvPr id="17" name="footer-page"/>
          <p:cNvSpPr txBox="1"/>
          <p:nvPr/>
        </p:nvSpPr>
        <p:spPr>
          <a:xfrm>
            <a:off x="10922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05</a:t>
            </a:r>
            <a:endParaRPr lang="en-US" sz="12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PART 01 · UNION TYPES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3272E"/>
                </a:solidFill>
                <a:latin typeface="思源宋体"/>
                <a:ea typeface="思源宋体"/>
              </a:rPr>
              <a:t>各语言中的 Union 写法</a:t>
            </a:r>
            <a:endParaRPr lang="en-US" sz="2700" noProof="1"/>
          </a:p>
        </p:txBody>
      </p:sp>
      <p:sp>
        <p:nvSpPr>
          <p:cNvPr id="4" name="rule-accent"/>
          <p:cNvSpPr/>
          <p:nvPr/>
        </p:nvSpPr>
        <p:spPr>
          <a:xfrm>
            <a:off x="762000" y="1346200"/>
            <a:ext cx="812800" cy="381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5" name="rule-line"/>
          <p:cNvSpPr/>
          <p:nvPr/>
        </p:nvSpPr>
        <p:spPr>
          <a:xfrm>
            <a:off x="762000" y="1358900"/>
            <a:ext cx="106680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graphicFrame>
        <p:nvGraphicFramePr>
          <p:cNvPr id="6" name="lang-table"/>
          <p:cNvGraphicFramePr>
            <a:graphicFrameLocks noGrp="1"/>
          </p:cNvGraphicFramePr>
          <p:nvPr/>
        </p:nvGraphicFramePr>
        <p:xfrm>
          <a:off x="762000" y="1625600"/>
          <a:ext cx="10668000" cy="4063999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7B2D26"/>
                          </a:solidFill>
                          <a:latin typeface="Times New Roman"/>
                          <a:ea typeface="Times New Roman"/>
                        </a:rPr>
                        <a:t>语言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7B2D2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7B2D26"/>
                          </a:solidFill>
                          <a:latin typeface="Times New Roman"/>
                          <a:ea typeface="Times New Roman"/>
                        </a:rPr>
                        <a:t>写法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7B2D2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7B2D26"/>
                          </a:solidFill>
                          <a:latin typeface="Times New Roman"/>
                          <a:ea typeface="Times New Roman"/>
                        </a:rPr>
                        <a:t>说明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7B2D2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371"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TypeScript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7B2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string | 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7B2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结构化、无标签；靠 narrowing 消解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7B2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371"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Python 3.10+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str | 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类型注解；运行时靠 isinstance 判断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371"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Scala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String | 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一等 union，编译器做流式类型检查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371"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union { int i; double d; 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无标签、不检查；读错成员是未定义行为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371"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Kotlin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String?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无标签并：T? ≡ T ∪ {null}，T?? 塌缩为 T?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3184"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Swift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T?</a:t>
                      </a:r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（即 Optional&lt;T&gt;）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实为 sum type：enum { some(T), none }，.some(nil) ≠ nil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note"/>
          <p:cNvSpPr txBox="1"/>
          <p:nvPr/>
        </p:nvSpPr>
        <p:spPr>
          <a:xfrm>
            <a:off x="762000" y="58674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注：C 的 union 成员共享内存且无检查，读错成员是未定义行为——安全用法需自维护标签字段，这正是 sum type 自动做的事。</a:t>
            </a:r>
            <a:endParaRPr lang="en-US" sz="12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来源：Kotlin 见官方文档 Null Safety（T? ≡ T or null，T?? = T?）；Swift 见 The Swift Programming Language（Optional 是标准库 enum）。</a:t>
            </a:r>
            <a:endParaRPr lang="en-US" sz="1200" noProof="1"/>
          </a:p>
        </p:txBody>
      </p:sp>
      <p:sp>
        <p:nvSpPr>
          <p:cNvPr id="8" name="footer-left"/>
          <p:cNvSpPr txBox="1"/>
          <p:nvPr/>
        </p:nvSpPr>
        <p:spPr>
          <a:xfrm>
            <a:off x="7620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类型系统讲义 · 并类型与交类型</a:t>
            </a:r>
            <a:endParaRPr lang="en-US" sz="1200" noProof="1"/>
          </a:p>
        </p:txBody>
      </p:sp>
      <p:sp>
        <p:nvSpPr>
          <p:cNvPr id="9" name="footer-page"/>
          <p:cNvSpPr txBox="1"/>
          <p:nvPr/>
        </p:nvSpPr>
        <p:spPr>
          <a:xfrm>
            <a:off x="10922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06</a:t>
            </a:r>
            <a:endParaRPr lang="en-US" sz="12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PART 01 · UNION TYPES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3272E"/>
                </a:solidFill>
                <a:latin typeface="思源宋体"/>
                <a:ea typeface="思源宋体"/>
              </a:rPr>
              <a:t>类型规则（一）：引入规则——如何得到一个 Union</a:t>
            </a:r>
            <a:endParaRPr lang="en-US" sz="2700" noProof="1"/>
          </a:p>
        </p:txBody>
      </p:sp>
      <p:sp>
        <p:nvSpPr>
          <p:cNvPr id="4" name="rule-accent"/>
          <p:cNvSpPr/>
          <p:nvPr/>
        </p:nvSpPr>
        <p:spPr>
          <a:xfrm>
            <a:off x="762000" y="1346200"/>
            <a:ext cx="812800" cy="381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5" name="rule-line"/>
          <p:cNvSpPr/>
          <p:nvPr/>
        </p:nvSpPr>
        <p:spPr>
          <a:xfrm>
            <a:off x="762000" y="1358900"/>
            <a:ext cx="106680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6" name="rule1-premise"/>
          <p:cNvSpPr txBox="1"/>
          <p:nvPr/>
        </p:nvSpPr>
        <p:spPr>
          <a:xfrm>
            <a:off x="1016000" y="1752600"/>
            <a:ext cx="381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>
                <a:solidFill>
                  <a:srgbClr val="23272E"/>
                </a:solidFill>
                <a:latin typeface="MiSans"/>
                <a:ea typeface="MiSans"/>
              </a:rPr>
              <a:t>Γ ⊢ e : A</a:t>
            </a:r>
            <a:endParaRPr lang="en-US" sz="1700" noProof="1"/>
          </a:p>
        </p:txBody>
      </p:sp>
      <p:sp>
        <p:nvSpPr>
          <p:cNvPr id="7" name="rule1-bar"/>
          <p:cNvSpPr/>
          <p:nvPr/>
        </p:nvSpPr>
        <p:spPr>
          <a:xfrm>
            <a:off x="1016000" y="2159000"/>
            <a:ext cx="3810000" cy="25400"/>
          </a:xfrm>
          <a:prstGeom prst="rect">
            <a:avLst/>
          </a:prstGeom>
          <a:solidFill>
            <a:srgbClr val="23272E"/>
          </a:solidFill>
          <a:ln>
            <a:noFill/>
          </a:ln>
        </p:spPr>
      </p:sp>
      <p:sp>
        <p:nvSpPr>
          <p:cNvPr id="8" name="rule1-name"/>
          <p:cNvSpPr txBox="1"/>
          <p:nvPr/>
        </p:nvSpPr>
        <p:spPr>
          <a:xfrm>
            <a:off x="4927600" y="2057400"/>
            <a:ext cx="1143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6E6A61"/>
                </a:solidFill>
                <a:latin typeface="MiSans"/>
                <a:ea typeface="MiSans"/>
              </a:rPr>
              <a:t>(∨-I₁)</a:t>
            </a:r>
            <a:endParaRPr lang="en-US" sz="1400" noProof="1"/>
          </a:p>
        </p:txBody>
      </p:sp>
      <p:sp>
        <p:nvSpPr>
          <p:cNvPr id="9" name="rule1-concl"/>
          <p:cNvSpPr txBox="1"/>
          <p:nvPr/>
        </p:nvSpPr>
        <p:spPr>
          <a:xfrm>
            <a:off x="1016000" y="2286000"/>
            <a:ext cx="381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>
                <a:solidFill>
                  <a:srgbClr val="23272E"/>
                </a:solidFill>
                <a:latin typeface="MiSans"/>
                <a:ea typeface="MiSans"/>
              </a:rPr>
              <a:t>Γ ⊢ e : A | B</a:t>
            </a:r>
            <a:endParaRPr lang="en-US" sz="1700" noProof="1"/>
          </a:p>
        </p:txBody>
      </p:sp>
      <p:sp>
        <p:nvSpPr>
          <p:cNvPr id="10" name="rule2-premise"/>
          <p:cNvSpPr txBox="1"/>
          <p:nvPr/>
        </p:nvSpPr>
        <p:spPr>
          <a:xfrm>
            <a:off x="6604000" y="1752600"/>
            <a:ext cx="381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>
                <a:solidFill>
                  <a:srgbClr val="23272E"/>
                </a:solidFill>
                <a:latin typeface="MiSans"/>
                <a:ea typeface="MiSans"/>
              </a:rPr>
              <a:t>Γ ⊢ e : B</a:t>
            </a:r>
            <a:endParaRPr lang="en-US" sz="1700" noProof="1"/>
          </a:p>
        </p:txBody>
      </p:sp>
      <p:sp>
        <p:nvSpPr>
          <p:cNvPr id="11" name="rule2-bar"/>
          <p:cNvSpPr/>
          <p:nvPr/>
        </p:nvSpPr>
        <p:spPr>
          <a:xfrm>
            <a:off x="6604000" y="2159000"/>
            <a:ext cx="3810000" cy="25400"/>
          </a:xfrm>
          <a:prstGeom prst="rect">
            <a:avLst/>
          </a:prstGeom>
          <a:solidFill>
            <a:srgbClr val="23272E"/>
          </a:solidFill>
          <a:ln>
            <a:noFill/>
          </a:ln>
        </p:spPr>
      </p:sp>
      <p:sp>
        <p:nvSpPr>
          <p:cNvPr id="12" name="rule2-name"/>
          <p:cNvSpPr txBox="1"/>
          <p:nvPr/>
        </p:nvSpPr>
        <p:spPr>
          <a:xfrm>
            <a:off x="10515600" y="2057400"/>
            <a:ext cx="1143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6E6A61"/>
                </a:solidFill>
                <a:latin typeface="MiSans"/>
                <a:ea typeface="MiSans"/>
              </a:rPr>
              <a:t>(∨-I₂)</a:t>
            </a:r>
            <a:endParaRPr lang="en-US" sz="1400" noProof="1"/>
          </a:p>
        </p:txBody>
      </p:sp>
      <p:sp>
        <p:nvSpPr>
          <p:cNvPr id="13" name="rule2-concl"/>
          <p:cNvSpPr txBox="1"/>
          <p:nvPr/>
        </p:nvSpPr>
        <p:spPr>
          <a:xfrm>
            <a:off x="6604000" y="2286000"/>
            <a:ext cx="381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>
                <a:solidFill>
                  <a:srgbClr val="23272E"/>
                </a:solidFill>
                <a:latin typeface="MiSans"/>
                <a:ea typeface="MiSans"/>
              </a:rPr>
              <a:t>Γ ⊢ e : A | B</a:t>
            </a:r>
            <a:endParaRPr lang="en-US" sz="1700" noProof="1"/>
          </a:p>
        </p:txBody>
      </p:sp>
      <p:sp>
        <p:nvSpPr>
          <p:cNvPr id="14" name="rule-explain"/>
          <p:cNvSpPr txBox="1"/>
          <p:nvPr/>
        </p:nvSpPr>
        <p:spPr>
          <a:xfrm>
            <a:off x="762000" y="2870200"/>
            <a:ext cx="10668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白话：只要 e 是 A（或 B），它就自动是 A | B。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得到 union 不需要任何构造动作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，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任何 A 的值"免费"成为 A | B 的值——这与第 3 节的 sum type 形成鲜明对比。</a:t>
            </a:r>
            <a:endParaRPr lang="en-US" sz="1600" noProof="1"/>
          </a:p>
        </p:txBody>
      </p:sp>
      <p:sp>
        <p:nvSpPr>
          <p:cNvPr id="15" name="sub-title"/>
          <p:cNvSpPr txBox="1"/>
          <p:nvPr/>
        </p:nvSpPr>
        <p:spPr>
          <a:xfrm>
            <a:off x="762000" y="37084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用子类型语言表达同一事实</a:t>
            </a:r>
            <a:endParaRPr lang="en-US" sz="1600" noProof="1"/>
          </a:p>
        </p:txBody>
      </p:sp>
      <p:sp>
        <p:nvSpPr>
          <p:cNvPr id="16" name="sub-body"/>
          <p:cNvSpPr txBox="1"/>
          <p:nvPr/>
        </p:nvSpPr>
        <p:spPr>
          <a:xfrm>
            <a:off x="762000" y="4089400"/>
            <a:ext cx="10668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A ≤ A | B（左边总是右边的子类型）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A | B ≤ C 当且仅当 A ≤ C 且 B ≤ C（要"宽"过两边，必须同时盖住两边）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推论：string | number ≤ string | number | boolean —— 并集越并越宽</a:t>
            </a:r>
            <a:endParaRPr lang="en-US" sz="1600" noProof="1"/>
          </a:p>
        </p:txBody>
      </p:sp>
      <p:sp>
        <p:nvSpPr>
          <p:cNvPr id="17" name="ex-bg"/>
          <p:cNvSpPr/>
          <p:nvPr/>
        </p:nvSpPr>
        <p:spPr>
          <a:xfrm>
            <a:off x="762000" y="5461000"/>
            <a:ext cx="10668000" cy="736600"/>
          </a:xfrm>
          <a:prstGeom prst="rect">
            <a:avLst/>
          </a:prstGeom>
          <a:solidFill>
            <a:srgbClr val="F3F1EA"/>
          </a:solidFill>
          <a:ln>
            <a:noFill/>
          </a:ln>
        </p:spPr>
      </p:sp>
      <p:sp>
        <p:nvSpPr>
          <p:cNvPr id="18" name="ex-code"/>
          <p:cNvSpPr txBox="1"/>
          <p:nvPr/>
        </p:nvSpPr>
        <p:spPr>
          <a:xfrm>
            <a:off x="965200" y="5562600"/>
            <a:ext cx="10287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8A8578"/>
                </a:solidFill>
                <a:latin typeface="JetBrains Mono"/>
                <a:ea typeface="MiSans"/>
              </a:rPr>
              <a:t>// 例：42 : number  ⇒  42 : string | number</a:t>
            </a:r>
            <a:endParaRPr lang="en-US" sz="14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7B2D26"/>
                </a:solidFill>
                <a:latin typeface="JetBrains Mono"/>
                <a:ea typeface="MiSans"/>
              </a:rPr>
              <a:t>let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x: </a:t>
            </a:r>
            <a:r>
              <a:rPr lang="en-US" sz="1400" noProof="1">
                <a:solidFill>
                  <a:srgbClr val="1F6F5C"/>
                </a:solidFill>
                <a:latin typeface="JetBrains Mono"/>
                <a:ea typeface="MiSans"/>
              </a:rPr>
              <a:t>string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| </a:t>
            </a:r>
            <a:r>
              <a:rPr lang="en-US" sz="1400" noProof="1">
                <a:solidFill>
                  <a:srgbClr val="1F6F5C"/>
                </a:solidFill>
                <a:latin typeface="JetBrains Mono"/>
                <a:ea typeface="MiSans"/>
              </a:rPr>
              <a:t>number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= </a:t>
            </a:r>
            <a:r>
              <a:rPr lang="en-US" sz="1400" noProof="1">
                <a:solidFill>
                  <a:srgbClr val="8C6D1F"/>
                </a:solidFill>
                <a:latin typeface="JetBrains Mono"/>
                <a:ea typeface="MiSans"/>
              </a:rPr>
              <a:t>42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;  </a:t>
            </a:r>
            <a:r>
              <a:rPr lang="en-US" sz="1400" noProof="1">
                <a:solidFill>
                  <a:srgbClr val="8A8578"/>
                </a:solidFill>
                <a:latin typeface="JetBrains Mono"/>
                <a:ea typeface="MiSans"/>
              </a:rPr>
              <a:t>// 无需任何包装或构造器</a:t>
            </a:r>
            <a:endParaRPr lang="en-US" sz="1400" noProof="1"/>
          </a:p>
        </p:txBody>
      </p:sp>
      <p:sp>
        <p:nvSpPr>
          <p:cNvPr id="19" name="lit-note"/>
          <p:cNvSpPr txBox="1"/>
          <p:nvPr/>
        </p:nvSpPr>
        <p:spPr>
          <a:xfrm>
            <a:off x="762000" y="6273800"/>
            <a:ext cx="1066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文献：∨-I 与 union 作为子类型格中的最小上界，见 Barbanera–Dezani–de'Liguoro 1995；Vouillon, Subtyping Union Types (POPL 2004)。</a:t>
            </a:r>
            <a:endParaRPr lang="en-US" sz="1200" noProof="1"/>
          </a:p>
        </p:txBody>
      </p:sp>
      <p:sp>
        <p:nvSpPr>
          <p:cNvPr id="20" name="footer-left"/>
          <p:cNvSpPr txBox="1"/>
          <p:nvPr/>
        </p:nvSpPr>
        <p:spPr>
          <a:xfrm>
            <a:off x="7620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类型系统讲义 · 并类型与交类型</a:t>
            </a:r>
            <a:endParaRPr lang="en-US" sz="1200" noProof="1"/>
          </a:p>
        </p:txBody>
      </p:sp>
      <p:sp>
        <p:nvSpPr>
          <p:cNvPr id="21" name="footer-page"/>
          <p:cNvSpPr txBox="1"/>
          <p:nvPr/>
        </p:nvSpPr>
        <p:spPr>
          <a:xfrm>
            <a:off x="10922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07</a:t>
            </a:r>
            <a:endParaRPr lang="en-US" sz="12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PART 01 · UNION TYPES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3272E"/>
                </a:solidFill>
                <a:latin typeface="思源宋体"/>
                <a:ea typeface="思源宋体"/>
              </a:rPr>
              <a:t>类型规则（二）：消去规则——如何使用一个 Union</a:t>
            </a:r>
            <a:endParaRPr lang="en-US" sz="2700" noProof="1"/>
          </a:p>
        </p:txBody>
      </p:sp>
      <p:sp>
        <p:nvSpPr>
          <p:cNvPr id="4" name="rule-accent"/>
          <p:cNvSpPr/>
          <p:nvPr/>
        </p:nvSpPr>
        <p:spPr>
          <a:xfrm>
            <a:off x="762000" y="1346200"/>
            <a:ext cx="812800" cy="381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5" name="rule-line"/>
          <p:cNvSpPr/>
          <p:nvPr/>
        </p:nvSpPr>
        <p:spPr>
          <a:xfrm>
            <a:off x="762000" y="1358900"/>
            <a:ext cx="106680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6" name="elim-premise"/>
          <p:cNvSpPr txBox="1"/>
          <p:nvPr/>
        </p:nvSpPr>
        <p:spPr>
          <a:xfrm>
            <a:off x="1524000" y="1651000"/>
            <a:ext cx="812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Γ ⊢ e : A | B      Γ, x : A ⊢ e₁ : C      Γ, y : B ⊢ e₂ : C</a:t>
            </a:r>
            <a:endParaRPr lang="en-US" sz="1600" noProof="1"/>
          </a:p>
        </p:txBody>
      </p:sp>
      <p:sp>
        <p:nvSpPr>
          <p:cNvPr id="7" name="elim-bar"/>
          <p:cNvSpPr/>
          <p:nvPr/>
        </p:nvSpPr>
        <p:spPr>
          <a:xfrm>
            <a:off x="1524000" y="2057400"/>
            <a:ext cx="8128000" cy="25400"/>
          </a:xfrm>
          <a:prstGeom prst="rect">
            <a:avLst/>
          </a:prstGeom>
          <a:solidFill>
            <a:srgbClr val="23272E"/>
          </a:solidFill>
          <a:ln>
            <a:noFill/>
          </a:ln>
        </p:spPr>
      </p:sp>
      <p:sp>
        <p:nvSpPr>
          <p:cNvPr id="8" name="elim-name"/>
          <p:cNvSpPr txBox="1"/>
          <p:nvPr/>
        </p:nvSpPr>
        <p:spPr>
          <a:xfrm>
            <a:off x="9753600" y="19558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6E6A61"/>
                </a:solidFill>
                <a:latin typeface="MiSans"/>
                <a:ea typeface="MiSans"/>
              </a:rPr>
              <a:t>(∨-E)</a:t>
            </a:r>
            <a:endParaRPr lang="en-US" sz="1400" noProof="1"/>
          </a:p>
        </p:txBody>
      </p:sp>
      <p:sp>
        <p:nvSpPr>
          <p:cNvPr id="9" name="elim-concl"/>
          <p:cNvSpPr txBox="1"/>
          <p:nvPr/>
        </p:nvSpPr>
        <p:spPr>
          <a:xfrm>
            <a:off x="1524000" y="2184400"/>
            <a:ext cx="812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Γ ⊢ match e with { x : A ⇒ e₁ ; y : B ⇒ e₂ } : C</a:t>
            </a:r>
            <a:endParaRPr lang="en-US" sz="1600" noProof="1"/>
          </a:p>
        </p:txBody>
      </p:sp>
      <p:sp>
        <p:nvSpPr>
          <p:cNvPr id="10" name="elim-explain"/>
          <p:cNvSpPr txBox="1"/>
          <p:nvPr/>
        </p:nvSpPr>
        <p:spPr>
          <a:xfrm>
            <a:off x="762000" y="2692400"/>
            <a:ext cx="10668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白话：对"或"类型做任何事，必须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对每一种可能分别给出处理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，且都得到同一结果类型 C。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前提与 sum 的消去规则完全相同——差别不在规则形状，在下面三点。</a:t>
            </a:r>
            <a:endParaRPr lang="en-US" sz="1600" noProof="1"/>
          </a:p>
        </p:txBody>
      </p:sp>
      <p:sp>
        <p:nvSpPr>
          <p:cNvPr id="11" name="diff-title"/>
          <p:cNvSpPr txBox="1"/>
          <p:nvPr/>
        </p:nvSpPr>
        <p:spPr>
          <a:xfrm>
            <a:off x="762000" y="35560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与 sum 消去"同形不同义"的三点差别</a:t>
            </a:r>
            <a:endParaRPr lang="en-US" sz="1600" noProof="1"/>
          </a:p>
        </p:txBody>
      </p:sp>
      <p:sp>
        <p:nvSpPr>
          <p:cNvPr id="12" name="diff-body"/>
          <p:cNvSpPr txBox="1"/>
          <p:nvPr/>
        </p:nvSpPr>
        <p:spPr>
          <a:xfrm>
            <a:off x="762000" y="3937000"/>
            <a:ext cx="10668000" cy="187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消解机制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：值没有构造器标签，消解靠 typecase（运行时类型测试）；TS 的 typeof / instanceof 守卫即其形态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类型等式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：A | B = B | A 是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类型相等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（集合并的交换律）；sum 的 A+B 与 B+A 仅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同构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——标签有语义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操作语义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：typecase 按序尝试、first-match；带 negation 的系统把后续分支收紧为"剩余类型"（TS 的 else narrowing 同理）</a:t>
            </a:r>
            <a:endParaRPr lang="en-US" sz="1600" noProof="1"/>
          </a:p>
        </p:txBody>
      </p:sp>
      <p:sp>
        <p:nvSpPr>
          <p:cNvPr id="13" name="err-line"/>
          <p:cNvSpPr txBox="1"/>
          <p:nvPr/>
        </p:nvSpPr>
        <p:spPr>
          <a:xfrm>
            <a:off x="762000" y="59182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7B2D26"/>
                </a:solidFill>
                <a:latin typeface="MiSans"/>
                <a:ea typeface="MiSans"/>
              </a:rPr>
              <a:t>反面例子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：不分情况直接写 </a:t>
            </a:r>
            <a:r>
              <a:rPr lang="en-US" sz="1600" noProof="1">
                <a:solidFill>
                  <a:srgbClr val="23272E"/>
                </a:solidFill>
                <a:latin typeface="JetBrains Mono"/>
                <a:ea typeface="JetBrains Mono"/>
              </a:rPr>
              <a:t>x.length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——number 上没有 length，编译期即被拒绝。</a:t>
            </a:r>
            <a:endParaRPr lang="en-US" sz="1600" noProof="1"/>
          </a:p>
        </p:txBody>
      </p:sp>
      <p:sp>
        <p:nvSpPr>
          <p:cNvPr id="14" name="lit-note"/>
          <p:cNvSpPr txBox="1"/>
          <p:nvPr/>
        </p:nvSpPr>
        <p:spPr>
          <a:xfrm>
            <a:off x="762000" y="6273800"/>
            <a:ext cx="1066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文献：∨-E 见 Barbanera–Dezani–de'Liguoro 1995；typecase 与集合论语义见 Frisch–Castagna–Benzaken (JACM 2008)；sum 的 case 见 TAPL §11.2。</a:t>
            </a:r>
            <a:endParaRPr lang="en-US" sz="1200" noProof="1"/>
          </a:p>
        </p:txBody>
      </p:sp>
      <p:sp>
        <p:nvSpPr>
          <p:cNvPr id="15" name="footer-left"/>
          <p:cNvSpPr txBox="1"/>
          <p:nvPr/>
        </p:nvSpPr>
        <p:spPr>
          <a:xfrm>
            <a:off x="7620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类型系统讲义 · 并类型与交类型</a:t>
            </a:r>
            <a:endParaRPr lang="en-US" sz="1200" noProof="1"/>
          </a:p>
        </p:txBody>
      </p:sp>
      <p:sp>
        <p:nvSpPr>
          <p:cNvPr id="16" name="footer-page"/>
          <p:cNvSpPr txBox="1"/>
          <p:nvPr/>
        </p:nvSpPr>
        <p:spPr>
          <a:xfrm>
            <a:off x="10922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08</a:t>
            </a:r>
            <a:endParaRPr lang="en-US" sz="12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PART 01 · UNION TYPES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3272E"/>
                </a:solidFill>
                <a:latin typeface="思源宋体"/>
                <a:ea typeface="思源宋体"/>
              </a:rPr>
              <a:t>Narrowing：编译器如何沿分支收紧类型</a:t>
            </a:r>
            <a:endParaRPr lang="en-US" sz="2700" noProof="1"/>
          </a:p>
        </p:txBody>
      </p:sp>
      <p:sp>
        <p:nvSpPr>
          <p:cNvPr id="4" name="rule-accent"/>
          <p:cNvSpPr/>
          <p:nvPr/>
        </p:nvSpPr>
        <p:spPr>
          <a:xfrm>
            <a:off x="762000" y="1346200"/>
            <a:ext cx="812800" cy="381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5" name="rule-line"/>
          <p:cNvSpPr/>
          <p:nvPr/>
        </p:nvSpPr>
        <p:spPr>
          <a:xfrm>
            <a:off x="762000" y="1358900"/>
            <a:ext cx="106680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6" name="guards"/>
          <p:cNvSpPr txBox="1"/>
          <p:nvPr/>
        </p:nvSpPr>
        <p:spPr>
          <a:xfrm>
            <a:off x="762000" y="1625600"/>
            <a:ext cx="4191000" cy="2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常见的类型守卫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</a:t>
            </a:r>
            <a:r>
              <a:rPr lang="en-US" sz="1600" noProof="1">
                <a:solidFill>
                  <a:srgbClr val="23272E"/>
                </a:solidFill>
                <a:latin typeface="JetBrains Mono"/>
                <a:ea typeface="JetBrains Mono"/>
              </a:rPr>
              <a:t>typeof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：区分原始类型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</a:t>
            </a:r>
            <a:r>
              <a:rPr lang="en-US" sz="1600" noProof="1">
                <a:solidFill>
                  <a:srgbClr val="23272E"/>
                </a:solidFill>
                <a:latin typeface="JetBrains Mono"/>
                <a:ea typeface="JetBrains Mono"/>
              </a:rPr>
              <a:t>instanceof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：区分类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</a:t>
            </a:r>
            <a:r>
              <a:rPr lang="en-US" sz="1600" noProof="1">
                <a:solidFill>
                  <a:srgbClr val="23272E"/>
                </a:solidFill>
                <a:latin typeface="JetBrains Mono"/>
                <a:ea typeface="JetBrains Mono"/>
              </a:rPr>
              <a:t>in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：判断字段是否存在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判别字段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：共同的字面量标签</a:t>
            </a:r>
            <a:endParaRPr lang="en-US" sz="1600" noProof="1"/>
          </a:p>
        </p:txBody>
      </p:sp>
      <p:sp>
        <p:nvSpPr>
          <p:cNvPr id="7" name="code-bg"/>
          <p:cNvSpPr/>
          <p:nvPr/>
        </p:nvSpPr>
        <p:spPr>
          <a:xfrm>
            <a:off x="5334000" y="1625600"/>
            <a:ext cx="6096000" cy="3048000"/>
          </a:xfrm>
          <a:prstGeom prst="rect">
            <a:avLst/>
          </a:prstGeom>
          <a:solidFill>
            <a:srgbClr val="F3F1EA"/>
          </a:solidFill>
          <a:ln>
            <a:noFill/>
          </a:ln>
        </p:spPr>
      </p:sp>
      <p:sp>
        <p:nvSpPr>
          <p:cNvPr id="8" name="code"/>
          <p:cNvSpPr txBox="1"/>
          <p:nvPr/>
        </p:nvSpPr>
        <p:spPr>
          <a:xfrm>
            <a:off x="5537200" y="1752600"/>
            <a:ext cx="5715000" cy="281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7B2D26"/>
                </a:solidFill>
                <a:latin typeface="JetBrains Mono"/>
                <a:ea typeface="MiSans"/>
              </a:rPr>
              <a:t>type</a:t>
            </a: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 </a:t>
            </a:r>
            <a:r>
              <a:rPr lang="en-US" sz="1350" noProof="1">
                <a:solidFill>
                  <a:srgbClr val="1F6F5C"/>
                </a:solidFill>
                <a:latin typeface="JetBrains Mono"/>
                <a:ea typeface="MiSans"/>
              </a:rPr>
              <a:t>Shape</a:t>
            </a: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 =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  | { kind: </a:t>
            </a:r>
            <a:r>
              <a:rPr lang="en-US" sz="1350" noProof="1">
                <a:solidFill>
                  <a:srgbClr val="8C6D1F"/>
                </a:solidFill>
                <a:latin typeface="JetBrains Mono"/>
                <a:ea typeface="MiSans"/>
              </a:rPr>
              <a:t>"circle"</a:t>
            </a: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, r: </a:t>
            </a:r>
            <a:r>
              <a:rPr lang="en-US" sz="1350" noProof="1">
                <a:solidFill>
                  <a:srgbClr val="1F6F5C"/>
                </a:solidFill>
                <a:latin typeface="JetBrains Mono"/>
                <a:ea typeface="MiSans"/>
              </a:rPr>
              <a:t>number</a:t>
            </a: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 }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  | { kind: </a:t>
            </a:r>
            <a:r>
              <a:rPr lang="en-US" sz="1350" noProof="1">
                <a:solidFill>
                  <a:srgbClr val="8C6D1F"/>
                </a:solidFill>
                <a:latin typeface="JetBrains Mono"/>
                <a:ea typeface="MiSans"/>
              </a:rPr>
              <a:t>"rect"</a:t>
            </a: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,  w: </a:t>
            </a:r>
            <a:r>
              <a:rPr lang="en-US" sz="1350" noProof="1">
                <a:solidFill>
                  <a:srgbClr val="1F6F5C"/>
                </a:solidFill>
                <a:latin typeface="JetBrains Mono"/>
                <a:ea typeface="MiSans"/>
              </a:rPr>
              <a:t>number</a:t>
            </a: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, h: </a:t>
            </a:r>
            <a:r>
              <a:rPr lang="en-US" sz="1350" noProof="1">
                <a:solidFill>
                  <a:srgbClr val="1F6F5C"/>
                </a:solidFill>
                <a:latin typeface="JetBrains Mono"/>
                <a:ea typeface="MiSans"/>
              </a:rPr>
              <a:t>number</a:t>
            </a: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 };</a:t>
            </a:r>
            <a:endParaRPr lang="en-US" sz="1350" noProof="1"/>
          </a:p>
          <a:p>
            <a:pPr>
              <a:lnSpc>
                <a:spcPct val="155000"/>
              </a:lnSpc>
            </a:pP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7B2D26"/>
                </a:solidFill>
                <a:latin typeface="JetBrains Mono"/>
                <a:ea typeface="MiSans"/>
              </a:rPr>
              <a:t>function</a:t>
            </a: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 area(s: </a:t>
            </a:r>
            <a:r>
              <a:rPr lang="en-US" sz="1350" noProof="1">
                <a:solidFill>
                  <a:srgbClr val="1F6F5C"/>
                </a:solidFill>
                <a:latin typeface="JetBrains Mono"/>
                <a:ea typeface="MiSans"/>
              </a:rPr>
              <a:t>Shape</a:t>
            </a: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) {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  </a:t>
            </a:r>
            <a:r>
              <a:rPr lang="en-US" sz="1350" noProof="1">
                <a:solidFill>
                  <a:srgbClr val="7B2D26"/>
                </a:solidFill>
                <a:latin typeface="JetBrains Mono"/>
                <a:ea typeface="MiSans"/>
              </a:rPr>
              <a:t>switch</a:t>
            </a: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 (s.kind) {           </a:t>
            </a:r>
            <a:r>
              <a:rPr lang="en-US" sz="1350" noProof="1">
                <a:solidFill>
                  <a:srgbClr val="8A8578"/>
                </a:solidFill>
                <a:latin typeface="JetBrains Mono"/>
                <a:ea typeface="MiSans"/>
              </a:rPr>
              <a:t>// 判别字段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    </a:t>
            </a:r>
            <a:r>
              <a:rPr lang="en-US" sz="1350" noProof="1">
                <a:solidFill>
                  <a:srgbClr val="7B2D26"/>
                </a:solidFill>
                <a:latin typeface="JetBrains Mono"/>
                <a:ea typeface="MiSans"/>
              </a:rPr>
              <a:t>case</a:t>
            </a: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 </a:t>
            </a:r>
            <a:r>
              <a:rPr lang="en-US" sz="1350" noProof="1">
                <a:solidFill>
                  <a:srgbClr val="8C6D1F"/>
                </a:solidFill>
                <a:latin typeface="JetBrains Mono"/>
                <a:ea typeface="MiSans"/>
              </a:rPr>
              <a:t>"circle"</a:t>
            </a: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: </a:t>
            </a:r>
            <a:r>
              <a:rPr lang="en-US" sz="1350" noProof="1">
                <a:solidFill>
                  <a:srgbClr val="7B2D26"/>
                </a:solidFill>
                <a:latin typeface="JetBrains Mono"/>
                <a:ea typeface="MiSans"/>
              </a:rPr>
              <a:t>return</a:t>
            </a: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 Math.PI * s.r ** </a:t>
            </a:r>
            <a:r>
              <a:rPr lang="en-US" sz="1350" noProof="1">
                <a:solidFill>
                  <a:srgbClr val="8C6D1F"/>
                </a:solidFill>
                <a:latin typeface="JetBrains Mono"/>
                <a:ea typeface="MiSans"/>
              </a:rPr>
              <a:t>2</a:t>
            </a: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;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    </a:t>
            </a:r>
            <a:r>
              <a:rPr lang="en-US" sz="1350" noProof="1">
                <a:solidFill>
                  <a:srgbClr val="7B2D26"/>
                </a:solidFill>
                <a:latin typeface="JetBrains Mono"/>
                <a:ea typeface="MiSans"/>
              </a:rPr>
              <a:t>case</a:t>
            </a: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 </a:t>
            </a:r>
            <a:r>
              <a:rPr lang="en-US" sz="1350" noProof="1">
                <a:solidFill>
                  <a:srgbClr val="8C6D1F"/>
                </a:solidFill>
                <a:latin typeface="JetBrains Mono"/>
                <a:ea typeface="MiSans"/>
              </a:rPr>
              <a:t>"rect"</a:t>
            </a: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:   </a:t>
            </a:r>
            <a:r>
              <a:rPr lang="en-US" sz="1350" noProof="1">
                <a:solidFill>
                  <a:srgbClr val="7B2D26"/>
                </a:solidFill>
                <a:latin typeface="JetBrains Mono"/>
                <a:ea typeface="MiSans"/>
              </a:rPr>
              <a:t>return</a:t>
            </a: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 s.w * s.h;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  }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}</a:t>
            </a:r>
            <a:endParaRPr lang="en-US" sz="1350" noProof="1"/>
          </a:p>
        </p:txBody>
      </p:sp>
      <p:sp>
        <p:nvSpPr>
          <p:cNvPr id="9" name="code-caption"/>
          <p:cNvSpPr txBox="1"/>
          <p:nvPr/>
        </p:nvSpPr>
        <p:spPr>
          <a:xfrm>
            <a:off x="5334000" y="4749800"/>
            <a:ext cx="609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判别联合（discriminated union）：union + 共同字面量标签字段</a:t>
            </a:r>
            <a:endParaRPr lang="en-US" sz="1200" noProof="1"/>
          </a:p>
        </p:txBody>
      </p:sp>
      <p:sp>
        <p:nvSpPr>
          <p:cNvPr id="10" name="explain"/>
          <p:cNvSpPr txBox="1"/>
          <p:nvPr/>
        </p:nvSpPr>
        <p:spPr>
          <a:xfrm>
            <a:off x="762000" y="5080000"/>
            <a:ext cx="10668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编译器做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控制流分析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（control-flow analysis）：进入每个分支时，把变量的类型收紧为该分支保证成立的类型；离开分支后恢复原类型。判别联合是 union 与"标签"思想的交汇点——它已长得很像第 3 节的 sum type。</a:t>
            </a:r>
            <a:endParaRPr lang="en-US" sz="1600" noProof="1"/>
          </a:p>
        </p:txBody>
      </p:sp>
      <p:sp>
        <p:nvSpPr>
          <p:cNvPr id="11" name="lit-note"/>
          <p:cNvSpPr txBox="1"/>
          <p:nvPr/>
        </p:nvSpPr>
        <p:spPr>
          <a:xfrm>
            <a:off x="762000" y="6197600"/>
            <a:ext cx="1066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文献：TypeScript Handbook: Narrowing 与 Discriminated Unions；流式类型检查见 Scala 3 Reference: Union Types。</a:t>
            </a:r>
            <a:endParaRPr lang="en-US" sz="1200" noProof="1"/>
          </a:p>
        </p:txBody>
      </p:sp>
      <p:sp>
        <p:nvSpPr>
          <p:cNvPr id="12" name="footer-left"/>
          <p:cNvSpPr txBox="1"/>
          <p:nvPr/>
        </p:nvSpPr>
        <p:spPr>
          <a:xfrm>
            <a:off x="7620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类型系统讲义 · 并类型与交类型</a:t>
            </a:r>
            <a:endParaRPr lang="en-US" sz="1200" noProof="1"/>
          </a:p>
        </p:txBody>
      </p:sp>
      <p:sp>
        <p:nvSpPr>
          <p:cNvPr id="13" name="footer-page"/>
          <p:cNvSpPr txBox="1"/>
          <p:nvPr/>
        </p:nvSpPr>
        <p:spPr>
          <a:xfrm>
            <a:off x="10922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09</a:t>
            </a:r>
            <a:endParaRPr lang="en-US" sz="12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PART 01 · UNION TYPES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3272E"/>
                </a:solidFill>
                <a:latin typeface="思源宋体"/>
                <a:ea typeface="思源宋体"/>
              </a:rPr>
              <a:t>Union 的四个典型用途</a:t>
            </a:r>
            <a:endParaRPr lang="en-US" sz="2700" noProof="1"/>
          </a:p>
        </p:txBody>
      </p:sp>
      <p:sp>
        <p:nvSpPr>
          <p:cNvPr id="4" name="rule-accent"/>
          <p:cNvSpPr/>
          <p:nvPr/>
        </p:nvSpPr>
        <p:spPr>
          <a:xfrm>
            <a:off x="762000" y="1346200"/>
            <a:ext cx="812800" cy="381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5" name="rule-line"/>
          <p:cNvSpPr/>
          <p:nvPr/>
        </p:nvSpPr>
        <p:spPr>
          <a:xfrm>
            <a:off x="762000" y="1358900"/>
            <a:ext cx="106680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6" name="u1-title"/>
          <p:cNvSpPr txBox="1"/>
          <p:nvPr/>
        </p:nvSpPr>
        <p:spPr>
          <a:xfrm>
            <a:off x="762000" y="16510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23272E"/>
                </a:solidFill>
                <a:latin typeface="MiSans"/>
                <a:ea typeface="MiSans"/>
              </a:rPr>
              <a:t>① 可空类型：把"可能没有值"写进类型</a:t>
            </a:r>
            <a:endParaRPr lang="en-US" sz="1700" noProof="1"/>
          </a:p>
        </p:txBody>
      </p:sp>
      <p:sp>
        <p:nvSpPr>
          <p:cNvPr id="7" name="u1-body"/>
          <p:cNvSpPr txBox="1"/>
          <p:nvPr/>
        </p:nvSpPr>
        <p:spPr>
          <a:xfrm>
            <a:off x="1066800" y="2006600"/>
            <a:ext cx="10363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23272E"/>
                </a:solidFill>
                <a:latin typeface="JetBrains Mono"/>
                <a:ea typeface="JetBrains Mono"/>
              </a:rPr>
              <a:t>string | null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：开启 strictNullChecks 后，不判空就不能用。</a:t>
            </a:r>
            <a:endParaRPr lang="en-US" sz="14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Kotlin 的 T? 是无标签并（T ∪ null）；Swift 的 Optional 是有标签的 enum——同一需求、两条路线。</a:t>
            </a:r>
            <a:endParaRPr lang="en-US" sz="1400" noProof="1"/>
          </a:p>
        </p:txBody>
      </p:sp>
      <p:sp>
        <p:nvSpPr>
          <p:cNvPr id="8" name="u1-line"/>
          <p:cNvSpPr/>
          <p:nvPr/>
        </p:nvSpPr>
        <p:spPr>
          <a:xfrm>
            <a:off x="1066800" y="2667000"/>
            <a:ext cx="103632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9" name="u2-title"/>
          <p:cNvSpPr txBox="1"/>
          <p:nvPr/>
        </p:nvSpPr>
        <p:spPr>
          <a:xfrm>
            <a:off x="762000" y="28194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23272E"/>
                </a:solidFill>
                <a:latin typeface="MiSans"/>
                <a:ea typeface="MiSans"/>
              </a:rPr>
              <a:t>② 结果与错误：强迫调用者面对失败</a:t>
            </a:r>
            <a:endParaRPr lang="en-US" sz="1700" noProof="1"/>
          </a:p>
        </p:txBody>
      </p:sp>
      <p:sp>
        <p:nvSpPr>
          <p:cNvPr id="10" name="u2-body"/>
          <p:cNvSpPr txBox="1"/>
          <p:nvPr/>
        </p:nvSpPr>
        <p:spPr>
          <a:xfrm>
            <a:off x="1066800" y="3175000"/>
            <a:ext cx="10363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错误建模必须是 tagged：TS 判别联合 </a:t>
            </a:r>
            <a:r>
              <a:rPr lang="en-US" sz="1400" noProof="1">
                <a:solidFill>
                  <a:srgbClr val="23272E"/>
                </a:solidFill>
                <a:latin typeface="JetBrains Mono"/>
                <a:ea typeface="JetBrains Mono"/>
              </a:rPr>
              <a:t>{ ok: true, value: T } | { ok: false, error: E }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；</a:t>
            </a:r>
            <a:endParaRPr lang="en-US" sz="14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Rust / Swift 的 Result 是标准库 enum（sum type）——带标签才能区分 Ok(0) 与 Err(0)（见第 3 节）。</a:t>
            </a:r>
            <a:endParaRPr lang="en-US" sz="1400" noProof="1"/>
          </a:p>
        </p:txBody>
      </p:sp>
      <p:sp>
        <p:nvSpPr>
          <p:cNvPr id="11" name="u2-line"/>
          <p:cNvSpPr/>
          <p:nvPr/>
        </p:nvSpPr>
        <p:spPr>
          <a:xfrm>
            <a:off x="1066800" y="3835400"/>
            <a:ext cx="103632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12" name="u3-title"/>
          <p:cNvSpPr txBox="1"/>
          <p:nvPr/>
        </p:nvSpPr>
        <p:spPr>
          <a:xfrm>
            <a:off x="762000" y="3987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23272E"/>
                </a:solidFill>
                <a:latin typeface="MiSans"/>
                <a:ea typeface="MiSans"/>
              </a:rPr>
              <a:t>③ 有限状态：用字面量联合建模状态机</a:t>
            </a:r>
            <a:endParaRPr lang="en-US" sz="1700" noProof="1"/>
          </a:p>
        </p:txBody>
      </p:sp>
      <p:sp>
        <p:nvSpPr>
          <p:cNvPr id="13" name="u3-body"/>
          <p:cNvSpPr txBox="1"/>
          <p:nvPr/>
        </p:nvSpPr>
        <p:spPr>
          <a:xfrm>
            <a:off x="1066800" y="4343400"/>
            <a:ext cx="10363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23272E"/>
                </a:solidFill>
                <a:latin typeface="JetBrains Mono"/>
                <a:ea typeface="JetBrains Mono"/>
              </a:rPr>
              <a:t>type State = "idle" | "loading" | "success" | "error"</a:t>
            </a:r>
            <a:endParaRPr lang="en-US" sz="14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非法状态（如拼错的 "loding"）在编译期即被拒绝；switch 可检查是否覆盖全部状态。</a:t>
            </a:r>
            <a:endParaRPr lang="en-US" sz="1400" noProof="1"/>
          </a:p>
        </p:txBody>
      </p:sp>
      <p:sp>
        <p:nvSpPr>
          <p:cNvPr id="14" name="u3-line"/>
          <p:cNvSpPr/>
          <p:nvPr/>
        </p:nvSpPr>
        <p:spPr>
          <a:xfrm>
            <a:off x="1066800" y="5003800"/>
            <a:ext cx="103632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15" name="u4-title"/>
          <p:cNvSpPr txBox="1"/>
          <p:nvPr/>
        </p:nvSpPr>
        <p:spPr>
          <a:xfrm>
            <a:off x="762000" y="51562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23272E"/>
                </a:solidFill>
                <a:latin typeface="MiSans"/>
                <a:ea typeface="MiSans"/>
              </a:rPr>
              <a:t>④ 灵活的 API 边界：配置项与多形态参数</a:t>
            </a:r>
            <a:endParaRPr lang="en-US" sz="1700" noProof="1"/>
          </a:p>
        </p:txBody>
      </p:sp>
      <p:sp>
        <p:nvSpPr>
          <p:cNvPr id="16" name="u4-body"/>
          <p:cNvSpPr txBox="1"/>
          <p:nvPr/>
        </p:nvSpPr>
        <p:spPr>
          <a:xfrm>
            <a:off x="1066800" y="5511800"/>
            <a:ext cx="10363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CSS 属性 </a:t>
            </a:r>
            <a:r>
              <a:rPr lang="en-US" sz="1400" noProof="1">
                <a:solidFill>
                  <a:srgbClr val="23272E"/>
                </a:solidFill>
                <a:latin typeface="JetBrains Mono"/>
                <a:ea typeface="JetBrains Mono"/>
              </a:rPr>
              <a:t>width: number | "auto"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、回调 </a:t>
            </a:r>
            <a:r>
              <a:rPr lang="en-US" sz="1400" noProof="1">
                <a:solidFill>
                  <a:srgbClr val="23272E"/>
                </a:solidFill>
                <a:latin typeface="JetBrains Mono"/>
                <a:ea typeface="JetBrains Mono"/>
              </a:rPr>
              <a:t>Event | string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……</a:t>
            </a:r>
            <a:endParaRPr lang="en-US" sz="14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库的作者用 union 精确描述"接受哪几种输入"，既灵活又不失守。</a:t>
            </a:r>
            <a:endParaRPr lang="en-US" sz="1400" noProof="1"/>
          </a:p>
        </p:txBody>
      </p:sp>
      <p:sp>
        <p:nvSpPr>
          <p:cNvPr id="17" name="footer-left"/>
          <p:cNvSpPr txBox="1"/>
          <p:nvPr/>
        </p:nvSpPr>
        <p:spPr>
          <a:xfrm>
            <a:off x="7620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类型系统讲义 · 并类型与交类型</a:t>
            </a:r>
            <a:endParaRPr lang="en-US" sz="1200" noProof="1"/>
          </a:p>
        </p:txBody>
      </p:sp>
      <p:sp>
        <p:nvSpPr>
          <p:cNvPr id="18" name="footer-page"/>
          <p:cNvSpPr txBox="1"/>
          <p:nvPr/>
        </p:nvSpPr>
        <p:spPr>
          <a:xfrm>
            <a:off x="10922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10</a:t>
            </a:r>
            <a:endParaRPr lang="en-US" sz="12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-num"/>
          <p:cNvSpPr txBox="1"/>
          <p:nvPr/>
        </p:nvSpPr>
        <p:spPr>
          <a:xfrm>
            <a:off x="7874000" y="1397000"/>
            <a:ext cx="3556000" cy="355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0000" b="1" noProof="1">
                <a:solidFill>
                  <a:srgbClr val="7B2D26">
                    <a:alpha val="7843"/>
                  </a:srgbClr>
                </a:solidFill>
                <a:latin typeface="思源宋体"/>
                <a:ea typeface="思源宋体"/>
              </a:rPr>
              <a:t>02</a:t>
            </a:r>
            <a:endParaRPr lang="en-US" sz="20000" noProof="1"/>
          </a:p>
        </p:txBody>
      </p:sp>
      <p:sp>
        <p:nvSpPr>
          <p:cNvPr id="3" name="kicker"/>
          <p:cNvSpPr txBox="1"/>
          <p:nvPr/>
        </p:nvSpPr>
        <p:spPr>
          <a:xfrm>
            <a:off x="762000" y="2362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PART 02 · INTERSECTION TYPES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2692400"/>
            <a:ext cx="8128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 noProof="1">
                <a:solidFill>
                  <a:srgbClr val="23272E"/>
                </a:solidFill>
                <a:latin typeface="思源宋体"/>
                <a:ea typeface="思源宋体"/>
              </a:rPr>
              <a:t>Intersection 类型：一个值，同时具备</a:t>
            </a:r>
            <a:endParaRPr lang="en-US" sz="3400" noProof="1"/>
          </a:p>
        </p:txBody>
      </p:sp>
      <p:sp>
        <p:nvSpPr>
          <p:cNvPr id="5" name="desc"/>
          <p:cNvSpPr txBox="1"/>
          <p:nvPr/>
        </p:nvSpPr>
        <p:spPr>
          <a:xfrm>
            <a:off x="762000" y="3505200"/>
            <a:ext cx="7366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6E6A61"/>
                </a:solidFill>
                <a:latin typeface="MiSans"/>
                <a:ea typeface="MiSans"/>
              </a:rPr>
              <a:t>交类型让我们说"这个值同时是 A 和 B"。它是类型级别的"且"，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6E6A61"/>
                </a:solidFill>
                <a:latin typeface="MiSans"/>
                <a:ea typeface="MiSans"/>
              </a:rPr>
              <a:t>与 union 构成漂亮的对偶关系。</a:t>
            </a:r>
            <a:endParaRPr lang="en-US" sz="1600" noProof="1"/>
          </a:p>
        </p:txBody>
      </p:sp>
      <p:sp>
        <p:nvSpPr>
          <p:cNvPr id="6" name="agenda"/>
          <p:cNvSpPr txBox="1"/>
          <p:nvPr/>
        </p:nvSpPr>
        <p:spPr>
          <a:xfrm>
            <a:off x="762000" y="4368800"/>
            <a:ext cx="7366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90000"/>
              </a:lnSpc>
            </a:pPr>
            <a:r>
              <a:rPr lang="en-US" sz="1500" noProof="1">
                <a:solidFill>
                  <a:srgbClr val="23272E"/>
                </a:solidFill>
                <a:latin typeface="MiSans"/>
                <a:ea typeface="MiSans"/>
              </a:rPr>
              <a:t>· 从"多重能力约束"的需求出发</a:t>
            </a:r>
            <a:endParaRPr lang="en-US" sz="1500" noProof="1"/>
          </a:p>
          <a:p>
            <a:pPr>
              <a:lnSpc>
                <a:spcPct val="190000"/>
              </a:lnSpc>
            </a:pPr>
            <a:r>
              <a:rPr lang="en-US" sz="1500" noProof="1">
                <a:solidFill>
                  <a:srgbClr val="23272E"/>
                </a:solidFill>
                <a:latin typeface="MiSans"/>
                <a:ea typeface="MiSans"/>
              </a:rPr>
              <a:t>· 定义与集合论直觉：值集合的交集</a:t>
            </a:r>
            <a:endParaRPr lang="en-US" sz="1500" noProof="1"/>
          </a:p>
          <a:p>
            <a:pPr>
              <a:lnSpc>
                <a:spcPct val="190000"/>
              </a:lnSpc>
            </a:pPr>
            <a:r>
              <a:rPr lang="en-US" sz="1500" noProof="1">
                <a:solidFill>
                  <a:srgbClr val="23272E"/>
                </a:solidFill>
                <a:latin typeface="MiSans"/>
                <a:ea typeface="MiSans"/>
              </a:rPr>
              <a:t>· 类型规则：引入（同时满足）与消去（投影）</a:t>
            </a:r>
            <a:endParaRPr lang="en-US" sz="1500" noProof="1"/>
          </a:p>
          <a:p>
            <a:pPr>
              <a:lnSpc>
                <a:spcPct val="190000"/>
              </a:lnSpc>
            </a:pPr>
            <a:r>
              <a:rPr lang="en-US" sz="1500" noProof="1">
                <a:solidFill>
                  <a:srgbClr val="23272E"/>
                </a:solidFill>
                <a:latin typeface="MiSans"/>
                <a:ea typeface="MiSans"/>
              </a:rPr>
              <a:t>· 四个典型用途：约束、mixin、合并、重载</a:t>
            </a:r>
            <a:endParaRPr lang="en-US" sz="1500" noProof="1"/>
          </a:p>
        </p:txBody>
      </p:sp>
      <p:sp>
        <p:nvSpPr>
          <p:cNvPr id="7" name="footer-left"/>
          <p:cNvSpPr txBox="1"/>
          <p:nvPr/>
        </p:nvSpPr>
        <p:spPr>
          <a:xfrm>
            <a:off x="7620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类型系统讲义 · 并类型与交类型</a:t>
            </a:r>
            <a:endParaRPr lang="en-US" sz="1200" noProof="1"/>
          </a:p>
        </p:txBody>
      </p:sp>
      <p:sp>
        <p:nvSpPr>
          <p:cNvPr id="8" name="footer-page"/>
          <p:cNvSpPr txBox="1"/>
          <p:nvPr/>
        </p:nvSpPr>
        <p:spPr>
          <a:xfrm>
            <a:off x="10922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11</a:t>
            </a:r>
            <a:endParaRPr lang="en-US" sz="12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PART 02 · INTERSECTION TYPES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3272E"/>
                </a:solidFill>
                <a:latin typeface="思源宋体"/>
                <a:ea typeface="思源宋体"/>
              </a:rPr>
              <a:t>引入：一个值要"同时"满足多种要求</a:t>
            </a:r>
            <a:endParaRPr lang="en-US" sz="2700" noProof="1"/>
          </a:p>
        </p:txBody>
      </p:sp>
      <p:sp>
        <p:nvSpPr>
          <p:cNvPr id="4" name="rule-accent"/>
          <p:cNvSpPr/>
          <p:nvPr/>
        </p:nvSpPr>
        <p:spPr>
          <a:xfrm>
            <a:off x="762000" y="1346200"/>
            <a:ext cx="812800" cy="381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5" name="rule-line"/>
          <p:cNvSpPr/>
          <p:nvPr/>
        </p:nvSpPr>
        <p:spPr>
          <a:xfrm>
            <a:off x="762000" y="1358900"/>
            <a:ext cx="106680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6" name="scenario"/>
          <p:cNvSpPr txBox="1"/>
          <p:nvPr/>
        </p:nvSpPr>
        <p:spPr>
          <a:xfrm>
            <a:off x="762000" y="1651000"/>
            <a:ext cx="4826000" cy="2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需求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：写一个泛型函数 sortAndSave，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要求元素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既能比较、又能序列化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。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只写 </a:t>
            </a:r>
            <a:r>
              <a:rPr lang="en-US" sz="1600" noProof="1">
                <a:solidFill>
                  <a:srgbClr val="23272E"/>
                </a:solidFill>
                <a:latin typeface="JetBrains Mono"/>
                <a:ea typeface="JetBrains Mono"/>
              </a:rPr>
              <a:t>&lt;T extends Comparable&gt;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 不够——还要求 Serializable。类型参数需要"且"的约束。</a:t>
            </a:r>
            <a:endParaRPr lang="en-US" sz="1600" noProof="1"/>
          </a:p>
        </p:txBody>
      </p:sp>
      <p:sp>
        <p:nvSpPr>
          <p:cNvPr id="7" name="code-bg"/>
          <p:cNvSpPr/>
          <p:nvPr/>
        </p:nvSpPr>
        <p:spPr>
          <a:xfrm>
            <a:off x="5969000" y="1625600"/>
            <a:ext cx="5461000" cy="1905000"/>
          </a:xfrm>
          <a:prstGeom prst="rect">
            <a:avLst/>
          </a:prstGeom>
          <a:solidFill>
            <a:srgbClr val="F3F1EA"/>
          </a:solidFill>
          <a:ln>
            <a:noFill/>
          </a:ln>
        </p:spPr>
      </p:sp>
      <p:sp>
        <p:nvSpPr>
          <p:cNvPr id="8" name="code"/>
          <p:cNvSpPr txBox="1"/>
          <p:nvPr/>
        </p:nvSpPr>
        <p:spPr>
          <a:xfrm>
            <a:off x="6172200" y="1778000"/>
            <a:ext cx="5080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8A8578"/>
                </a:solidFill>
                <a:latin typeface="JetBrains Mono"/>
                <a:ea typeface="MiSans"/>
              </a:rPr>
              <a:t>// Java：类型参数的交集上界</a:t>
            </a:r>
            <a:endParaRPr lang="en-US" sz="14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&lt;</a:t>
            </a:r>
            <a:r>
              <a:rPr lang="en-US" sz="1400" noProof="1">
                <a:solidFill>
                  <a:srgbClr val="1F6F5C"/>
                </a:solidFill>
                <a:latin typeface="JetBrains Mono"/>
                <a:ea typeface="MiSans"/>
              </a:rPr>
              <a:t>T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</a:t>
            </a:r>
            <a:r>
              <a:rPr lang="en-US" sz="1400" noProof="1">
                <a:solidFill>
                  <a:srgbClr val="7B2D26"/>
                </a:solidFill>
                <a:latin typeface="JetBrains Mono"/>
                <a:ea typeface="MiSans"/>
              </a:rPr>
              <a:t>extends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</a:t>
            </a:r>
            <a:r>
              <a:rPr lang="en-US" sz="1400" noProof="1">
                <a:solidFill>
                  <a:srgbClr val="1F6F5C"/>
                </a:solidFill>
                <a:latin typeface="JetBrains Mono"/>
                <a:ea typeface="MiSans"/>
              </a:rPr>
              <a:t>Serializable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&amp;</a:t>
            </a:r>
            <a:endParaRPr lang="en-US" sz="14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       </a:t>
            </a:r>
            <a:r>
              <a:rPr lang="en-US" sz="1400" noProof="1">
                <a:solidFill>
                  <a:srgbClr val="1F6F5C"/>
                </a:solidFill>
                <a:latin typeface="JetBrains Mono"/>
                <a:ea typeface="MiSans"/>
              </a:rPr>
              <a:t>Comparable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&lt;</a:t>
            </a:r>
            <a:r>
              <a:rPr lang="en-US" sz="1400" noProof="1">
                <a:solidFill>
                  <a:srgbClr val="1F6F5C"/>
                </a:solidFill>
                <a:latin typeface="JetBrains Mono"/>
                <a:ea typeface="MiSans"/>
              </a:rPr>
              <a:t>T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&gt;&gt;</a:t>
            </a:r>
            <a:endParaRPr lang="en-US" sz="14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7B2D26"/>
                </a:solidFill>
                <a:latin typeface="JetBrains Mono"/>
                <a:ea typeface="MiSans"/>
              </a:rPr>
              <a:t>void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sortAndSave(</a:t>
            </a:r>
            <a:r>
              <a:rPr lang="en-US" sz="1400" noProof="1">
                <a:solidFill>
                  <a:srgbClr val="1F6F5C"/>
                </a:solidFill>
                <a:latin typeface="JetBrains Mono"/>
                <a:ea typeface="MiSans"/>
              </a:rPr>
              <a:t>List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&lt;</a:t>
            </a:r>
            <a:r>
              <a:rPr lang="en-US" sz="1400" noProof="1">
                <a:solidFill>
                  <a:srgbClr val="1F6F5C"/>
                </a:solidFill>
                <a:latin typeface="JetBrains Mono"/>
                <a:ea typeface="MiSans"/>
              </a:rPr>
              <a:t>T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&gt; xs) { ... }</a:t>
            </a:r>
            <a:endParaRPr lang="en-US" sz="1400" noProof="1"/>
          </a:p>
        </p:txBody>
      </p:sp>
      <p:sp>
        <p:nvSpPr>
          <p:cNvPr id="9" name="code-caption"/>
          <p:cNvSpPr txBox="1"/>
          <p:nvPr/>
        </p:nvSpPr>
        <p:spPr>
          <a:xfrm>
            <a:off x="5969000" y="3606800"/>
            <a:ext cx="5461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extends A &amp; B：T 必须同时是两个接口的子类型</a:t>
            </a:r>
            <a:endParaRPr lang="en-US" sz="1200" noProof="1"/>
          </a:p>
        </p:txBody>
      </p:sp>
      <p:sp>
        <p:nvSpPr>
          <p:cNvPr id="10" name="ts-bg"/>
          <p:cNvSpPr/>
          <p:nvPr/>
        </p:nvSpPr>
        <p:spPr>
          <a:xfrm>
            <a:off x="762000" y="4419600"/>
            <a:ext cx="6350000" cy="1905000"/>
          </a:xfrm>
          <a:prstGeom prst="rect">
            <a:avLst/>
          </a:prstGeom>
          <a:solidFill>
            <a:srgbClr val="F3F1EA"/>
          </a:solidFill>
          <a:ln>
            <a:noFill/>
          </a:ln>
        </p:spPr>
      </p:sp>
      <p:sp>
        <p:nvSpPr>
          <p:cNvPr id="11" name="ts-code"/>
          <p:cNvSpPr txBox="1"/>
          <p:nvPr/>
        </p:nvSpPr>
        <p:spPr>
          <a:xfrm>
            <a:off x="965200" y="4546599"/>
            <a:ext cx="5969000" cy="1730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8A8578"/>
                </a:solidFill>
                <a:latin typeface="JetBrains Mono"/>
                <a:ea typeface="MiSans"/>
              </a:rPr>
              <a:t>// TypeScript：对象类型的交叉</a:t>
            </a:r>
            <a:endParaRPr lang="en-US" sz="14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7B2D26"/>
                </a:solidFill>
                <a:latin typeface="JetBrains Mono"/>
                <a:ea typeface="MiSans"/>
              </a:rPr>
              <a:t>type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</a:t>
            </a:r>
            <a:r>
              <a:rPr lang="en-US" sz="1400" noProof="1">
                <a:solidFill>
                  <a:srgbClr val="1F6F5C"/>
                </a:solidFill>
                <a:latin typeface="JetBrains Mono"/>
                <a:ea typeface="MiSans"/>
              </a:rPr>
              <a:t>Named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= { name: </a:t>
            </a:r>
            <a:r>
              <a:rPr lang="en-US" sz="1400" noProof="1">
                <a:solidFill>
                  <a:srgbClr val="1F6F5C"/>
                </a:solidFill>
                <a:latin typeface="JetBrains Mono"/>
                <a:ea typeface="MiSans"/>
              </a:rPr>
              <a:t>string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};</a:t>
            </a:r>
            <a:endParaRPr lang="en-US" sz="14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7B2D26"/>
                </a:solidFill>
                <a:latin typeface="JetBrains Mono"/>
                <a:ea typeface="MiSans"/>
              </a:rPr>
              <a:t>type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</a:t>
            </a:r>
            <a:r>
              <a:rPr lang="en-US" sz="1400" noProof="1">
                <a:solidFill>
                  <a:srgbClr val="1F6F5C"/>
                </a:solidFill>
                <a:latin typeface="JetBrains Mono"/>
                <a:ea typeface="MiSans"/>
              </a:rPr>
              <a:t>Aged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 = { age: </a:t>
            </a:r>
            <a:r>
              <a:rPr lang="en-US" sz="1400" noProof="1">
                <a:solidFill>
                  <a:srgbClr val="1F6F5C"/>
                </a:solidFill>
                <a:latin typeface="JetBrains Mono"/>
                <a:ea typeface="MiSans"/>
              </a:rPr>
              <a:t>number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};</a:t>
            </a:r>
            <a:endParaRPr lang="en-US" sz="14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7B2D26"/>
                </a:solidFill>
                <a:latin typeface="JetBrains Mono"/>
                <a:ea typeface="MiSans"/>
              </a:rPr>
              <a:t>type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</a:t>
            </a:r>
            <a:r>
              <a:rPr lang="en-US" sz="1400" noProof="1">
                <a:solidFill>
                  <a:srgbClr val="1F6F5C"/>
                </a:solidFill>
                <a:latin typeface="JetBrains Mono"/>
                <a:ea typeface="MiSans"/>
              </a:rPr>
              <a:t>Person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= </a:t>
            </a:r>
            <a:r>
              <a:rPr lang="en-US" sz="1400" noProof="1">
                <a:solidFill>
                  <a:srgbClr val="1F6F5C"/>
                </a:solidFill>
                <a:latin typeface="JetBrains Mono"/>
                <a:ea typeface="MiSans"/>
              </a:rPr>
              <a:t>Named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&amp; </a:t>
            </a:r>
            <a:r>
              <a:rPr lang="en-US" sz="1400" noProof="1">
                <a:solidFill>
                  <a:srgbClr val="1F6F5C"/>
                </a:solidFill>
                <a:latin typeface="JetBrains Mono"/>
                <a:ea typeface="MiSans"/>
              </a:rPr>
              <a:t>Aged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;</a:t>
            </a:r>
            <a:endParaRPr lang="en-US" sz="14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7B2D26"/>
                </a:solidFill>
                <a:latin typeface="JetBrains Mono"/>
                <a:ea typeface="MiSans"/>
              </a:rPr>
              <a:t>const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p: </a:t>
            </a:r>
            <a:r>
              <a:rPr lang="en-US" sz="1400" noProof="1">
                <a:solidFill>
                  <a:srgbClr val="1F6F5C"/>
                </a:solidFill>
                <a:latin typeface="JetBrains Mono"/>
                <a:ea typeface="MiSans"/>
              </a:rPr>
              <a:t>Person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= { name: </a:t>
            </a:r>
            <a:r>
              <a:rPr lang="en-US" sz="1400" noProof="1">
                <a:solidFill>
                  <a:srgbClr val="8C6D1F"/>
                </a:solidFill>
                <a:latin typeface="JetBrains Mono"/>
                <a:ea typeface="MiSans"/>
              </a:rPr>
              <a:t>"Ada"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, age: </a:t>
            </a:r>
            <a:r>
              <a:rPr lang="en-US" sz="1400" noProof="1">
                <a:solidFill>
                  <a:srgbClr val="8C6D1F"/>
                </a:solidFill>
                <a:latin typeface="JetBrains Mono"/>
                <a:ea typeface="MiSans"/>
              </a:rPr>
              <a:t>36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};</a:t>
            </a:r>
            <a:endParaRPr lang="en-US" sz="1400" noProof="1"/>
          </a:p>
        </p:txBody>
      </p:sp>
      <p:sp>
        <p:nvSpPr>
          <p:cNvPr id="12" name="contrast"/>
          <p:cNvSpPr txBox="1"/>
          <p:nvPr/>
        </p:nvSpPr>
        <p:spPr>
          <a:xfrm>
            <a:off x="7493000" y="4546600"/>
            <a:ext cx="3937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b="1" noProof="1">
                <a:solidFill>
                  <a:srgbClr val="23272E"/>
                </a:solidFill>
                <a:latin typeface="MiSans"/>
                <a:ea typeface="MiSans"/>
              </a:rPr>
              <a:t>与 union 对照</a:t>
            </a:r>
            <a:endParaRPr lang="en-US" sz="140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· union 是"或"：值来自其中一边</a:t>
            </a:r>
            <a:endParaRPr lang="en-US" sz="14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· intersection 是"且"：值同时满足两边</a:t>
            </a:r>
            <a:endParaRPr lang="en-US" sz="1400" noProof="1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Person 必须既有 name 又有 age，少一个都不行。</a:t>
            </a:r>
            <a:endParaRPr lang="en-US" sz="1400" noProof="1"/>
          </a:p>
        </p:txBody>
      </p:sp>
      <p:sp>
        <p:nvSpPr>
          <p:cNvPr id="13" name="footer-left"/>
          <p:cNvSpPr txBox="1"/>
          <p:nvPr/>
        </p:nvSpPr>
        <p:spPr>
          <a:xfrm>
            <a:off x="7620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类型系统讲义 · 并类型与交类型</a:t>
            </a:r>
            <a:endParaRPr lang="en-US" sz="1200" noProof="1"/>
          </a:p>
        </p:txBody>
      </p:sp>
      <p:sp>
        <p:nvSpPr>
          <p:cNvPr id="14" name="footer-page"/>
          <p:cNvSpPr txBox="1"/>
          <p:nvPr/>
        </p:nvSpPr>
        <p:spPr>
          <a:xfrm>
            <a:off x="10922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12</a:t>
            </a:r>
            <a:endParaRPr lang="en-US" sz="12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PART 02 · INTERSECTION TYPES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3272E"/>
                </a:solidFill>
                <a:latin typeface="思源宋体"/>
                <a:ea typeface="思源宋体"/>
              </a:rPr>
              <a:t>定义：Intersection type 是值集合的交集</a:t>
            </a:r>
            <a:endParaRPr lang="en-US" sz="2700" noProof="1"/>
          </a:p>
        </p:txBody>
      </p:sp>
      <p:sp>
        <p:nvSpPr>
          <p:cNvPr id="4" name="rule-accent"/>
          <p:cNvSpPr/>
          <p:nvPr/>
        </p:nvSpPr>
        <p:spPr>
          <a:xfrm>
            <a:off x="762000" y="1346200"/>
            <a:ext cx="812800" cy="381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5" name="rule-line"/>
          <p:cNvSpPr/>
          <p:nvPr/>
        </p:nvSpPr>
        <p:spPr>
          <a:xfrm>
            <a:off x="762000" y="1358900"/>
            <a:ext cx="106680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6" name="def-rule"/>
          <p:cNvSpPr/>
          <p:nvPr/>
        </p:nvSpPr>
        <p:spPr>
          <a:xfrm>
            <a:off x="762000" y="1676400"/>
            <a:ext cx="38100" cy="9398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7" name="def-text"/>
          <p:cNvSpPr txBox="1"/>
          <p:nvPr/>
        </p:nvSpPr>
        <p:spPr>
          <a:xfrm>
            <a:off x="990600" y="1676400"/>
            <a:ext cx="5334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定义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　A &amp; B = { v | v : A 且 v : B }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读作"A 且 B"：值集合取两个类型的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交集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。</a:t>
            </a:r>
            <a:endParaRPr lang="en-US" sz="1600" noProof="1"/>
          </a:p>
        </p:txBody>
      </p:sp>
      <p:sp>
        <p:nvSpPr>
          <p:cNvPr id="8" name="examples"/>
          <p:cNvSpPr txBox="1"/>
          <p:nvPr/>
        </p:nvSpPr>
        <p:spPr>
          <a:xfrm>
            <a:off x="762000" y="2895600"/>
            <a:ext cx="5461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两个重要推论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对象类型下 ≈ 字段合并：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600" noProof="1">
                <a:solidFill>
                  <a:srgbClr val="23272E"/>
                </a:solidFill>
                <a:latin typeface="JetBrains Mono"/>
                <a:ea typeface="JetBrains Mono"/>
              </a:rPr>
              <a:t>{name} &amp; {age} ≈ {name, age}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不相交类型的交集为空：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　</a:t>
            </a:r>
            <a:r>
              <a:rPr lang="en-US" sz="1600" noProof="1">
                <a:solidFill>
                  <a:srgbClr val="23272E"/>
                </a:solidFill>
                <a:latin typeface="JetBrains Mono"/>
                <a:ea typeface="JetBrains Mono"/>
              </a:rPr>
              <a:t>string &amp; number = never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（TS 的判定）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1400"/>
              </a:spcBef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直觉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：交集"越交越窄"——约束越多，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可能的值越少，但我们对值知道得越多。</a:t>
            </a:r>
            <a:endParaRPr lang="en-US" sz="1600" noProof="1"/>
          </a:p>
        </p:txBody>
      </p:sp>
      <p:sp>
        <p:nvSpPr>
          <p:cNvPr id="9" name="venn-a"/>
          <p:cNvSpPr/>
          <p:nvPr/>
        </p:nvSpPr>
        <p:spPr>
          <a:xfrm>
            <a:off x="6731000" y="1905000"/>
            <a:ext cx="2794000" cy="2032000"/>
          </a:xfrm>
          <a:prstGeom prst="ellipse">
            <a:avLst/>
          </a:prstGeom>
          <a:solidFill>
            <a:srgbClr val="7B2D26">
              <a:alpha val="10980"/>
            </a:srgbClr>
          </a:solidFill>
          <a:ln w="19050">
            <a:solidFill>
              <a:srgbClr val="7B2D26"/>
            </a:solidFill>
          </a:ln>
        </p:spPr>
      </p:sp>
      <p:sp>
        <p:nvSpPr>
          <p:cNvPr id="10" name="venn-b"/>
          <p:cNvSpPr/>
          <p:nvPr/>
        </p:nvSpPr>
        <p:spPr>
          <a:xfrm>
            <a:off x="8509000" y="1905000"/>
            <a:ext cx="2794000" cy="2032000"/>
          </a:xfrm>
          <a:prstGeom prst="ellipse">
            <a:avLst/>
          </a:prstGeom>
          <a:solidFill>
            <a:srgbClr val="8C6D1F">
              <a:alpha val="10980"/>
            </a:srgbClr>
          </a:solidFill>
          <a:ln w="19050">
            <a:solidFill>
              <a:srgbClr val="8C6D1F"/>
            </a:solidFill>
          </a:ln>
        </p:spPr>
      </p:sp>
      <p:sp>
        <p:nvSpPr>
          <p:cNvPr id="11" name="venn-lens"/>
          <p:cNvSpPr/>
          <p:nvPr/>
        </p:nvSpPr>
        <p:spPr>
          <a:xfrm>
            <a:off x="8737600" y="2413000"/>
            <a:ext cx="812800" cy="1016000"/>
          </a:xfrm>
          <a:prstGeom prst="ellipse">
            <a:avLst/>
          </a:prstGeom>
          <a:solidFill>
            <a:srgbClr val="7B2D26">
              <a:alpha val="25098"/>
            </a:srgbClr>
          </a:solidFill>
          <a:ln>
            <a:noFill/>
          </a:ln>
        </p:spPr>
      </p:sp>
      <p:sp>
        <p:nvSpPr>
          <p:cNvPr id="12" name="venn-label-a"/>
          <p:cNvSpPr txBox="1"/>
          <p:nvPr/>
        </p:nvSpPr>
        <p:spPr>
          <a:xfrm>
            <a:off x="7048500" y="2730500"/>
            <a:ext cx="635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noProof="1">
                <a:solidFill>
                  <a:srgbClr val="7B2D26"/>
                </a:solidFill>
                <a:latin typeface="MiSans"/>
                <a:ea typeface="MiSans"/>
              </a:rPr>
              <a:t>A</a:t>
            </a:r>
            <a:endParaRPr lang="en-US" sz="1800" noProof="1"/>
          </a:p>
        </p:txBody>
      </p:sp>
      <p:sp>
        <p:nvSpPr>
          <p:cNvPr id="13" name="venn-label-b"/>
          <p:cNvSpPr txBox="1"/>
          <p:nvPr/>
        </p:nvSpPr>
        <p:spPr>
          <a:xfrm>
            <a:off x="10350500" y="2730500"/>
            <a:ext cx="635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noProof="1">
                <a:solidFill>
                  <a:srgbClr val="8C6D1F"/>
                </a:solidFill>
                <a:latin typeface="MiSans"/>
                <a:ea typeface="MiSans"/>
              </a:rPr>
              <a:t>B</a:t>
            </a:r>
            <a:endParaRPr lang="en-US" sz="1800" noProof="1"/>
          </a:p>
        </p:txBody>
      </p:sp>
      <p:sp>
        <p:nvSpPr>
          <p:cNvPr id="14" name="venn-caption"/>
          <p:cNvSpPr txBox="1"/>
          <p:nvPr/>
        </p:nvSpPr>
        <p:spPr>
          <a:xfrm>
            <a:off x="6731000" y="41402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noProof="1">
                <a:solidFill>
                  <a:srgbClr val="6E6A61"/>
                </a:solidFill>
                <a:latin typeface="MiSans"/>
                <a:ea typeface="MiSans"/>
              </a:rPr>
              <a:t>A &amp; B 只覆盖两圆相交的透镜区域</a:t>
            </a:r>
            <a:endParaRPr lang="en-US" sz="1400" noProof="1"/>
          </a:p>
        </p:txBody>
      </p:sp>
      <p:sp>
        <p:nvSpPr>
          <p:cNvPr id="15" name="note"/>
          <p:cNvSpPr txBox="1"/>
          <p:nvPr/>
        </p:nvSpPr>
        <p:spPr>
          <a:xfrm>
            <a:off x="6731000" y="4673600"/>
            <a:ext cx="4699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E6A61"/>
                </a:solidFill>
                <a:latin typeface="MiSans"/>
                <a:ea typeface="MiSans"/>
              </a:rPr>
              <a:t>与 union 的直觉正好相反：</a:t>
            </a:r>
            <a:endParaRPr lang="en-US" sz="14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E6A61"/>
                </a:solidFill>
                <a:latin typeface="MiSans"/>
                <a:ea typeface="MiSans"/>
              </a:rPr>
              <a:t>union 放宽要求（值变多、信息变少），</a:t>
            </a:r>
            <a:endParaRPr lang="en-US" sz="14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E6A61"/>
                </a:solidFill>
                <a:latin typeface="MiSans"/>
                <a:ea typeface="MiSans"/>
              </a:rPr>
              <a:t>intersection 加重要求（值变少、信息变多）。</a:t>
            </a:r>
            <a:endParaRPr lang="en-US" sz="1400" noProof="1"/>
          </a:p>
        </p:txBody>
      </p:sp>
      <p:sp>
        <p:nvSpPr>
          <p:cNvPr id="16" name="footer-left"/>
          <p:cNvSpPr txBox="1"/>
          <p:nvPr/>
        </p:nvSpPr>
        <p:spPr>
          <a:xfrm>
            <a:off x="7620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类型系统讲义 · 并类型与交类型</a:t>
            </a:r>
            <a:endParaRPr lang="en-US" sz="1200" noProof="1"/>
          </a:p>
        </p:txBody>
      </p:sp>
      <p:sp>
        <p:nvSpPr>
          <p:cNvPr id="17" name="footer-page"/>
          <p:cNvSpPr txBox="1"/>
          <p:nvPr/>
        </p:nvSpPr>
        <p:spPr>
          <a:xfrm>
            <a:off x="10922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13</a:t>
            </a:r>
            <a:endParaRPr lang="en-US" sz="12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PART 02 · INTERSECTION TYPES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3272E"/>
                </a:solidFill>
                <a:latin typeface="思源宋体"/>
                <a:ea typeface="思源宋体"/>
              </a:rPr>
              <a:t>Intersection 的类型规则：引入与消去</a:t>
            </a:r>
            <a:endParaRPr lang="en-US" sz="2700" noProof="1"/>
          </a:p>
        </p:txBody>
      </p:sp>
      <p:sp>
        <p:nvSpPr>
          <p:cNvPr id="4" name="rule-accent"/>
          <p:cNvSpPr/>
          <p:nvPr/>
        </p:nvSpPr>
        <p:spPr>
          <a:xfrm>
            <a:off x="762000" y="1346200"/>
            <a:ext cx="812800" cy="381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5" name="rule-line"/>
          <p:cNvSpPr/>
          <p:nvPr/>
        </p:nvSpPr>
        <p:spPr>
          <a:xfrm>
            <a:off x="762000" y="1358900"/>
            <a:ext cx="106680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6" name="intro-title"/>
          <p:cNvSpPr txBox="1"/>
          <p:nvPr/>
        </p:nvSpPr>
        <p:spPr>
          <a:xfrm>
            <a:off x="762000" y="16256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引入（&amp;-I）：同时满足，才是交集</a:t>
            </a:r>
            <a:endParaRPr lang="en-US" sz="1600" noProof="1"/>
          </a:p>
        </p:txBody>
      </p:sp>
      <p:sp>
        <p:nvSpPr>
          <p:cNvPr id="7" name="intro-premise"/>
          <p:cNvSpPr txBox="1"/>
          <p:nvPr/>
        </p:nvSpPr>
        <p:spPr>
          <a:xfrm>
            <a:off x="1016000" y="2006600"/>
            <a:ext cx="381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Γ ⊢ e : A      Γ ⊢ e : B</a:t>
            </a:r>
            <a:endParaRPr lang="en-US" sz="1600" noProof="1"/>
          </a:p>
        </p:txBody>
      </p:sp>
      <p:sp>
        <p:nvSpPr>
          <p:cNvPr id="8" name="intro-bar"/>
          <p:cNvSpPr/>
          <p:nvPr/>
        </p:nvSpPr>
        <p:spPr>
          <a:xfrm>
            <a:off x="1016000" y="2413000"/>
            <a:ext cx="3810000" cy="25400"/>
          </a:xfrm>
          <a:prstGeom prst="rect">
            <a:avLst/>
          </a:prstGeom>
          <a:solidFill>
            <a:srgbClr val="23272E"/>
          </a:solidFill>
          <a:ln>
            <a:noFill/>
          </a:ln>
        </p:spPr>
      </p:sp>
      <p:sp>
        <p:nvSpPr>
          <p:cNvPr id="9" name="intro-name"/>
          <p:cNvSpPr txBox="1"/>
          <p:nvPr/>
        </p:nvSpPr>
        <p:spPr>
          <a:xfrm>
            <a:off x="4927600" y="23114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6E6A61"/>
                </a:solidFill>
                <a:latin typeface="MiSans"/>
                <a:ea typeface="MiSans"/>
              </a:rPr>
              <a:t>(&amp;-I)</a:t>
            </a:r>
            <a:endParaRPr lang="en-US" sz="1400" noProof="1"/>
          </a:p>
        </p:txBody>
      </p:sp>
      <p:sp>
        <p:nvSpPr>
          <p:cNvPr id="10" name="intro-concl"/>
          <p:cNvSpPr txBox="1"/>
          <p:nvPr/>
        </p:nvSpPr>
        <p:spPr>
          <a:xfrm>
            <a:off x="1016000" y="2540000"/>
            <a:ext cx="381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Γ ⊢ e : A &amp; B</a:t>
            </a:r>
            <a:endParaRPr lang="en-US" sz="1600" noProof="1"/>
          </a:p>
        </p:txBody>
      </p:sp>
      <p:sp>
        <p:nvSpPr>
          <p:cNvPr id="11" name="elim-title"/>
          <p:cNvSpPr txBox="1"/>
          <p:nvPr/>
        </p:nvSpPr>
        <p:spPr>
          <a:xfrm>
            <a:off x="6350000" y="16256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消去（&amp;-E）：是交集，就同时是两边</a:t>
            </a:r>
            <a:endParaRPr lang="en-US" sz="1600" noProof="1"/>
          </a:p>
        </p:txBody>
      </p:sp>
      <p:sp>
        <p:nvSpPr>
          <p:cNvPr id="12" name="elim1-premise"/>
          <p:cNvSpPr txBox="1"/>
          <p:nvPr/>
        </p:nvSpPr>
        <p:spPr>
          <a:xfrm>
            <a:off x="6350000" y="2006600"/>
            <a:ext cx="228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Γ ⊢ e : A &amp; B</a:t>
            </a:r>
            <a:endParaRPr lang="en-US" sz="1600" noProof="1"/>
          </a:p>
        </p:txBody>
      </p:sp>
      <p:sp>
        <p:nvSpPr>
          <p:cNvPr id="13" name="elim1-bar"/>
          <p:cNvSpPr/>
          <p:nvPr/>
        </p:nvSpPr>
        <p:spPr>
          <a:xfrm>
            <a:off x="6350000" y="2413000"/>
            <a:ext cx="2286000" cy="25400"/>
          </a:xfrm>
          <a:prstGeom prst="rect">
            <a:avLst/>
          </a:prstGeom>
          <a:solidFill>
            <a:srgbClr val="23272E"/>
          </a:solidFill>
          <a:ln>
            <a:noFill/>
          </a:ln>
        </p:spPr>
      </p:sp>
      <p:sp>
        <p:nvSpPr>
          <p:cNvPr id="14" name="elim1-name"/>
          <p:cNvSpPr txBox="1"/>
          <p:nvPr/>
        </p:nvSpPr>
        <p:spPr>
          <a:xfrm>
            <a:off x="8712200" y="2311400"/>
            <a:ext cx="88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6E6A61"/>
                </a:solidFill>
                <a:latin typeface="MiSans"/>
                <a:ea typeface="MiSans"/>
              </a:rPr>
              <a:t>(&amp;-E₁)</a:t>
            </a:r>
            <a:endParaRPr lang="en-US" sz="1400" noProof="1"/>
          </a:p>
        </p:txBody>
      </p:sp>
      <p:sp>
        <p:nvSpPr>
          <p:cNvPr id="15" name="elim1-concl"/>
          <p:cNvSpPr txBox="1"/>
          <p:nvPr/>
        </p:nvSpPr>
        <p:spPr>
          <a:xfrm>
            <a:off x="6350000" y="2540000"/>
            <a:ext cx="228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Γ ⊢ e : A</a:t>
            </a:r>
            <a:endParaRPr lang="en-US" sz="1600" noProof="1"/>
          </a:p>
        </p:txBody>
      </p:sp>
      <p:sp>
        <p:nvSpPr>
          <p:cNvPr id="16" name="elim2-premise"/>
          <p:cNvSpPr txBox="1"/>
          <p:nvPr/>
        </p:nvSpPr>
        <p:spPr>
          <a:xfrm>
            <a:off x="9144000" y="2006600"/>
            <a:ext cx="228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Γ ⊢ e : A &amp; B</a:t>
            </a:r>
            <a:endParaRPr lang="en-US" sz="1600" noProof="1"/>
          </a:p>
        </p:txBody>
      </p:sp>
      <p:sp>
        <p:nvSpPr>
          <p:cNvPr id="17" name="elim2-bar"/>
          <p:cNvSpPr/>
          <p:nvPr/>
        </p:nvSpPr>
        <p:spPr>
          <a:xfrm>
            <a:off x="9144000" y="2413000"/>
            <a:ext cx="2286000" cy="25400"/>
          </a:xfrm>
          <a:prstGeom prst="rect">
            <a:avLst/>
          </a:prstGeom>
          <a:solidFill>
            <a:srgbClr val="23272E"/>
          </a:solidFill>
          <a:ln>
            <a:noFill/>
          </a:ln>
        </p:spPr>
      </p:sp>
      <p:sp>
        <p:nvSpPr>
          <p:cNvPr id="18" name="elim2-name"/>
          <p:cNvSpPr txBox="1"/>
          <p:nvPr/>
        </p:nvSpPr>
        <p:spPr>
          <a:xfrm>
            <a:off x="11455400" y="2311400"/>
            <a:ext cx="736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6E6A61"/>
                </a:solidFill>
                <a:latin typeface="MiSans"/>
                <a:ea typeface="MiSans"/>
              </a:rPr>
              <a:t>(&amp;-E₂)</a:t>
            </a:r>
            <a:endParaRPr lang="en-US" sz="1400" noProof="1"/>
          </a:p>
        </p:txBody>
      </p:sp>
      <p:sp>
        <p:nvSpPr>
          <p:cNvPr id="19" name="elim2-concl"/>
          <p:cNvSpPr txBox="1"/>
          <p:nvPr/>
        </p:nvSpPr>
        <p:spPr>
          <a:xfrm>
            <a:off x="9144000" y="2540000"/>
            <a:ext cx="2286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Γ ⊢ e : B</a:t>
            </a:r>
            <a:endParaRPr lang="en-US" sz="1600" noProof="1"/>
          </a:p>
        </p:txBody>
      </p:sp>
      <p:sp>
        <p:nvSpPr>
          <p:cNvPr id="20" name="sub-title"/>
          <p:cNvSpPr txBox="1"/>
          <p:nvPr/>
        </p:nvSpPr>
        <p:spPr>
          <a:xfrm>
            <a:off x="762000" y="31496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子类型语言：交集是"最大的下界"</a:t>
            </a:r>
            <a:endParaRPr lang="en-US" sz="1600" noProof="1"/>
          </a:p>
        </p:txBody>
      </p:sp>
      <p:sp>
        <p:nvSpPr>
          <p:cNvPr id="21" name="sub-body"/>
          <p:cNvSpPr txBox="1"/>
          <p:nvPr/>
        </p:nvSpPr>
        <p:spPr>
          <a:xfrm>
            <a:off x="762000" y="3530600"/>
            <a:ext cx="10668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A &amp; B ≤ A，A &amp; B ≤ B（交集比两边都"窄"）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若 C ≤ A 且 C ≤ B，则 C ≤ A &amp; B（任何共同的子类型都在交集里）</a:t>
            </a:r>
            <a:endParaRPr lang="en-US" sz="1600" noProof="1"/>
          </a:p>
        </p:txBody>
      </p:sp>
      <p:sp>
        <p:nvSpPr>
          <p:cNvPr id="22" name="duality-bg"/>
          <p:cNvSpPr/>
          <p:nvPr/>
        </p:nvSpPr>
        <p:spPr>
          <a:xfrm>
            <a:off x="762000" y="4648200"/>
            <a:ext cx="10668000" cy="1397000"/>
          </a:xfrm>
          <a:prstGeom prst="rect">
            <a:avLst/>
          </a:prstGeom>
          <a:solidFill>
            <a:srgbClr val="F3F1EA"/>
          </a:solidFill>
          <a:ln>
            <a:noFill/>
          </a:ln>
        </p:spPr>
      </p:sp>
      <p:sp>
        <p:nvSpPr>
          <p:cNvPr id="23" name="duality"/>
          <p:cNvSpPr txBox="1"/>
          <p:nvPr/>
        </p:nvSpPr>
        <p:spPr>
          <a:xfrm>
            <a:off x="990600" y="4800600"/>
            <a:ext cx="102362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对偶关系（格 / lattice 视角）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union 是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最小上界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（join）：盖住 A 和 B 的最小类型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intersection 是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最大下界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（meet）：被 A 和 B 共同盖住的最大类型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6E6A61"/>
                </a:solidFill>
                <a:latin typeface="MiSans"/>
                <a:ea typeface="MiSans"/>
              </a:rPr>
              <a:t>这条对偶贯穿子类型格：顶类型 unknown 在上方，底类型 never 在下方。</a:t>
            </a:r>
            <a:endParaRPr lang="en-US" sz="1600" noProof="1"/>
          </a:p>
        </p:txBody>
      </p:sp>
      <p:sp>
        <p:nvSpPr>
          <p:cNvPr id="24" name="footer-left"/>
          <p:cNvSpPr txBox="1"/>
          <p:nvPr/>
        </p:nvSpPr>
        <p:spPr>
          <a:xfrm>
            <a:off x="7620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类型系统讲义 · 并类型与交类型</a:t>
            </a:r>
            <a:endParaRPr lang="en-US" sz="1200" noProof="1"/>
          </a:p>
        </p:txBody>
      </p:sp>
      <p:sp>
        <p:nvSpPr>
          <p:cNvPr id="25" name="footer-page"/>
          <p:cNvSpPr txBox="1"/>
          <p:nvPr/>
        </p:nvSpPr>
        <p:spPr>
          <a:xfrm>
            <a:off x="10922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14</a:t>
            </a:r>
            <a:endParaRPr lang="en-US" sz="12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PART 02 · INTERSECTION TYPES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3272E"/>
                </a:solidFill>
                <a:latin typeface="思源宋体"/>
                <a:ea typeface="思源宋体"/>
              </a:rPr>
              <a:t>各语言中的 Intersection 写法</a:t>
            </a:r>
            <a:endParaRPr lang="en-US" sz="2700" noProof="1"/>
          </a:p>
        </p:txBody>
      </p:sp>
      <p:sp>
        <p:nvSpPr>
          <p:cNvPr id="4" name="rule-accent"/>
          <p:cNvSpPr/>
          <p:nvPr/>
        </p:nvSpPr>
        <p:spPr>
          <a:xfrm>
            <a:off x="762000" y="1346200"/>
            <a:ext cx="812800" cy="381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5" name="rule-line"/>
          <p:cNvSpPr/>
          <p:nvPr/>
        </p:nvSpPr>
        <p:spPr>
          <a:xfrm>
            <a:off x="762000" y="1358900"/>
            <a:ext cx="106680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graphicFrame>
        <p:nvGraphicFramePr>
          <p:cNvPr id="6" name="lang-table"/>
          <p:cNvGraphicFramePr>
            <a:graphicFrameLocks noGrp="1"/>
          </p:cNvGraphicFramePr>
          <p:nvPr/>
        </p:nvGraphicFramePr>
        <p:xfrm>
          <a:off x="762000" y="1625600"/>
          <a:ext cx="10668000" cy="40640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7B2D26"/>
                          </a:solidFill>
                          <a:latin typeface="Times New Roman"/>
                          <a:ea typeface="Times New Roman"/>
                        </a:rPr>
                        <a:t>语言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7B2D2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7B2D26"/>
                          </a:solidFill>
                          <a:latin typeface="Times New Roman"/>
                          <a:ea typeface="Times New Roman"/>
                        </a:rPr>
                        <a:t>写法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7B2D2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7B2D26"/>
                          </a:solidFill>
                          <a:latin typeface="Times New Roman"/>
                          <a:ea typeface="Times New Roman"/>
                        </a:rPr>
                        <a:t>说明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7B2D2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008"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TypeScript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7B2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Named &amp; Aged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7B2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一等交叉类型，对象字段合并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7B2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9008"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Scala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A &amp;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一等交集；A with B 的旧写法被取代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9008"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Java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&lt;T extends A &amp; B&gt;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仅用于泛型上界；类实现多接口是变相交集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9008"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C# / Swift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where T : A, B</a:t>
                      </a:r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 / </a:t>
                      </a:r>
                      <a:r>
                        <a:rPr lang="en-US" sz="14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A &amp;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接口约束组合 / 协议组合类型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9008"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Rust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</a:rPr>
                        <a:t>T: Clone + Debug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多 trait bound，作用等同交集约束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note"/>
          <p:cNvSpPr txBox="1"/>
          <p:nvPr/>
        </p:nvSpPr>
        <p:spPr>
          <a:xfrm>
            <a:off x="762000" y="58674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注：多数主流语言只把 intersection 用于"约束"（泛型界），而非一等类型；真正把 A &amp; B 当作普通类型自由书写的，是 TypeScript、Scala 3、Ceylon、Flow 这一系。</a:t>
            </a:r>
            <a:endParaRPr lang="en-US" sz="1200" noProof="1"/>
          </a:p>
        </p:txBody>
      </p:sp>
      <p:sp>
        <p:nvSpPr>
          <p:cNvPr id="8" name="footer-left"/>
          <p:cNvSpPr txBox="1"/>
          <p:nvPr/>
        </p:nvSpPr>
        <p:spPr>
          <a:xfrm>
            <a:off x="7620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类型系统讲义 · 并类型与交类型</a:t>
            </a:r>
            <a:endParaRPr lang="en-US" sz="1200" noProof="1"/>
          </a:p>
        </p:txBody>
      </p:sp>
      <p:sp>
        <p:nvSpPr>
          <p:cNvPr id="9" name="footer-page"/>
          <p:cNvSpPr txBox="1"/>
          <p:nvPr/>
        </p:nvSpPr>
        <p:spPr>
          <a:xfrm>
            <a:off x="10922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15</a:t>
            </a:r>
            <a:endParaRPr lang="en-US" sz="12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PART 02 · INTERSECTION TYPES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3272E"/>
                </a:solidFill>
                <a:latin typeface="思源宋体"/>
                <a:ea typeface="思源宋体"/>
              </a:rPr>
              <a:t>Intersection 的四个典型用途</a:t>
            </a:r>
            <a:endParaRPr lang="en-US" sz="2700" noProof="1"/>
          </a:p>
        </p:txBody>
      </p:sp>
      <p:sp>
        <p:nvSpPr>
          <p:cNvPr id="4" name="rule-accent"/>
          <p:cNvSpPr/>
          <p:nvPr/>
        </p:nvSpPr>
        <p:spPr>
          <a:xfrm>
            <a:off x="762000" y="1346200"/>
            <a:ext cx="812800" cy="381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5" name="rule-line"/>
          <p:cNvSpPr/>
          <p:nvPr/>
        </p:nvSpPr>
        <p:spPr>
          <a:xfrm>
            <a:off x="762000" y="1358900"/>
            <a:ext cx="106680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6" name="u1-title"/>
          <p:cNvSpPr txBox="1"/>
          <p:nvPr/>
        </p:nvSpPr>
        <p:spPr>
          <a:xfrm>
            <a:off x="762000" y="16510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23272E"/>
                </a:solidFill>
                <a:latin typeface="MiSans"/>
                <a:ea typeface="MiSans"/>
              </a:rPr>
              <a:t>① 多重能力约束：泛型参数的"且"</a:t>
            </a:r>
            <a:endParaRPr lang="en-US" sz="1700" noProof="1"/>
          </a:p>
        </p:txBody>
      </p:sp>
      <p:sp>
        <p:nvSpPr>
          <p:cNvPr id="7" name="u1-body"/>
          <p:cNvSpPr txBox="1"/>
          <p:nvPr/>
        </p:nvSpPr>
        <p:spPr>
          <a:xfrm>
            <a:off x="1066800" y="2006600"/>
            <a:ext cx="10363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Java </a:t>
            </a:r>
            <a:r>
              <a:rPr lang="en-US" sz="1400" noProof="1">
                <a:solidFill>
                  <a:srgbClr val="23272E"/>
                </a:solidFill>
                <a:latin typeface="JetBrains Mono"/>
                <a:ea typeface="JetBrains Mono"/>
              </a:rPr>
              <a:t>&lt;T extends Serializable &amp; Comparable&lt;T&gt;&gt;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、Rust </a:t>
            </a:r>
            <a:r>
              <a:rPr lang="en-US" sz="1400" noProof="1">
                <a:solidFill>
                  <a:srgbClr val="23272E"/>
                </a:solidFill>
                <a:latin typeface="JetBrains Mono"/>
                <a:ea typeface="JetBrains Mono"/>
              </a:rPr>
              <a:t>T: Clone + Debug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：</a:t>
            </a:r>
            <a:endParaRPr lang="en-US" sz="14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函数体可以安全地同时使用两组能力，调用方必须传入"样样都行"的类型。</a:t>
            </a:r>
            <a:endParaRPr lang="en-US" sz="1400" noProof="1"/>
          </a:p>
        </p:txBody>
      </p:sp>
      <p:sp>
        <p:nvSpPr>
          <p:cNvPr id="8" name="u1-line"/>
          <p:cNvSpPr/>
          <p:nvPr/>
        </p:nvSpPr>
        <p:spPr>
          <a:xfrm>
            <a:off x="1066800" y="2667000"/>
            <a:ext cx="103632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9" name="u2-title"/>
          <p:cNvSpPr txBox="1"/>
          <p:nvPr/>
        </p:nvSpPr>
        <p:spPr>
          <a:xfrm>
            <a:off x="762000" y="28194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23272E"/>
                </a:solidFill>
                <a:latin typeface="MiSans"/>
                <a:ea typeface="MiSans"/>
              </a:rPr>
              <a:t>② Mixin / Trait 组合：行为的拼装</a:t>
            </a:r>
            <a:endParaRPr lang="en-US" sz="1700" noProof="1"/>
          </a:p>
        </p:txBody>
      </p:sp>
      <p:sp>
        <p:nvSpPr>
          <p:cNvPr id="10" name="u2-body"/>
          <p:cNvSpPr txBox="1"/>
          <p:nvPr/>
        </p:nvSpPr>
        <p:spPr>
          <a:xfrm>
            <a:off x="1066800" y="3175000"/>
            <a:ext cx="10363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Scala 中 </a:t>
            </a:r>
            <a:r>
              <a:rPr lang="en-US" sz="1400" noProof="1">
                <a:solidFill>
                  <a:srgbClr val="23272E"/>
                </a:solidFill>
                <a:latin typeface="JetBrains Mono"/>
                <a:ea typeface="JetBrains Mono"/>
              </a:rPr>
              <a:t>new A with B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 的类型就是 </a:t>
            </a:r>
            <a:r>
              <a:rPr lang="en-US" sz="1400" noProof="1">
                <a:solidFill>
                  <a:srgbClr val="23272E"/>
                </a:solidFill>
                <a:latin typeface="JetBrains Mono"/>
                <a:ea typeface="JetBrains Mono"/>
              </a:rPr>
              <a:t>A &amp; B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：</a:t>
            </a:r>
            <a:endParaRPr lang="en-US" sz="14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小接口各自定义，交集按需组合——避免"胖接口"和僵硬的继承树。</a:t>
            </a:r>
            <a:endParaRPr lang="en-US" sz="1400" noProof="1"/>
          </a:p>
        </p:txBody>
      </p:sp>
      <p:sp>
        <p:nvSpPr>
          <p:cNvPr id="11" name="u2-line"/>
          <p:cNvSpPr/>
          <p:nvPr/>
        </p:nvSpPr>
        <p:spPr>
          <a:xfrm>
            <a:off x="1066800" y="3835400"/>
            <a:ext cx="103632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12" name="u3-title"/>
          <p:cNvSpPr txBox="1"/>
          <p:nvPr/>
        </p:nvSpPr>
        <p:spPr>
          <a:xfrm>
            <a:off x="762000" y="3987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23272E"/>
                </a:solidFill>
                <a:latin typeface="MiSans"/>
                <a:ea typeface="MiSans"/>
              </a:rPr>
              <a:t>③ 对象合并：配置与 Props 的叠加</a:t>
            </a:r>
            <a:endParaRPr lang="en-US" sz="1700" noProof="1"/>
          </a:p>
        </p:txBody>
      </p:sp>
      <p:sp>
        <p:nvSpPr>
          <p:cNvPr id="13" name="u3-body"/>
          <p:cNvSpPr txBox="1"/>
          <p:nvPr/>
        </p:nvSpPr>
        <p:spPr>
          <a:xfrm>
            <a:off x="1066800" y="4343400"/>
            <a:ext cx="10363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23272E"/>
                </a:solidFill>
                <a:latin typeface="JetBrains Mono"/>
                <a:ea typeface="JetBrains Mono"/>
              </a:rPr>
              <a:t>type Props = BaseProps &amp; { theme: Theme }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：在既有结构上叠加字段，</a:t>
            </a:r>
            <a:endParaRPr lang="en-US" sz="14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是 TS 生态里组合配置、扩展组件属性的日常手法。</a:t>
            </a:r>
            <a:endParaRPr lang="en-US" sz="1400" noProof="1"/>
          </a:p>
        </p:txBody>
      </p:sp>
      <p:sp>
        <p:nvSpPr>
          <p:cNvPr id="14" name="u3-line"/>
          <p:cNvSpPr/>
          <p:nvPr/>
        </p:nvSpPr>
        <p:spPr>
          <a:xfrm>
            <a:off x="1066800" y="5003800"/>
            <a:ext cx="103632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15" name="u4-title"/>
          <p:cNvSpPr txBox="1"/>
          <p:nvPr/>
        </p:nvSpPr>
        <p:spPr>
          <a:xfrm>
            <a:off x="762000" y="51562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23272E"/>
                </a:solidFill>
                <a:latin typeface="MiSans"/>
                <a:ea typeface="MiSans"/>
              </a:rPr>
              <a:t>④ 重载与精细化类型</a:t>
            </a:r>
            <a:endParaRPr lang="en-US" sz="1700" noProof="1"/>
          </a:p>
        </p:txBody>
      </p:sp>
      <p:sp>
        <p:nvSpPr>
          <p:cNvPr id="16" name="u4-body"/>
          <p:cNvSpPr txBox="1"/>
          <p:nvPr/>
        </p:nvSpPr>
        <p:spPr>
          <a:xfrm>
            <a:off x="1066800" y="5511800"/>
            <a:ext cx="10363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函数类型的交集可编码重载：</a:t>
            </a:r>
            <a:r>
              <a:rPr lang="en-US" sz="1400" noProof="1">
                <a:solidFill>
                  <a:srgbClr val="23272E"/>
                </a:solidFill>
                <a:latin typeface="JetBrains Mono"/>
                <a:ea typeface="JetBrains Mono"/>
              </a:rPr>
              <a:t>((x: string) =&gt; void) &amp; ((x: number) =&gt; void)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；</a:t>
            </a:r>
            <a:endParaRPr lang="en-US" sz="14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refinement type（如"正整数"）可看作 </a:t>
            </a:r>
            <a:r>
              <a:rPr lang="en-US" sz="1400" noProof="1">
                <a:solidFill>
                  <a:srgbClr val="23272E"/>
                </a:solidFill>
                <a:latin typeface="JetBrains Mono"/>
                <a:ea typeface="JetBrains Mono"/>
              </a:rPr>
              <a:t>int &amp; { x | x &gt; 0 }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 的思想来源。</a:t>
            </a:r>
            <a:endParaRPr lang="en-US" sz="1400" noProof="1"/>
          </a:p>
        </p:txBody>
      </p:sp>
      <p:sp>
        <p:nvSpPr>
          <p:cNvPr id="17" name="footer-left"/>
          <p:cNvSpPr txBox="1"/>
          <p:nvPr/>
        </p:nvSpPr>
        <p:spPr>
          <a:xfrm>
            <a:off x="7620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类型系统讲义 · 并类型与交类型</a:t>
            </a:r>
            <a:endParaRPr lang="en-US" sz="1200" noProof="1"/>
          </a:p>
        </p:txBody>
      </p:sp>
      <p:sp>
        <p:nvSpPr>
          <p:cNvPr id="18" name="footer-page"/>
          <p:cNvSpPr txBox="1"/>
          <p:nvPr/>
        </p:nvSpPr>
        <p:spPr>
          <a:xfrm>
            <a:off x="10922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16</a:t>
            </a:r>
            <a:endParaRPr lang="en-US" sz="120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-num"/>
          <p:cNvSpPr txBox="1"/>
          <p:nvPr/>
        </p:nvSpPr>
        <p:spPr>
          <a:xfrm>
            <a:off x="7874000" y="1397000"/>
            <a:ext cx="3556000" cy="355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0000" b="1" noProof="1">
                <a:solidFill>
                  <a:srgbClr val="7B2D26">
                    <a:alpha val="7843"/>
                  </a:srgbClr>
                </a:solidFill>
                <a:latin typeface="思源宋体"/>
                <a:ea typeface="思源宋体"/>
              </a:rPr>
              <a:t>03</a:t>
            </a:r>
            <a:endParaRPr lang="en-US" sz="20000" noProof="1"/>
          </a:p>
        </p:txBody>
      </p:sp>
      <p:sp>
        <p:nvSpPr>
          <p:cNvPr id="3" name="kicker"/>
          <p:cNvSpPr txBox="1"/>
          <p:nvPr/>
        </p:nvSpPr>
        <p:spPr>
          <a:xfrm>
            <a:off x="762000" y="23622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PART 03 · 与代数数据类型的对比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2692400"/>
            <a:ext cx="8382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 noProof="1">
                <a:solidFill>
                  <a:srgbClr val="23272E"/>
                </a:solidFill>
                <a:latin typeface="思源宋体"/>
                <a:ea typeface="思源宋体"/>
              </a:rPr>
              <a:t>Union / Intersection vs Product / Sum</a:t>
            </a:r>
            <a:endParaRPr lang="en-US" sz="3400" noProof="1"/>
          </a:p>
        </p:txBody>
      </p:sp>
      <p:sp>
        <p:nvSpPr>
          <p:cNvPr id="5" name="desc"/>
          <p:cNvSpPr txBox="1"/>
          <p:nvPr/>
        </p:nvSpPr>
        <p:spPr>
          <a:xfrm>
            <a:off x="762000" y="3505200"/>
            <a:ext cx="7366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6E6A61"/>
                </a:solidFill>
                <a:latin typeface="MiSans"/>
                <a:ea typeface="MiSans"/>
              </a:rPr>
              <a:t>两对概念都谈"或"与"且"，却不是一回事。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6E6A61"/>
                </a:solidFill>
                <a:latin typeface="MiSans"/>
                <a:ea typeface="MiSans"/>
              </a:rPr>
              <a:t>分清它们，是理解现代语言类型设计的关键一步。</a:t>
            </a:r>
            <a:endParaRPr lang="en-US" sz="1600" noProof="1"/>
          </a:p>
        </p:txBody>
      </p:sp>
      <p:sp>
        <p:nvSpPr>
          <p:cNvPr id="6" name="agenda"/>
          <p:cNvSpPr txBox="1"/>
          <p:nvPr/>
        </p:nvSpPr>
        <p:spPr>
          <a:xfrm>
            <a:off x="762000" y="4368800"/>
            <a:ext cx="7366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90000"/>
              </a:lnSpc>
            </a:pPr>
            <a:r>
              <a:rPr lang="en-US" sz="1500" noProof="1">
                <a:solidFill>
                  <a:srgbClr val="23272E"/>
                </a:solidFill>
                <a:latin typeface="MiSans"/>
                <a:ea typeface="MiSans"/>
              </a:rPr>
              <a:t>· 回顾：product type 与 sum type</a:t>
            </a:r>
            <a:endParaRPr lang="en-US" sz="1500" noProof="1"/>
          </a:p>
          <a:p>
            <a:pPr>
              <a:lnSpc>
                <a:spcPct val="190000"/>
              </a:lnSpc>
            </a:pPr>
            <a:r>
              <a:rPr lang="en-US" sz="1500" noProof="1">
                <a:solidFill>
                  <a:srgbClr val="23272E"/>
                </a:solidFill>
                <a:latin typeface="MiSans"/>
                <a:ea typeface="MiSans"/>
              </a:rPr>
              <a:t>· 区别①：有没有构造器标签</a:t>
            </a:r>
            <a:endParaRPr lang="en-US" sz="1500" noProof="1"/>
          </a:p>
          <a:p>
            <a:pPr>
              <a:lnSpc>
                <a:spcPct val="190000"/>
              </a:lnSpc>
            </a:pPr>
            <a:r>
              <a:rPr lang="en-US" sz="1500" noProof="1">
                <a:solidFill>
                  <a:srgbClr val="23272E"/>
                </a:solidFill>
                <a:latin typeface="MiSans"/>
                <a:ea typeface="MiSans"/>
              </a:rPr>
              <a:t>· 区别②：代数性质与"结构 vs 名义"</a:t>
            </a:r>
            <a:endParaRPr lang="en-US" sz="1500" noProof="1"/>
          </a:p>
          <a:p>
            <a:pPr>
              <a:lnSpc>
                <a:spcPct val="190000"/>
              </a:lnSpc>
            </a:pPr>
            <a:r>
              <a:rPr lang="en-US" sz="1500" noProof="1">
                <a:solidFill>
                  <a:srgbClr val="23272E"/>
                </a:solidFill>
                <a:latin typeface="MiSans"/>
                <a:ea typeface="MiSans"/>
              </a:rPr>
              <a:t>· 对照总表与语言设计的取舍</a:t>
            </a:r>
            <a:endParaRPr lang="en-US" sz="1500" noProof="1"/>
          </a:p>
        </p:txBody>
      </p:sp>
      <p:sp>
        <p:nvSpPr>
          <p:cNvPr id="7" name="footer-left"/>
          <p:cNvSpPr txBox="1"/>
          <p:nvPr/>
        </p:nvSpPr>
        <p:spPr>
          <a:xfrm>
            <a:off x="7620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类型系统讲义 · 并类型与交类型</a:t>
            </a:r>
            <a:endParaRPr lang="en-US" sz="1200" noProof="1"/>
          </a:p>
        </p:txBody>
      </p:sp>
      <p:sp>
        <p:nvSpPr>
          <p:cNvPr id="8" name="footer-page"/>
          <p:cNvSpPr txBox="1"/>
          <p:nvPr/>
        </p:nvSpPr>
        <p:spPr>
          <a:xfrm>
            <a:off x="10922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17</a:t>
            </a:r>
            <a:endParaRPr lang="en-US" sz="120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PART 03 · 与代数数据类型的对比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3272E"/>
                </a:solidFill>
                <a:latin typeface="思源宋体"/>
                <a:ea typeface="思源宋体"/>
              </a:rPr>
              <a:t>回顾：Product type——"同时拥有"的聚合</a:t>
            </a:r>
            <a:endParaRPr lang="en-US" sz="2700" noProof="1"/>
          </a:p>
        </p:txBody>
      </p:sp>
      <p:sp>
        <p:nvSpPr>
          <p:cNvPr id="4" name="rule-accent"/>
          <p:cNvSpPr/>
          <p:nvPr/>
        </p:nvSpPr>
        <p:spPr>
          <a:xfrm>
            <a:off x="762000" y="1346200"/>
            <a:ext cx="812800" cy="381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5" name="rule-line"/>
          <p:cNvSpPr/>
          <p:nvPr/>
        </p:nvSpPr>
        <p:spPr>
          <a:xfrm>
            <a:off x="762000" y="1358900"/>
            <a:ext cx="106680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6" name="def-rule"/>
          <p:cNvSpPr/>
          <p:nvPr/>
        </p:nvSpPr>
        <p:spPr>
          <a:xfrm>
            <a:off x="762000" y="1676400"/>
            <a:ext cx="38100" cy="9398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7" name="def-text"/>
          <p:cNvSpPr txBox="1"/>
          <p:nvPr/>
        </p:nvSpPr>
        <p:spPr>
          <a:xfrm>
            <a:off x="990600" y="16764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定义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　A × B 的值是有序对 (a, b)，记录（record）是它的多字段推广。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值的数量：|A × B| = |A| · |B| —— 所以叫"积"。</a:t>
            </a:r>
            <a:endParaRPr lang="en-US" sz="1600" noProof="1"/>
          </a:p>
        </p:txBody>
      </p:sp>
      <p:sp>
        <p:nvSpPr>
          <p:cNvPr id="8" name="code-bg"/>
          <p:cNvSpPr/>
          <p:nvPr/>
        </p:nvSpPr>
        <p:spPr>
          <a:xfrm>
            <a:off x="762000" y="2895600"/>
            <a:ext cx="5969000" cy="2159000"/>
          </a:xfrm>
          <a:prstGeom prst="rect">
            <a:avLst/>
          </a:prstGeom>
          <a:solidFill>
            <a:srgbClr val="F3F1EA"/>
          </a:solidFill>
          <a:ln>
            <a:noFill/>
          </a:ln>
        </p:spPr>
      </p:sp>
      <p:sp>
        <p:nvSpPr>
          <p:cNvPr id="9" name="code"/>
          <p:cNvSpPr txBox="1"/>
          <p:nvPr/>
        </p:nvSpPr>
        <p:spPr>
          <a:xfrm>
            <a:off x="965200" y="3022600"/>
            <a:ext cx="5588000" cy="193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8A8578"/>
                </a:solidFill>
                <a:latin typeface="JetBrains Mono"/>
                <a:ea typeface="MiSans"/>
              </a:rPr>
              <a:t>// C：结构体是 product type</a:t>
            </a:r>
            <a:endParaRPr lang="en-US" sz="14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7B2D26"/>
                </a:solidFill>
                <a:latin typeface="JetBrains Mono"/>
                <a:ea typeface="MiSans"/>
              </a:rPr>
              <a:t>struct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</a:t>
            </a:r>
            <a:r>
              <a:rPr lang="en-US" sz="1400" noProof="1">
                <a:solidFill>
                  <a:srgbClr val="1F6F5C"/>
                </a:solidFill>
                <a:latin typeface="JetBrains Mono"/>
                <a:ea typeface="MiSans"/>
              </a:rPr>
              <a:t>Point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{ </a:t>
            </a:r>
            <a:r>
              <a:rPr lang="en-US" sz="1400" noProof="1">
                <a:solidFill>
                  <a:srgbClr val="1F6F5C"/>
                </a:solidFill>
                <a:latin typeface="JetBrains Mono"/>
                <a:ea typeface="MiSans"/>
              </a:rPr>
              <a:t>int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x; </a:t>
            </a:r>
            <a:r>
              <a:rPr lang="en-US" sz="1400" noProof="1">
                <a:solidFill>
                  <a:srgbClr val="1F6F5C"/>
                </a:solidFill>
                <a:latin typeface="JetBrains Mono"/>
                <a:ea typeface="MiSans"/>
              </a:rPr>
              <a:t>int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y; };</a:t>
            </a:r>
            <a:endParaRPr lang="en-US" sz="1400" noProof="1"/>
          </a:p>
          <a:p>
            <a:pPr>
              <a:lnSpc>
                <a:spcPct val="155000"/>
              </a:lnSpc>
            </a:pPr>
            <a:endParaRPr lang="en-US" sz="14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8A8578"/>
                </a:solidFill>
                <a:latin typeface="JetBrains Mono"/>
                <a:ea typeface="MiSans"/>
              </a:rPr>
              <a:t>// TypeScript：记录与元组都是</a:t>
            </a:r>
            <a:endParaRPr lang="en-US" sz="14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7B2D26"/>
                </a:solidFill>
                <a:latin typeface="JetBrains Mono"/>
                <a:ea typeface="MiSans"/>
              </a:rPr>
              <a:t>type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</a:t>
            </a:r>
            <a:r>
              <a:rPr lang="en-US" sz="1400" noProof="1">
                <a:solidFill>
                  <a:srgbClr val="1F6F5C"/>
                </a:solidFill>
                <a:latin typeface="JetBrains Mono"/>
                <a:ea typeface="MiSans"/>
              </a:rPr>
              <a:t>Point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= { x: </a:t>
            </a:r>
            <a:r>
              <a:rPr lang="en-US" sz="1400" noProof="1">
                <a:solidFill>
                  <a:srgbClr val="1F6F5C"/>
                </a:solidFill>
                <a:latin typeface="JetBrains Mono"/>
                <a:ea typeface="MiSans"/>
              </a:rPr>
              <a:t>number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, y: </a:t>
            </a:r>
            <a:r>
              <a:rPr lang="en-US" sz="1400" noProof="1">
                <a:solidFill>
                  <a:srgbClr val="1F6F5C"/>
                </a:solidFill>
                <a:latin typeface="JetBrains Mono"/>
                <a:ea typeface="MiSans"/>
              </a:rPr>
              <a:t>number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};</a:t>
            </a:r>
            <a:endParaRPr lang="en-US" sz="14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7B2D26"/>
                </a:solidFill>
                <a:latin typeface="JetBrains Mono"/>
                <a:ea typeface="MiSans"/>
              </a:rPr>
              <a:t>type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</a:t>
            </a:r>
            <a:r>
              <a:rPr lang="en-US" sz="1400" noProof="1">
                <a:solidFill>
                  <a:srgbClr val="1F6F5C"/>
                </a:solidFill>
                <a:latin typeface="JetBrains Mono"/>
                <a:ea typeface="MiSans"/>
              </a:rPr>
              <a:t>Pair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  = [</a:t>
            </a:r>
            <a:r>
              <a:rPr lang="en-US" sz="1400" noProof="1">
                <a:solidFill>
                  <a:srgbClr val="1F6F5C"/>
                </a:solidFill>
                <a:latin typeface="JetBrains Mono"/>
                <a:ea typeface="MiSans"/>
              </a:rPr>
              <a:t>string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, </a:t>
            </a:r>
            <a:r>
              <a:rPr lang="en-US" sz="1400" noProof="1">
                <a:solidFill>
                  <a:srgbClr val="1F6F5C"/>
                </a:solidFill>
                <a:latin typeface="JetBrains Mono"/>
                <a:ea typeface="MiSans"/>
              </a:rPr>
              <a:t>number</a:t>
            </a:r>
            <a:r>
              <a:rPr lang="en-US" sz="1400" noProof="1">
                <a:solidFill>
                  <a:srgbClr val="2B2F36"/>
                </a:solidFill>
                <a:latin typeface="JetBrains Mono"/>
                <a:ea typeface="MiSans"/>
              </a:rPr>
              <a:t>];</a:t>
            </a:r>
            <a:endParaRPr lang="en-US" sz="1400" noProof="1"/>
          </a:p>
        </p:txBody>
      </p:sp>
      <p:sp>
        <p:nvSpPr>
          <p:cNvPr id="10" name="explain"/>
          <p:cNvSpPr txBox="1"/>
          <p:nvPr/>
        </p:nvSpPr>
        <p:spPr>
          <a:xfrm>
            <a:off x="7112000" y="2895600"/>
            <a:ext cx="4318000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"代数"之名由此而来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类型表达式像算术：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积　对应　乘法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unit（空积）对应 1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A × unit ≅ A</a:t>
            </a:r>
            <a:endParaRPr lang="en-US" sz="1600" noProof="1"/>
          </a:p>
        </p:txBody>
      </p:sp>
      <p:sp>
        <p:nvSpPr>
          <p:cNvPr id="11" name="note"/>
          <p:cNvSpPr txBox="1"/>
          <p:nvPr/>
        </p:nvSpPr>
        <p:spPr>
          <a:xfrm>
            <a:off x="762000" y="5334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直觉上 product 也是"且"——Point 同时有 x 和 y。但它与 intersection 的含义不同：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product 把几个值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打包成一个新值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；intersection 说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同一个值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同时满足几个类型。下一页先看完 sum，再统一对比。</a:t>
            </a:r>
            <a:endParaRPr lang="en-US" sz="1600" noProof="1"/>
          </a:p>
        </p:txBody>
      </p:sp>
      <p:sp>
        <p:nvSpPr>
          <p:cNvPr id="12" name="footer-left"/>
          <p:cNvSpPr txBox="1"/>
          <p:nvPr/>
        </p:nvSpPr>
        <p:spPr>
          <a:xfrm>
            <a:off x="7620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类型系统讲义 · 并类型与交类型</a:t>
            </a:r>
            <a:endParaRPr lang="en-US" sz="1200" noProof="1"/>
          </a:p>
        </p:txBody>
      </p:sp>
      <p:sp>
        <p:nvSpPr>
          <p:cNvPr id="13" name="footer-page"/>
          <p:cNvSpPr txBox="1"/>
          <p:nvPr/>
        </p:nvSpPr>
        <p:spPr>
          <a:xfrm>
            <a:off x="10922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18</a:t>
            </a:r>
            <a:endParaRPr lang="en-US" sz="1200" noProof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PART 03 · 与代数数据类型的对比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3272E"/>
                </a:solidFill>
                <a:latin typeface="思源宋体"/>
                <a:ea typeface="思源宋体"/>
              </a:rPr>
              <a:t>回顾：Sum type——"带标签的"二选一</a:t>
            </a:r>
            <a:endParaRPr lang="en-US" sz="2700" noProof="1"/>
          </a:p>
        </p:txBody>
      </p:sp>
      <p:sp>
        <p:nvSpPr>
          <p:cNvPr id="4" name="rule-accent"/>
          <p:cNvSpPr/>
          <p:nvPr/>
        </p:nvSpPr>
        <p:spPr>
          <a:xfrm>
            <a:off x="762000" y="1346200"/>
            <a:ext cx="812800" cy="381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5" name="rule-line"/>
          <p:cNvSpPr/>
          <p:nvPr/>
        </p:nvSpPr>
        <p:spPr>
          <a:xfrm>
            <a:off x="762000" y="1358900"/>
            <a:ext cx="106680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6" name="def-rule"/>
          <p:cNvSpPr/>
          <p:nvPr/>
        </p:nvSpPr>
        <p:spPr>
          <a:xfrm>
            <a:off x="762000" y="1676400"/>
            <a:ext cx="38100" cy="9398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7" name="def-text"/>
          <p:cNvSpPr txBox="1"/>
          <p:nvPr/>
        </p:nvSpPr>
        <p:spPr>
          <a:xfrm>
            <a:off x="990600" y="1676400"/>
            <a:ext cx="6350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定义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　A + B 的值是 inl a 或 inr b；构造器名 inl / inr 就是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标签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。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值的数量：|A + B| = |A| + |B| —— 所以叫"和"。</a:t>
            </a:r>
            <a:endParaRPr lang="en-US" sz="1600" noProof="1"/>
          </a:p>
        </p:txBody>
      </p:sp>
      <p:sp>
        <p:nvSpPr>
          <p:cNvPr id="8" name="code-bg"/>
          <p:cNvSpPr/>
          <p:nvPr/>
        </p:nvSpPr>
        <p:spPr>
          <a:xfrm>
            <a:off x="762000" y="2895600"/>
            <a:ext cx="6350000" cy="2743200"/>
          </a:xfrm>
          <a:prstGeom prst="rect">
            <a:avLst/>
          </a:prstGeom>
          <a:solidFill>
            <a:srgbClr val="F3F1EA"/>
          </a:solidFill>
          <a:ln>
            <a:noFill/>
          </a:ln>
        </p:spPr>
      </p:sp>
      <p:sp>
        <p:nvSpPr>
          <p:cNvPr id="9" name="code"/>
          <p:cNvSpPr txBox="1"/>
          <p:nvPr/>
        </p:nvSpPr>
        <p:spPr>
          <a:xfrm>
            <a:off x="965200" y="3022600"/>
            <a:ext cx="5969000" cy="251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8A8578"/>
                </a:solidFill>
                <a:latin typeface="JetBrains Mono"/>
                <a:ea typeface="MiSans"/>
              </a:rPr>
              <a:t>(* ML：构造器 Circle / Rect 就是标签 *)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7B2D26"/>
                </a:solidFill>
                <a:latin typeface="JetBrains Mono"/>
                <a:ea typeface="MiSans"/>
              </a:rPr>
              <a:t>datatype</a:t>
            </a: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 </a:t>
            </a:r>
            <a:r>
              <a:rPr lang="en-US" sz="1350" noProof="1">
                <a:solidFill>
                  <a:srgbClr val="1F6F5C"/>
                </a:solidFill>
                <a:latin typeface="JetBrains Mono"/>
                <a:ea typeface="MiSans"/>
              </a:rPr>
              <a:t>shape</a:t>
            </a: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 = </a:t>
            </a:r>
            <a:r>
              <a:rPr lang="en-US" sz="1350" noProof="1">
                <a:solidFill>
                  <a:srgbClr val="1F6F5C"/>
                </a:solidFill>
                <a:latin typeface="JetBrains Mono"/>
                <a:ea typeface="MiSans"/>
              </a:rPr>
              <a:t>Circle</a:t>
            </a: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 </a:t>
            </a:r>
            <a:r>
              <a:rPr lang="en-US" sz="1350" noProof="1">
                <a:solidFill>
                  <a:srgbClr val="7B2D26"/>
                </a:solidFill>
                <a:latin typeface="JetBrains Mono"/>
                <a:ea typeface="MiSans"/>
              </a:rPr>
              <a:t>of</a:t>
            </a: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 </a:t>
            </a:r>
            <a:r>
              <a:rPr lang="en-US" sz="1350" noProof="1">
                <a:solidFill>
                  <a:srgbClr val="1F6F5C"/>
                </a:solidFill>
                <a:latin typeface="JetBrains Mono"/>
                <a:ea typeface="MiSans"/>
              </a:rPr>
              <a:t>real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          | </a:t>
            </a:r>
            <a:r>
              <a:rPr lang="en-US" sz="1350" noProof="1">
                <a:solidFill>
                  <a:srgbClr val="1F6F5C"/>
                </a:solidFill>
                <a:latin typeface="JetBrains Mono"/>
                <a:ea typeface="MiSans"/>
              </a:rPr>
              <a:t>Rect</a:t>
            </a: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 </a:t>
            </a:r>
            <a:r>
              <a:rPr lang="en-US" sz="1350" noProof="1">
                <a:solidFill>
                  <a:srgbClr val="7B2D26"/>
                </a:solidFill>
                <a:latin typeface="JetBrains Mono"/>
                <a:ea typeface="MiSans"/>
              </a:rPr>
              <a:t>of</a:t>
            </a: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 </a:t>
            </a:r>
            <a:r>
              <a:rPr lang="en-US" sz="1350" noProof="1">
                <a:solidFill>
                  <a:srgbClr val="1F6F5C"/>
                </a:solidFill>
                <a:latin typeface="JetBrains Mono"/>
                <a:ea typeface="MiSans"/>
              </a:rPr>
              <a:t>real</a:t>
            </a: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 * </a:t>
            </a:r>
            <a:r>
              <a:rPr lang="en-US" sz="1350" noProof="1">
                <a:solidFill>
                  <a:srgbClr val="1F6F5C"/>
                </a:solidFill>
                <a:latin typeface="JetBrains Mono"/>
                <a:ea typeface="MiSans"/>
              </a:rPr>
              <a:t>real</a:t>
            </a:r>
            <a:endParaRPr lang="en-US" sz="1350" noProof="1"/>
          </a:p>
          <a:p>
            <a:pPr>
              <a:lnSpc>
                <a:spcPct val="155000"/>
              </a:lnSpc>
            </a:pP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8A8578"/>
                </a:solidFill>
                <a:latin typeface="JetBrains Mono"/>
                <a:ea typeface="MiSans"/>
              </a:rPr>
              <a:t>// Rust：enum 是 sum type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7B2D26"/>
                </a:solidFill>
                <a:latin typeface="JetBrains Mono"/>
                <a:ea typeface="MiSans"/>
              </a:rPr>
              <a:t>enum</a:t>
            </a: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 </a:t>
            </a:r>
            <a:r>
              <a:rPr lang="en-US" sz="1350" noProof="1">
                <a:solidFill>
                  <a:srgbClr val="1F6F5C"/>
                </a:solidFill>
                <a:latin typeface="JetBrains Mono"/>
                <a:ea typeface="MiSans"/>
              </a:rPr>
              <a:t>Shape</a:t>
            </a: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 { Circle(</a:t>
            </a:r>
            <a:r>
              <a:rPr lang="en-US" sz="1350" noProof="1">
                <a:solidFill>
                  <a:srgbClr val="1F6F5C"/>
                </a:solidFill>
                <a:latin typeface="JetBrains Mono"/>
                <a:ea typeface="MiSans"/>
              </a:rPr>
              <a:t>f64</a:t>
            </a: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), Rect(</a:t>
            </a:r>
            <a:r>
              <a:rPr lang="en-US" sz="1350" noProof="1">
                <a:solidFill>
                  <a:srgbClr val="1F6F5C"/>
                </a:solidFill>
                <a:latin typeface="JetBrains Mono"/>
                <a:ea typeface="MiSans"/>
              </a:rPr>
              <a:t>f64</a:t>
            </a: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, </a:t>
            </a:r>
            <a:r>
              <a:rPr lang="en-US" sz="1350" noProof="1">
                <a:solidFill>
                  <a:srgbClr val="1F6F5C"/>
                </a:solidFill>
                <a:latin typeface="JetBrains Mono"/>
                <a:ea typeface="MiSans"/>
              </a:rPr>
              <a:t>f64</a:t>
            </a:r>
            <a:r>
              <a:rPr lang="en-US" sz="1350" noProof="1">
                <a:solidFill>
                  <a:srgbClr val="2B2F36"/>
                </a:solidFill>
                <a:latin typeface="JetBrains Mono"/>
                <a:ea typeface="MiSans"/>
              </a:rPr>
              <a:t>) }</a:t>
            </a:r>
            <a:endParaRPr lang="en-US" sz="1350" noProof="1"/>
          </a:p>
          <a:p>
            <a:pPr>
              <a:lnSpc>
                <a:spcPct val="155000"/>
              </a:lnSpc>
            </a:pP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8A8578"/>
                </a:solidFill>
                <a:latin typeface="JetBrains Mono"/>
                <a:ea typeface="MiSans"/>
              </a:rPr>
              <a:t>// 消解用 match：按标签分派，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8A8578"/>
                </a:solidFill>
                <a:latin typeface="JetBrains Mono"/>
                <a:ea typeface="MiSans"/>
              </a:rPr>
              <a:t>// 漏掉分支会在编译期报错</a:t>
            </a:r>
            <a:endParaRPr lang="en-US" sz="1350" noProof="1"/>
          </a:p>
        </p:txBody>
      </p:sp>
      <p:sp>
        <p:nvSpPr>
          <p:cNvPr id="10" name="explain"/>
          <p:cNvSpPr txBox="1"/>
          <p:nvPr/>
        </p:nvSpPr>
        <p:spPr>
          <a:xfrm>
            <a:off x="7493000" y="2895600"/>
            <a:ext cx="3937000" cy="274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两个要点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构造必须写构造器：</a:t>
            </a:r>
            <a:r>
              <a:rPr lang="en-US" sz="1600" noProof="1">
                <a:solidFill>
                  <a:srgbClr val="23272E"/>
                </a:solidFill>
                <a:latin typeface="JetBrains Mono"/>
                <a:ea typeface="JetBrains Mono"/>
              </a:rPr>
              <a:t>Circle(1.0)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，没有"免费"的值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消解用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模式匹配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：按标签分派，编译器检查穷举性——漏掉分支直接报错</a:t>
            </a:r>
            <a:endParaRPr lang="en-US" sz="1600" noProof="1"/>
          </a:p>
        </p:txBody>
      </p:sp>
      <p:sp>
        <p:nvSpPr>
          <p:cNvPr id="11" name="footer-left"/>
          <p:cNvSpPr txBox="1"/>
          <p:nvPr/>
        </p:nvSpPr>
        <p:spPr>
          <a:xfrm>
            <a:off x="7620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类型系统讲义 · 并类型与交类型</a:t>
            </a:r>
            <a:endParaRPr lang="en-US" sz="1200" noProof="1"/>
          </a:p>
        </p:txBody>
      </p:sp>
      <p:sp>
        <p:nvSpPr>
          <p:cNvPr id="12" name="footer-page"/>
          <p:cNvSpPr txBox="1"/>
          <p:nvPr/>
        </p:nvSpPr>
        <p:spPr>
          <a:xfrm>
            <a:off x="10922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19</a:t>
            </a:r>
            <a:endParaRPr lang="en-US" sz="120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PART 03 · 与代数数据类型的对比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3272E"/>
                </a:solidFill>
                <a:latin typeface="思源宋体"/>
                <a:ea typeface="思源宋体"/>
              </a:rPr>
              <a:t>区别①：Sum 有构造器标签，Union 没有</a:t>
            </a:r>
            <a:endParaRPr lang="en-US" sz="2700" noProof="1"/>
          </a:p>
        </p:txBody>
      </p:sp>
      <p:sp>
        <p:nvSpPr>
          <p:cNvPr id="4" name="rule-accent"/>
          <p:cNvSpPr/>
          <p:nvPr/>
        </p:nvSpPr>
        <p:spPr>
          <a:xfrm>
            <a:off x="762000" y="1346200"/>
            <a:ext cx="812800" cy="381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5" name="rule-line"/>
          <p:cNvSpPr/>
          <p:nvPr/>
        </p:nvSpPr>
        <p:spPr>
          <a:xfrm>
            <a:off x="762000" y="1358900"/>
            <a:ext cx="106680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6" name="left-head"/>
          <p:cNvSpPr txBox="1"/>
          <p:nvPr/>
        </p:nvSpPr>
        <p:spPr>
          <a:xfrm>
            <a:off x="762000" y="16256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7B2D26"/>
                </a:solidFill>
                <a:latin typeface="MiSans"/>
                <a:ea typeface="MiSans"/>
              </a:rPr>
              <a:t>Sum type（tagged，有标签）</a:t>
            </a:r>
            <a:endParaRPr lang="en-US" sz="1700" noProof="1"/>
          </a:p>
        </p:txBody>
      </p:sp>
      <p:sp>
        <p:nvSpPr>
          <p:cNvPr id="7" name="left-body"/>
          <p:cNvSpPr txBox="1"/>
          <p:nvPr/>
        </p:nvSpPr>
        <p:spPr>
          <a:xfrm>
            <a:off x="762000" y="2032000"/>
            <a:ext cx="508000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· 值在内存中</a:t>
            </a:r>
            <a:r>
              <a:rPr lang="en-US" sz="1400" b="1" noProof="1">
                <a:solidFill>
                  <a:srgbClr val="23272E"/>
                </a:solidFill>
                <a:latin typeface="MiSans"/>
                <a:ea typeface="MiSans"/>
              </a:rPr>
              <a:t>自带构造器标签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，"从哪条路来"是值的一部分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· 构造必须显式写构造器：Circle(1.0)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· 消解靠模式匹配，按标签分派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· 两个同类型分支仍可区分：Result&lt;int, int&gt; 的 Ok(1) ≠ Err(1)</a:t>
            </a:r>
            <a:endParaRPr lang="en-US" sz="1400" noProof="1"/>
          </a:p>
        </p:txBody>
      </p:sp>
      <p:sp>
        <p:nvSpPr>
          <p:cNvPr id="8" name="mid-line"/>
          <p:cNvSpPr/>
          <p:nvPr/>
        </p:nvSpPr>
        <p:spPr>
          <a:xfrm>
            <a:off x="6096000" y="1676400"/>
            <a:ext cx="12700" cy="33020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9" name="right-head"/>
          <p:cNvSpPr txBox="1"/>
          <p:nvPr/>
        </p:nvSpPr>
        <p:spPr>
          <a:xfrm>
            <a:off x="6350000" y="16256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8C6D1F"/>
                </a:solidFill>
                <a:latin typeface="MiSans"/>
                <a:ea typeface="MiSans"/>
              </a:rPr>
              <a:t>Union type（untagged，无标签）</a:t>
            </a:r>
            <a:endParaRPr lang="en-US" sz="1700" noProof="1"/>
          </a:p>
        </p:txBody>
      </p:sp>
      <p:sp>
        <p:nvSpPr>
          <p:cNvPr id="10" name="right-body"/>
          <p:cNvSpPr txBox="1"/>
          <p:nvPr/>
        </p:nvSpPr>
        <p:spPr>
          <a:xfrm>
            <a:off x="6350000" y="2032000"/>
            <a:ext cx="508000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· 值就是 A 或 B 的</a:t>
            </a:r>
            <a:r>
              <a:rPr lang="en-US" sz="1400" b="1" noProof="1">
                <a:solidFill>
                  <a:srgbClr val="23272E"/>
                </a:solidFill>
                <a:latin typeface="MiSans"/>
                <a:ea typeface="MiSans"/>
              </a:rPr>
              <a:t>原值本身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，不记录来源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· 构造"免费"：任何 A 自动是 A | B，无构造器分配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· 消解靠运行时类型测试（typeof / isinstance）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· </a:t>
            </a:r>
            <a:r>
              <a:rPr lang="en-US" sz="1400" b="1" noProof="1">
                <a:solidFill>
                  <a:srgbClr val="C00000"/>
                </a:solidFill>
                <a:latin typeface="MiSans"/>
                <a:ea typeface="MiSans"/>
              </a:rPr>
              <a:t>同类型成员会塌缩：string | string 就是 string，无法区分"左边的 string 还是右边的"</a:t>
            </a:r>
            <a:endParaRPr lang="en-US" sz="1400" b="1" noProof="1">
              <a:solidFill>
                <a:srgbClr val="C00000"/>
              </a:solidFill>
            </a:endParaRPr>
          </a:p>
        </p:txBody>
      </p:sp>
      <p:sp>
        <p:nvSpPr>
          <p:cNvPr id="11" name="takeaway-bg"/>
          <p:cNvSpPr/>
          <p:nvPr/>
        </p:nvSpPr>
        <p:spPr>
          <a:xfrm>
            <a:off x="762000" y="5207000"/>
            <a:ext cx="10668000" cy="889000"/>
          </a:xfrm>
          <a:prstGeom prst="rect">
            <a:avLst/>
          </a:prstGeom>
          <a:solidFill>
            <a:srgbClr val="F3F1EA"/>
          </a:solidFill>
          <a:ln>
            <a:noFill/>
          </a:ln>
        </p:spPr>
      </p:sp>
      <p:sp>
        <p:nvSpPr>
          <p:cNvPr id="12" name="takeaway"/>
          <p:cNvSpPr txBox="1"/>
          <p:nvPr/>
        </p:nvSpPr>
        <p:spPr>
          <a:xfrm>
            <a:off x="990600" y="5359400"/>
            <a:ext cx="102362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一句话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：标签让"来源"成为值的一部分；union 不记录来源。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需要区分 Ok(0) 与 Err(0) 这种"同型不同源"的场景，只能用 sum，不能用 union。</a:t>
            </a:r>
            <a:endParaRPr lang="en-US" sz="1600" noProof="1"/>
          </a:p>
        </p:txBody>
      </p:sp>
      <p:sp>
        <p:nvSpPr>
          <p:cNvPr id="13" name="footer-left"/>
          <p:cNvSpPr txBox="1"/>
          <p:nvPr/>
        </p:nvSpPr>
        <p:spPr>
          <a:xfrm>
            <a:off x="7620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类型系统讲义 · 并类型与交类型</a:t>
            </a:r>
            <a:endParaRPr lang="en-US" sz="1200" noProof="1"/>
          </a:p>
        </p:txBody>
      </p:sp>
      <p:sp>
        <p:nvSpPr>
          <p:cNvPr id="14" name="footer-page"/>
          <p:cNvSpPr txBox="1"/>
          <p:nvPr/>
        </p:nvSpPr>
        <p:spPr>
          <a:xfrm>
            <a:off x="10922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20</a:t>
            </a:r>
            <a:endParaRPr lang="en-US" sz="1200" noProof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PART 03 · 与代数数据类型的对比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3272E"/>
                </a:solidFill>
                <a:latin typeface="思源宋体"/>
                <a:ea typeface="思源宋体"/>
              </a:rPr>
              <a:t>区别②：Union / Intersection 服从代数定律</a:t>
            </a:r>
            <a:endParaRPr lang="en-US" sz="2700" noProof="1"/>
          </a:p>
        </p:txBody>
      </p:sp>
      <p:sp>
        <p:nvSpPr>
          <p:cNvPr id="4" name="rule-accent"/>
          <p:cNvSpPr/>
          <p:nvPr/>
        </p:nvSpPr>
        <p:spPr>
          <a:xfrm>
            <a:off x="762000" y="1346200"/>
            <a:ext cx="812800" cy="381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5" name="rule-line"/>
          <p:cNvSpPr/>
          <p:nvPr/>
        </p:nvSpPr>
        <p:spPr>
          <a:xfrm>
            <a:off x="762000" y="1358900"/>
            <a:ext cx="106680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6" name="laws-title"/>
          <p:cNvSpPr txBox="1"/>
          <p:nvPr/>
        </p:nvSpPr>
        <p:spPr>
          <a:xfrm>
            <a:off x="762000" y="16256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Union / Intersection 成立的等式</a:t>
            </a:r>
            <a:endParaRPr lang="en-US" sz="1600" noProof="1"/>
          </a:p>
        </p:txBody>
      </p:sp>
      <p:sp>
        <p:nvSpPr>
          <p:cNvPr id="7" name="laws-body"/>
          <p:cNvSpPr txBox="1"/>
          <p:nvPr/>
        </p:nvSpPr>
        <p:spPr>
          <a:xfrm>
            <a:off x="762000" y="2006600"/>
            <a:ext cx="5461000" cy="2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0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幂等：A | A = A，A &amp; A = A</a:t>
            </a:r>
            <a:endParaRPr lang="en-US" sz="1600" noProof="1"/>
          </a:p>
          <a:p>
            <a:pPr>
              <a:lnSpc>
                <a:spcPct val="170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交换：A | B = B | A</a:t>
            </a:r>
            <a:endParaRPr lang="en-US" sz="1600" noProof="1"/>
          </a:p>
          <a:p>
            <a:pPr>
              <a:lnSpc>
                <a:spcPct val="170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结合：(A | B) | C = A | (B | C)</a:t>
            </a:r>
            <a:endParaRPr lang="en-US" sz="1600" noProof="1"/>
          </a:p>
          <a:p>
            <a:pPr>
              <a:lnSpc>
                <a:spcPct val="170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分配：A &amp; (B | C) = (A &amp; B) | (A &amp; C)</a:t>
            </a:r>
            <a:endParaRPr lang="en-US" sz="1600" noProof="1"/>
          </a:p>
          <a:p>
            <a:pPr>
              <a:lnSpc>
                <a:spcPct val="170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单位元：A | never = A，A &amp; unknown = A</a:t>
            </a:r>
            <a:endParaRPr lang="en-US" sz="1600" noProof="1"/>
          </a:p>
        </p:txBody>
      </p:sp>
      <p:sp>
        <p:nvSpPr>
          <p:cNvPr id="8" name="adt-title"/>
          <p:cNvSpPr txBox="1"/>
          <p:nvPr/>
        </p:nvSpPr>
        <p:spPr>
          <a:xfrm>
            <a:off x="6604000" y="16256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Sum / Product 不成立</a:t>
            </a:r>
            <a:endParaRPr lang="en-US" sz="1600" noProof="1"/>
          </a:p>
        </p:txBody>
      </p:sp>
      <p:sp>
        <p:nvSpPr>
          <p:cNvPr id="9" name="adt-body"/>
          <p:cNvSpPr txBox="1"/>
          <p:nvPr/>
        </p:nvSpPr>
        <p:spPr>
          <a:xfrm>
            <a:off x="6604000" y="2006600"/>
            <a:ext cx="4826000" cy="2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· Ok(int) 与 Err(int) 是</a:t>
            </a:r>
            <a:r>
              <a:rPr lang="en-US" sz="1400" b="1" noProof="1">
                <a:solidFill>
                  <a:srgbClr val="23272E"/>
                </a:solidFill>
                <a:latin typeface="MiSans"/>
                <a:ea typeface="MiSans"/>
              </a:rPr>
              <a:t>不同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的构造器，不能合并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· 构造器的名字、顺序都重要——ADT 是</a:t>
            </a:r>
            <a:r>
              <a:rPr lang="en-US" sz="1400" b="1" noProof="1">
                <a:solidFill>
                  <a:srgbClr val="23272E"/>
                </a:solidFill>
                <a:latin typeface="MiSans"/>
                <a:ea typeface="MiSans"/>
              </a:rPr>
              <a:t>名义性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（nominal）的数据定义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· 每次 enum / data 声明都创造一个</a:t>
            </a:r>
            <a:r>
              <a:rPr lang="en-US" sz="1400" b="1" noProof="1">
                <a:solidFill>
                  <a:srgbClr val="23272E"/>
                </a:solidFill>
                <a:latin typeface="MiSans"/>
                <a:ea typeface="MiSans"/>
              </a:rPr>
              <a:t>全新类型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，与已有类型不相等</a:t>
            </a:r>
            <a:endParaRPr lang="en-US" sz="1400" noProof="1"/>
          </a:p>
        </p:txBody>
      </p:sp>
      <p:sp>
        <p:nvSpPr>
          <p:cNvPr id="10" name="mid-line"/>
          <p:cNvSpPr/>
          <p:nvPr/>
        </p:nvSpPr>
        <p:spPr>
          <a:xfrm>
            <a:off x="6350000" y="1676400"/>
            <a:ext cx="12700" cy="28702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11" name="struct-title"/>
          <p:cNvSpPr txBox="1"/>
          <p:nvPr/>
        </p:nvSpPr>
        <p:spPr>
          <a:xfrm>
            <a:off x="762000" y="47752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根源：描述"已有值的集合" vs 定义"新值"</a:t>
            </a:r>
            <a:endParaRPr lang="en-US" sz="1600" noProof="1"/>
          </a:p>
        </p:txBody>
      </p:sp>
      <p:sp>
        <p:nvSpPr>
          <p:cNvPr id="12" name="struct-body"/>
          <p:cNvSpPr txBox="1"/>
          <p:nvPr/>
        </p:nvSpPr>
        <p:spPr>
          <a:xfrm>
            <a:off x="762000" y="5156200"/>
            <a:ext cx="10668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union / intersection 是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结构性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运算：不创造新值，只圈定已有值的范围，故服从集合代数。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sum / product 通过构造器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创造新值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，标签与构造器名不可省略，等式不再成立。</a:t>
            </a:r>
            <a:endParaRPr lang="en-US" sz="1600" noProof="1"/>
          </a:p>
        </p:txBody>
      </p:sp>
      <p:sp>
        <p:nvSpPr>
          <p:cNvPr id="13" name="note"/>
          <p:cNvSpPr txBox="1"/>
          <p:nvPr/>
        </p:nvSpPr>
        <p:spPr>
          <a:xfrm>
            <a:off x="762000" y="61722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注：等式在语义子类型框架下严格成立（Frisch–Castagna–Benzaken, JACM 2008；系统 CDuce）；TS 对 union 做规范化，实践中同样成立。</a:t>
            </a:r>
            <a:endParaRPr lang="en-US" sz="1200" noProof="1"/>
          </a:p>
        </p:txBody>
      </p:sp>
      <p:sp>
        <p:nvSpPr>
          <p:cNvPr id="14" name="footer-left"/>
          <p:cNvSpPr txBox="1"/>
          <p:nvPr/>
        </p:nvSpPr>
        <p:spPr>
          <a:xfrm>
            <a:off x="7620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类型系统讲义 · 并类型与交类型</a:t>
            </a:r>
            <a:endParaRPr lang="en-US" sz="1200" noProof="1"/>
          </a:p>
        </p:txBody>
      </p:sp>
      <p:sp>
        <p:nvSpPr>
          <p:cNvPr id="15" name="footer-page"/>
          <p:cNvSpPr txBox="1"/>
          <p:nvPr/>
        </p:nvSpPr>
        <p:spPr>
          <a:xfrm>
            <a:off x="10922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21</a:t>
            </a:r>
            <a:endParaRPr lang="en-US" sz="1200" noProof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PART 03 · 与代数数据类型的对比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3272E"/>
                </a:solidFill>
                <a:latin typeface="思源宋体"/>
                <a:ea typeface="思源宋体"/>
              </a:rPr>
              <a:t>一张表看清四种类型构造</a:t>
            </a:r>
            <a:endParaRPr lang="en-US" sz="2700" noProof="1"/>
          </a:p>
        </p:txBody>
      </p:sp>
      <p:sp>
        <p:nvSpPr>
          <p:cNvPr id="4" name="rule-accent"/>
          <p:cNvSpPr/>
          <p:nvPr/>
        </p:nvSpPr>
        <p:spPr>
          <a:xfrm>
            <a:off x="762000" y="1346200"/>
            <a:ext cx="812800" cy="381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5" name="rule-line"/>
          <p:cNvSpPr/>
          <p:nvPr/>
        </p:nvSpPr>
        <p:spPr>
          <a:xfrm>
            <a:off x="762000" y="1358900"/>
            <a:ext cx="106680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graphicFrame>
        <p:nvGraphicFramePr>
          <p:cNvPr id="6" name="cmp-table"/>
          <p:cNvGraphicFramePr>
            <a:graphicFrameLocks noGrp="1"/>
          </p:cNvGraphicFramePr>
          <p:nvPr/>
        </p:nvGraphicFramePr>
        <p:xfrm>
          <a:off x="762000" y="1600200"/>
          <a:ext cx="10668000" cy="4537008"/>
        </p:xfrm>
        <a:graphic>
          <a:graphicData uri="http://schemas.openxmlformats.org/drawingml/2006/table">
            <a:tbl>
              <a:tblPr/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356"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7B2D26"/>
                          </a:solidFill>
                          <a:latin typeface="Times New Roman"/>
                          <a:ea typeface="Times New Roman"/>
                        </a:rPr>
                        <a:t>维度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7B2D2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7B2D26"/>
                          </a:solidFill>
                          <a:latin typeface="Times New Roman"/>
                          <a:ea typeface="Times New Roman"/>
                        </a:rPr>
                        <a:t>Union A |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7B2D2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7B2D26"/>
                          </a:solidFill>
                          <a:latin typeface="Times New Roman"/>
                          <a:ea typeface="Times New Roman"/>
                        </a:rPr>
                        <a:t>Intersection A &amp;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7B2D2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7B2D26"/>
                          </a:solidFill>
                          <a:latin typeface="Times New Roman"/>
                          <a:ea typeface="Times New Roman"/>
                        </a:rPr>
                        <a:t>Sum A +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7B2D2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7B2D26"/>
                          </a:solidFill>
                          <a:latin typeface="Times New Roman"/>
                          <a:ea typeface="Times New Roman"/>
                        </a:rPr>
                        <a:t>Product A ×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7B2D2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直觉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7B2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或（来源之一）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7B2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且（约束叠加）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7B2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带标签的或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7B2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且（数据聚合）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7B2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值集合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A ∪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A ∩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inl A ⊎ inr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A ×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如何构造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直接用 A 的值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值同时满足两者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必须写构造器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必须写构造器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如何消解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类型测试 + narrowing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投影（可直接当 A 用）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模式匹配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投影（取字段）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来源可追溯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—（不适用）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是（标签记录）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—（不适用）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幂等 / 交换 / 结合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成立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成立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不成立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不成立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类型推导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无主类型；需显式标注 + 局部推导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同左（rank-3 不可判定）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HM 合一，有最主类型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HM 合一，有最主类型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典型语言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TS、Scala 3、Python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TS、Scala、Java 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ML、Haskell、Rust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几乎所有语言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note"/>
          <p:cNvSpPr txBox="1"/>
          <p:nvPr/>
        </p:nvSpPr>
        <p:spPr>
          <a:xfrm>
            <a:off x="762000" y="62230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注：实践中两对概念经常共存——TS 的判别联合 ≈ "product 做成员、union 做组合、字面量当标签"的混合体。</a:t>
            </a:r>
            <a:endParaRPr lang="en-US" sz="1200" noProof="1"/>
          </a:p>
        </p:txBody>
      </p:sp>
      <p:sp>
        <p:nvSpPr>
          <p:cNvPr id="8" name="footer-left"/>
          <p:cNvSpPr txBox="1"/>
          <p:nvPr/>
        </p:nvSpPr>
        <p:spPr>
          <a:xfrm>
            <a:off x="7620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类型系统讲义 · 并类型与交类型</a:t>
            </a:r>
            <a:endParaRPr lang="en-US" sz="1200" noProof="1"/>
          </a:p>
        </p:txBody>
      </p:sp>
      <p:sp>
        <p:nvSpPr>
          <p:cNvPr id="9" name="footer-page"/>
          <p:cNvSpPr txBox="1"/>
          <p:nvPr/>
        </p:nvSpPr>
        <p:spPr>
          <a:xfrm>
            <a:off x="10922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22</a:t>
            </a:r>
            <a:endParaRPr lang="en-US" sz="1200" noProof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PART 03 · 与代数数据类型的对比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3272E"/>
                </a:solidFill>
                <a:latin typeface="思源宋体"/>
                <a:ea typeface="思源宋体"/>
              </a:rPr>
              <a:t>语言设计如何取舍：表达力 vs 可推导性</a:t>
            </a:r>
            <a:endParaRPr lang="en-US" sz="2700" noProof="1"/>
          </a:p>
        </p:txBody>
      </p:sp>
      <p:sp>
        <p:nvSpPr>
          <p:cNvPr id="4" name="rule-accent"/>
          <p:cNvSpPr/>
          <p:nvPr/>
        </p:nvSpPr>
        <p:spPr>
          <a:xfrm>
            <a:off x="762000" y="1346200"/>
            <a:ext cx="812800" cy="381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5" name="rule-line"/>
          <p:cNvSpPr/>
          <p:nvPr/>
        </p:nvSpPr>
        <p:spPr>
          <a:xfrm>
            <a:off x="762000" y="1358900"/>
            <a:ext cx="106680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6" name="adv-title"/>
          <p:cNvSpPr txBox="1"/>
          <p:nvPr/>
        </p:nvSpPr>
        <p:spPr>
          <a:xfrm>
            <a:off x="762000" y="15748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7B2D26"/>
                </a:solidFill>
                <a:latin typeface="MiSans"/>
                <a:ea typeface="MiSans"/>
              </a:rPr>
              <a:t>Union / Intersection 的优势</a:t>
            </a:r>
            <a:endParaRPr lang="en-US" sz="1600" noProof="1"/>
          </a:p>
        </p:txBody>
      </p:sp>
      <p:sp>
        <p:nvSpPr>
          <p:cNvPr id="7" name="adv-body"/>
          <p:cNvSpPr txBox="1"/>
          <p:nvPr/>
        </p:nvSpPr>
        <p:spPr>
          <a:xfrm>
            <a:off x="762000" y="1930400"/>
            <a:ext cx="5334000" cy="327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· </a:t>
            </a:r>
            <a:r>
              <a:rPr lang="en-US" sz="1400" b="1" noProof="1">
                <a:solidFill>
                  <a:srgbClr val="23272E"/>
                </a:solidFill>
                <a:latin typeface="MiSans"/>
                <a:ea typeface="MiSans"/>
              </a:rPr>
              <a:t>渐进类型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：为动态代码写静态描述（.d.ts、Typed Racket）；能精确表达重载："参数 string 返回 string，参数 number 返回 number"</a:t>
            </a:r>
            <a:endParaRPr lang="en-US" sz="14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· </a:t>
            </a:r>
            <a:r>
              <a:rPr lang="en-US" sz="1400" b="1" noProof="1">
                <a:solidFill>
                  <a:srgbClr val="23272E"/>
                </a:solidFill>
                <a:latin typeface="MiSans"/>
                <a:ea typeface="MiSans"/>
              </a:rPr>
              <a:t>免封装开销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：A ∪ Null 代替 Option&lt;A&gt;、A ∪ B 代替 Either&lt;A,B&gt;，省去 Some/Left 构造器的堆分配与装箱</a:t>
            </a:r>
            <a:endParaRPr lang="en-US" sz="14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· </a:t>
            </a:r>
            <a:r>
              <a:rPr lang="en-US" sz="1400" b="1" noProof="1">
                <a:solidFill>
                  <a:srgbClr val="23272E"/>
                </a:solidFill>
                <a:latin typeface="MiSans"/>
                <a:ea typeface="MiSans"/>
              </a:rPr>
              <a:t>细粒度契约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：结构化类型下即席组合约束（Readonly &amp; Map &amp; Serializable），无需预先声明类层级</a:t>
            </a:r>
            <a:endParaRPr lang="en-US" sz="1400" noProof="1"/>
          </a:p>
        </p:txBody>
      </p:sp>
      <p:sp>
        <p:nvSpPr>
          <p:cNvPr id="8" name="mid-line"/>
          <p:cNvSpPr/>
          <p:nvPr/>
        </p:nvSpPr>
        <p:spPr>
          <a:xfrm>
            <a:off x="6350000" y="1625600"/>
            <a:ext cx="12700" cy="35814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9" name="dis-title"/>
          <p:cNvSpPr txBox="1"/>
          <p:nvPr/>
        </p:nvSpPr>
        <p:spPr>
          <a:xfrm>
            <a:off x="6604000" y="15748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8C6D1F"/>
                </a:solidFill>
                <a:latin typeface="MiSans"/>
                <a:ea typeface="MiSans"/>
              </a:rPr>
              <a:t>Union / Intersection 的劣势</a:t>
            </a:r>
            <a:endParaRPr lang="en-US" sz="1600" noProof="1"/>
          </a:p>
        </p:txBody>
      </p:sp>
      <p:sp>
        <p:nvSpPr>
          <p:cNvPr id="10" name="dis-body"/>
          <p:cNvSpPr txBox="1"/>
          <p:nvPr/>
        </p:nvSpPr>
        <p:spPr>
          <a:xfrm>
            <a:off x="6604000" y="1930400"/>
            <a:ext cx="4826000" cy="327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· </a:t>
            </a:r>
            <a:r>
              <a:rPr lang="en-US" sz="1400" b="1" noProof="1">
                <a:solidFill>
                  <a:srgbClr val="23272E"/>
                </a:solidFill>
                <a:latin typeface="MiSans"/>
                <a:ea typeface="MiSans"/>
              </a:rPr>
              <a:t>无主类型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：HM 的合一保证最主类型；intersection 系统的类型检查在 rank-3 即</a:t>
            </a:r>
            <a:r>
              <a:rPr lang="en-US" sz="1400" b="1" noProof="1">
                <a:solidFill>
                  <a:srgbClr val="23272E"/>
                </a:solidFill>
                <a:latin typeface="MiSans"/>
                <a:ea typeface="MiSans"/>
              </a:rPr>
              <a:t>不可判定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——语言只能要求显式标注 + 局部推导</a:t>
            </a:r>
            <a:endParaRPr lang="en-US" sz="14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· </a:t>
            </a:r>
            <a:r>
              <a:rPr lang="en-US" sz="1400" b="1" noProof="1">
                <a:solidFill>
                  <a:srgbClr val="23272E"/>
                </a:solidFill>
                <a:latin typeface="MiSans"/>
                <a:ea typeface="MiSans"/>
              </a:rPr>
              <a:t>依赖 RTTI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：untagged 消解靠运行时类型测试，与 Rust / Zig 的零成本抽象理念冲突</a:t>
            </a:r>
            <a:endParaRPr lang="en-US" sz="14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· </a:t>
            </a:r>
            <a:r>
              <a:rPr lang="en-US" sz="1400" b="1" noProof="1">
                <a:solidFill>
                  <a:srgbClr val="23272E"/>
                </a:solidFill>
                <a:latin typeface="MiSans"/>
                <a:ea typeface="MiSans"/>
              </a:rPr>
              <a:t>错误信息膨胀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：报错打印指数级正则形式（DNF），开发者难以定位违约点</a:t>
            </a:r>
            <a:endParaRPr lang="en-US" sz="1400" noProof="1"/>
          </a:p>
        </p:txBody>
      </p:sp>
      <p:sp>
        <p:nvSpPr>
          <p:cNvPr id="11" name="sum-title"/>
          <p:cNvSpPr txBox="1"/>
          <p:nvPr/>
        </p:nvSpPr>
        <p:spPr>
          <a:xfrm>
            <a:off x="762000" y="53340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结论：两条路线各有领地</a:t>
            </a:r>
            <a:endParaRPr lang="en-US" sz="1600" noProof="1"/>
          </a:p>
        </p:txBody>
      </p:sp>
      <p:sp>
        <p:nvSpPr>
          <p:cNvPr id="12" name="sum-body"/>
          <p:cNvSpPr txBox="1"/>
          <p:nvPr/>
        </p:nvSpPr>
        <p:spPr>
          <a:xfrm>
            <a:off x="762000" y="56896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· </a:t>
            </a:r>
            <a:r>
              <a:rPr lang="en-US" sz="1400" b="1" noProof="1">
                <a:solidFill>
                  <a:srgbClr val="23272E"/>
                </a:solidFill>
                <a:latin typeface="MiSans"/>
                <a:ea typeface="MiSans"/>
              </a:rPr>
              <a:t>系统级 / 形式化验证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（Rust、Haskell、Coq、Cangjie）：ADT 主导——布局确定、匹配穷尽、推导可靠</a:t>
            </a:r>
            <a:endParaRPr lang="en-US" sz="1400" noProof="1"/>
          </a:p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· </a:t>
            </a:r>
            <a:r>
              <a:rPr lang="en-US" sz="1400" b="1" noProof="1">
                <a:solidFill>
                  <a:srgbClr val="23272E"/>
                </a:solidFill>
                <a:latin typeface="MiSans"/>
                <a:ea typeface="MiSans"/>
              </a:rPr>
              <a:t>脚本静态化 / 前端 / 数据流分析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（TS、Flow、Scala 3、Typed Racket）：交并类型主导——最小侵入性适配动态布局</a:t>
            </a:r>
            <a:endParaRPr lang="en-US" sz="1400" noProof="1"/>
          </a:p>
        </p:txBody>
      </p:sp>
      <p:sp>
        <p:nvSpPr>
          <p:cNvPr id="13" name="lit-note"/>
          <p:cNvSpPr txBox="1"/>
          <p:nvPr/>
        </p:nvSpPr>
        <p:spPr>
          <a:xfrm>
            <a:off x="762000" y="6299200"/>
            <a:ext cx="1066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文献：不可判定性 Barendregt–Coppo–Dezani 1983 / Urzyczyn 1997；occurrence typing Tobin-Hochstadt &amp; Felleisen (POPL 2008)。</a:t>
            </a:r>
            <a:endParaRPr lang="en-US" sz="1200" noProof="1"/>
          </a:p>
        </p:txBody>
      </p:sp>
      <p:sp>
        <p:nvSpPr>
          <p:cNvPr id="14" name="footer-left"/>
          <p:cNvSpPr txBox="1"/>
          <p:nvPr/>
        </p:nvSpPr>
        <p:spPr>
          <a:xfrm>
            <a:off x="7620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类型系统讲义 · 并类型与交类型</a:t>
            </a:r>
            <a:endParaRPr lang="en-US" sz="1200" noProof="1"/>
          </a:p>
        </p:txBody>
      </p:sp>
      <p:sp>
        <p:nvSpPr>
          <p:cNvPr id="15" name="footer-page"/>
          <p:cNvSpPr txBox="1"/>
          <p:nvPr/>
        </p:nvSpPr>
        <p:spPr>
          <a:xfrm>
            <a:off x="10922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23</a:t>
            </a:r>
            <a:endParaRPr lang="en-US" sz="1200" noProof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-num"/>
          <p:cNvSpPr txBox="1"/>
          <p:nvPr/>
        </p:nvSpPr>
        <p:spPr>
          <a:xfrm>
            <a:off x="7874000" y="1397000"/>
            <a:ext cx="3556000" cy="355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0000" b="1" noProof="1">
                <a:solidFill>
                  <a:srgbClr val="7B2D26">
                    <a:alpha val="7843"/>
                  </a:srgbClr>
                </a:solidFill>
                <a:latin typeface="思源宋体"/>
                <a:ea typeface="思源宋体"/>
              </a:rPr>
              <a:t>04</a:t>
            </a:r>
            <a:endParaRPr lang="en-US" sz="20000" noProof="1"/>
          </a:p>
        </p:txBody>
      </p:sp>
      <p:sp>
        <p:nvSpPr>
          <p:cNvPr id="3" name="kicker"/>
          <p:cNvSpPr txBox="1"/>
          <p:nvPr/>
        </p:nvSpPr>
        <p:spPr>
          <a:xfrm>
            <a:off x="762000" y="2362200"/>
            <a:ext cx="584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PART 04 · 实现与性能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762000" y="2692400"/>
            <a:ext cx="8382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 noProof="1">
                <a:solidFill>
                  <a:srgbClr val="23272E"/>
                </a:solidFill>
                <a:latin typeface="思源宋体"/>
                <a:ea typeface="思源宋体"/>
              </a:rPr>
              <a:t>对语言实现与程序性能的影响</a:t>
            </a:r>
            <a:endParaRPr lang="en-US" sz="3400" noProof="1"/>
          </a:p>
        </p:txBody>
      </p:sp>
      <p:sp>
        <p:nvSpPr>
          <p:cNvPr id="5" name="desc"/>
          <p:cNvSpPr txBox="1"/>
          <p:nvPr/>
        </p:nvSpPr>
        <p:spPr>
          <a:xfrm>
            <a:off x="762000" y="3505200"/>
            <a:ext cx="7366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6E6A61"/>
                </a:solidFill>
                <a:latin typeface="MiSans"/>
                <a:ea typeface="MiSans"/>
              </a:rPr>
              <a:t>类型系统的每个设计决定，最终都会变成运行时的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6E6A61"/>
                </a:solidFill>
                <a:latin typeface="MiSans"/>
                <a:ea typeface="MiSans"/>
              </a:rPr>
              <a:t>内存布局、分派方式与优化空间。</a:t>
            </a:r>
            <a:endParaRPr lang="en-US" sz="1600" noProof="1"/>
          </a:p>
        </p:txBody>
      </p:sp>
      <p:sp>
        <p:nvSpPr>
          <p:cNvPr id="6" name="agenda"/>
          <p:cNvSpPr txBox="1"/>
          <p:nvPr/>
        </p:nvSpPr>
        <p:spPr>
          <a:xfrm>
            <a:off x="762000" y="4368800"/>
            <a:ext cx="7366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90000"/>
              </a:lnSpc>
            </a:pPr>
            <a:r>
              <a:rPr lang="en-US" sz="1500" noProof="1">
                <a:solidFill>
                  <a:srgbClr val="23272E"/>
                </a:solidFill>
                <a:latin typeface="MiSans"/>
                <a:ea typeface="MiSans"/>
              </a:rPr>
              <a:t>· 第一条岔路：类型擦除 vs 类型物化</a:t>
            </a:r>
            <a:endParaRPr lang="en-US" sz="1500" noProof="1"/>
          </a:p>
          <a:p>
            <a:pPr>
              <a:lnSpc>
                <a:spcPct val="190000"/>
              </a:lnSpc>
            </a:pPr>
            <a:r>
              <a:rPr lang="en-US" sz="1500" noProof="1">
                <a:solidFill>
                  <a:srgbClr val="23272E"/>
                </a:solidFill>
                <a:latin typeface="MiSans"/>
                <a:ea typeface="MiSans"/>
              </a:rPr>
              <a:t>· Union 的运行时表示：标签、装箱、擦除</a:t>
            </a:r>
            <a:endParaRPr lang="en-US" sz="1500" noProof="1"/>
          </a:p>
          <a:p>
            <a:pPr>
              <a:lnSpc>
                <a:spcPct val="190000"/>
              </a:lnSpc>
            </a:pPr>
            <a:r>
              <a:rPr lang="en-US" sz="1500" noProof="1">
                <a:solidFill>
                  <a:srgbClr val="23272E"/>
                </a:solidFill>
                <a:latin typeface="MiSans"/>
                <a:ea typeface="MiSans"/>
              </a:rPr>
              <a:t>· Narrowing 与分派的成本分析</a:t>
            </a:r>
            <a:endParaRPr lang="en-US" sz="1500" noProof="1"/>
          </a:p>
          <a:p>
            <a:pPr>
              <a:lnSpc>
                <a:spcPct val="190000"/>
              </a:lnSpc>
            </a:pPr>
            <a:r>
              <a:rPr lang="en-US" sz="1500" noProof="1">
                <a:solidFill>
                  <a:srgbClr val="23272E"/>
                </a:solidFill>
                <a:latin typeface="MiSans"/>
                <a:ea typeface="MiSans"/>
              </a:rPr>
              <a:t>· Intersection 的实现：多接口与多视图</a:t>
            </a:r>
            <a:endParaRPr lang="en-US" sz="1500" noProof="1"/>
          </a:p>
        </p:txBody>
      </p:sp>
      <p:sp>
        <p:nvSpPr>
          <p:cNvPr id="7" name="footer-left"/>
          <p:cNvSpPr txBox="1"/>
          <p:nvPr/>
        </p:nvSpPr>
        <p:spPr>
          <a:xfrm>
            <a:off x="7620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类型系统讲义 · 并类型与交类型</a:t>
            </a:r>
            <a:endParaRPr lang="en-US" sz="1200" noProof="1"/>
          </a:p>
        </p:txBody>
      </p:sp>
      <p:sp>
        <p:nvSpPr>
          <p:cNvPr id="8" name="footer-page"/>
          <p:cNvSpPr txBox="1"/>
          <p:nvPr/>
        </p:nvSpPr>
        <p:spPr>
          <a:xfrm>
            <a:off x="10922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24</a:t>
            </a:r>
            <a:endParaRPr lang="en-US" sz="1200" noProof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PART 04 · 实现与性能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3272E"/>
                </a:solidFill>
                <a:latin typeface="思源宋体"/>
                <a:ea typeface="思源宋体"/>
              </a:rPr>
              <a:t>第一条岔路：类型信息保留到运行时吗？</a:t>
            </a:r>
            <a:endParaRPr lang="en-US" sz="2700" noProof="1"/>
          </a:p>
        </p:txBody>
      </p:sp>
      <p:sp>
        <p:nvSpPr>
          <p:cNvPr id="4" name="rule-accent"/>
          <p:cNvSpPr/>
          <p:nvPr/>
        </p:nvSpPr>
        <p:spPr>
          <a:xfrm>
            <a:off x="762000" y="1346200"/>
            <a:ext cx="812800" cy="381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5" name="rule-line"/>
          <p:cNvSpPr/>
          <p:nvPr/>
        </p:nvSpPr>
        <p:spPr>
          <a:xfrm>
            <a:off x="762000" y="1358900"/>
            <a:ext cx="106680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6" name="erase-head"/>
          <p:cNvSpPr txBox="1"/>
          <p:nvPr/>
        </p:nvSpPr>
        <p:spPr>
          <a:xfrm>
            <a:off x="762000" y="16256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7B2D26"/>
                </a:solidFill>
                <a:latin typeface="MiSans"/>
                <a:ea typeface="MiSans"/>
              </a:rPr>
              <a:t>类型擦除（erasure）</a:t>
            </a:r>
            <a:endParaRPr lang="en-US" sz="1700" noProof="1"/>
          </a:p>
        </p:txBody>
      </p:sp>
      <p:sp>
        <p:nvSpPr>
          <p:cNvPr id="7" name="erase-body"/>
          <p:cNvSpPr txBox="1"/>
          <p:nvPr/>
        </p:nvSpPr>
        <p:spPr>
          <a:xfrm>
            <a:off x="762000" y="2032000"/>
            <a:ext cx="5080000" cy="2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代表：TypeScript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· </a:t>
            </a:r>
            <a:r>
              <a:rPr lang="en-US" sz="1400" noProof="1">
                <a:solidFill>
                  <a:srgbClr val="23272E"/>
                </a:solidFill>
                <a:latin typeface="JetBrains Mono"/>
                <a:ea typeface="JetBrains Mono"/>
              </a:rPr>
              <a:t>string | number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 编译后</a:t>
            </a:r>
            <a:r>
              <a:rPr lang="en-US" sz="1400" b="1" noProof="1">
                <a:solidFill>
                  <a:srgbClr val="23272E"/>
                </a:solidFill>
                <a:latin typeface="MiSans"/>
                <a:ea typeface="MiSans"/>
              </a:rPr>
              <a:t>完全消失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，生成的 JS 与无类型时一样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· 运行时成本为零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· 代价：运行时无法问"你是这个 union 吗"；反射、序列化、运行时校验需要额外信息</a:t>
            </a:r>
            <a:endParaRPr lang="en-US" sz="1400" noProof="1"/>
          </a:p>
        </p:txBody>
      </p:sp>
      <p:sp>
        <p:nvSpPr>
          <p:cNvPr id="8" name="mid-line"/>
          <p:cNvSpPr/>
          <p:nvPr/>
        </p:nvSpPr>
        <p:spPr>
          <a:xfrm>
            <a:off x="6096000" y="1676400"/>
            <a:ext cx="12700" cy="29210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9" name="reify-head"/>
          <p:cNvSpPr txBox="1"/>
          <p:nvPr/>
        </p:nvSpPr>
        <p:spPr>
          <a:xfrm>
            <a:off x="6350000" y="16256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8C6D1F"/>
                </a:solidFill>
                <a:latin typeface="MiSans"/>
                <a:ea typeface="MiSans"/>
              </a:rPr>
              <a:t>类型物化（reification）</a:t>
            </a:r>
            <a:endParaRPr lang="en-US" sz="1700" noProof="1"/>
          </a:p>
        </p:txBody>
      </p:sp>
      <p:sp>
        <p:nvSpPr>
          <p:cNvPr id="10" name="reify-body"/>
          <p:cNvSpPr txBox="1"/>
          <p:nvPr/>
        </p:nvSpPr>
        <p:spPr>
          <a:xfrm>
            <a:off x="6350000" y="2032000"/>
            <a:ext cx="5080000" cy="2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代表：Rust / ML 的 sum、JVM 的类标签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· 运行时保留</a:t>
            </a:r>
            <a:r>
              <a:rPr lang="en-US" sz="1400" b="1" noProof="1">
                <a:solidFill>
                  <a:srgbClr val="23272E"/>
                </a:solidFill>
                <a:latin typeface="MiSans"/>
                <a:ea typeface="MiSans"/>
              </a:rPr>
              <a:t>标签或类型头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，支持模式匹配与类型测试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· 编译器可据布局做单态化等优化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· 代价：标签占内存，分派有成本</a:t>
            </a:r>
            <a:endParaRPr lang="en-US" sz="1400" noProof="1"/>
          </a:p>
        </p:txBody>
      </p:sp>
      <p:sp>
        <p:nvSpPr>
          <p:cNvPr id="11" name="mid-bg"/>
          <p:cNvSpPr/>
          <p:nvPr/>
        </p:nvSpPr>
        <p:spPr>
          <a:xfrm>
            <a:off x="762000" y="4775200"/>
            <a:ext cx="10668000" cy="1270000"/>
          </a:xfrm>
          <a:prstGeom prst="rect">
            <a:avLst/>
          </a:prstGeom>
          <a:solidFill>
            <a:srgbClr val="F3F1EA"/>
          </a:solidFill>
          <a:ln>
            <a:noFill/>
          </a:ln>
        </p:spPr>
      </p:sp>
      <p:sp>
        <p:nvSpPr>
          <p:cNvPr id="12" name="mid-text"/>
          <p:cNvSpPr txBox="1"/>
          <p:nvPr/>
        </p:nvSpPr>
        <p:spPr>
          <a:xfrm>
            <a:off x="990600" y="4927600"/>
            <a:ext cx="102362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中间道路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：JVM 泛型是"半擦除"——泛型参数被擦除，但对象的类标签保留，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所以 </a:t>
            </a:r>
            <a:r>
              <a:rPr lang="en-US" sz="1600" noProof="1">
                <a:solidFill>
                  <a:srgbClr val="23272E"/>
                </a:solidFill>
                <a:latin typeface="JetBrains Mono"/>
                <a:ea typeface="JetBrains Mono"/>
              </a:rPr>
              <a:t>instanceof List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 可以、</a:t>
            </a:r>
            <a:r>
              <a:rPr lang="en-US" sz="1600" noProof="1">
                <a:solidFill>
                  <a:srgbClr val="23272E"/>
                </a:solidFill>
                <a:latin typeface="JetBrains Mono"/>
                <a:ea typeface="JetBrains Mono"/>
              </a:rPr>
              <a:t>instanceof List&lt;String&gt;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 不行。</a:t>
            </a:r>
            <a:endParaRPr lang="en-US" sz="16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设计含义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：类型系统越丰富，越要回答"哪些信息活到运行时"。</a:t>
            </a:r>
            <a:endParaRPr lang="en-US" sz="1600" noProof="1"/>
          </a:p>
        </p:txBody>
      </p:sp>
      <p:sp>
        <p:nvSpPr>
          <p:cNvPr id="13" name="footer-left"/>
          <p:cNvSpPr txBox="1"/>
          <p:nvPr/>
        </p:nvSpPr>
        <p:spPr>
          <a:xfrm>
            <a:off x="7620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类型系统讲义 · 并类型与交类型</a:t>
            </a:r>
            <a:endParaRPr lang="en-US" sz="1200" noProof="1"/>
          </a:p>
        </p:txBody>
      </p:sp>
      <p:sp>
        <p:nvSpPr>
          <p:cNvPr id="14" name="footer-page"/>
          <p:cNvSpPr txBox="1"/>
          <p:nvPr/>
        </p:nvSpPr>
        <p:spPr>
          <a:xfrm>
            <a:off x="10922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25</a:t>
            </a:r>
            <a:endParaRPr lang="en-US" sz="1200" noProof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PART 04 · 实现与性能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3272E"/>
                </a:solidFill>
                <a:latin typeface="思源宋体"/>
                <a:ea typeface="思源宋体"/>
              </a:rPr>
              <a:t>Union 的运行时表示：标签、装箱与擦除</a:t>
            </a:r>
            <a:endParaRPr lang="en-US" sz="2700" noProof="1"/>
          </a:p>
        </p:txBody>
      </p:sp>
      <p:sp>
        <p:nvSpPr>
          <p:cNvPr id="4" name="rule-accent"/>
          <p:cNvSpPr/>
          <p:nvPr/>
        </p:nvSpPr>
        <p:spPr>
          <a:xfrm>
            <a:off x="762000" y="1346200"/>
            <a:ext cx="812800" cy="381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5" name="rule-line"/>
          <p:cNvSpPr/>
          <p:nvPr/>
        </p:nvSpPr>
        <p:spPr>
          <a:xfrm>
            <a:off x="762000" y="1358900"/>
            <a:ext cx="106680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6" name="layout-title"/>
          <p:cNvSpPr txBox="1"/>
          <p:nvPr/>
        </p:nvSpPr>
        <p:spPr>
          <a:xfrm>
            <a:off x="762000" y="16002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Rust enum（tagged union）的典型内存布局</a:t>
            </a:r>
            <a:endParaRPr lang="en-US" sz="1600" noProof="1"/>
          </a:p>
        </p:txBody>
      </p:sp>
      <p:sp>
        <p:nvSpPr>
          <p:cNvPr id="7" name="cell-tag"/>
          <p:cNvSpPr/>
          <p:nvPr/>
        </p:nvSpPr>
        <p:spPr>
          <a:xfrm>
            <a:off x="762000" y="2006600"/>
            <a:ext cx="1143000" cy="5588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8" name="cell-tag-text"/>
          <p:cNvSpPr txBox="1"/>
          <p:nvPr/>
        </p:nvSpPr>
        <p:spPr>
          <a:xfrm>
            <a:off x="762000" y="2006600"/>
            <a:ext cx="1143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FFFFFF"/>
                </a:solidFill>
                <a:latin typeface="MiSans"/>
                <a:ea typeface="MiSans"/>
              </a:rPr>
              <a:t>tag</a:t>
            </a:r>
            <a:endParaRPr lang="en-US" sz="1400" noProof="1"/>
          </a:p>
        </p:txBody>
      </p:sp>
      <p:sp>
        <p:nvSpPr>
          <p:cNvPr id="9" name="cell-p1"/>
          <p:cNvSpPr/>
          <p:nvPr/>
        </p:nvSpPr>
        <p:spPr>
          <a:xfrm>
            <a:off x="1905000" y="2006600"/>
            <a:ext cx="1524000" cy="558800"/>
          </a:xfrm>
          <a:prstGeom prst="rect">
            <a:avLst/>
          </a:prstGeom>
          <a:solidFill>
            <a:srgbClr val="7B2D26">
              <a:alpha val="14902"/>
            </a:srgbClr>
          </a:solidFill>
          <a:ln w="12700">
            <a:solidFill>
              <a:srgbClr val="7B2D26"/>
            </a:solidFill>
          </a:ln>
        </p:spPr>
      </p:sp>
      <p:sp>
        <p:nvSpPr>
          <p:cNvPr id="10" name="cell-p1-text"/>
          <p:cNvSpPr txBox="1"/>
          <p:nvPr/>
        </p:nvSpPr>
        <p:spPr>
          <a:xfrm>
            <a:off x="1905000" y="2006600"/>
            <a:ext cx="1524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payload</a:t>
            </a:r>
            <a:endParaRPr lang="en-US" sz="1400" noProof="1"/>
          </a:p>
        </p:txBody>
      </p:sp>
      <p:sp>
        <p:nvSpPr>
          <p:cNvPr id="11" name="cell-p2"/>
          <p:cNvSpPr/>
          <p:nvPr/>
        </p:nvSpPr>
        <p:spPr>
          <a:xfrm>
            <a:off x="3429000" y="2006600"/>
            <a:ext cx="1524000" cy="558800"/>
          </a:xfrm>
          <a:prstGeom prst="rect">
            <a:avLst/>
          </a:prstGeom>
          <a:solidFill>
            <a:srgbClr val="7B2D26">
              <a:alpha val="14902"/>
            </a:srgbClr>
          </a:solidFill>
          <a:ln w="12700">
            <a:solidFill>
              <a:srgbClr val="7B2D26"/>
            </a:solidFill>
          </a:ln>
        </p:spPr>
      </p:sp>
      <p:sp>
        <p:nvSpPr>
          <p:cNvPr id="12" name="cell-p2-text"/>
          <p:cNvSpPr txBox="1"/>
          <p:nvPr/>
        </p:nvSpPr>
        <p:spPr>
          <a:xfrm>
            <a:off x="3429000" y="2006600"/>
            <a:ext cx="1524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（最大分支）</a:t>
            </a:r>
            <a:endParaRPr lang="en-US" sz="1400" noProof="1"/>
          </a:p>
        </p:txBody>
      </p:sp>
      <p:sp>
        <p:nvSpPr>
          <p:cNvPr id="13" name="cell-pad"/>
          <p:cNvSpPr/>
          <p:nvPr/>
        </p:nvSpPr>
        <p:spPr>
          <a:xfrm>
            <a:off x="4953000" y="2006600"/>
            <a:ext cx="1143000" cy="558800"/>
          </a:xfrm>
          <a:prstGeom prst="rect">
            <a:avLst/>
          </a:prstGeom>
          <a:solidFill>
            <a:srgbClr val="8A8578">
              <a:alpha val="14902"/>
            </a:srgbClr>
          </a:solidFill>
          <a:ln w="12700">
            <a:solidFill>
              <a:srgbClr val="6E6A61"/>
            </a:solidFill>
            <a:prstDash val="dash"/>
          </a:ln>
        </p:spPr>
      </p:sp>
      <p:sp>
        <p:nvSpPr>
          <p:cNvPr id="14" name="cell-pad-text"/>
          <p:cNvSpPr txBox="1"/>
          <p:nvPr/>
        </p:nvSpPr>
        <p:spPr>
          <a:xfrm>
            <a:off x="4953000" y="2006600"/>
            <a:ext cx="1143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6E6A61"/>
                </a:solidFill>
                <a:latin typeface="MiSans"/>
                <a:ea typeface="MiSans"/>
              </a:rPr>
              <a:t>对齐填充</a:t>
            </a:r>
            <a:endParaRPr lang="en-US" sz="1400" noProof="1"/>
          </a:p>
        </p:txBody>
      </p:sp>
      <p:sp>
        <p:nvSpPr>
          <p:cNvPr id="15" name="layout-note"/>
          <p:cNvSpPr txBox="1"/>
          <p:nvPr/>
        </p:nvSpPr>
        <p:spPr>
          <a:xfrm>
            <a:off x="762000" y="26670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大小 = 标签 + 最大分支的大小（再按对齐取整）；某个分支特别大时，常用 Box 把它移到堆上，避免撑大整个 enum。</a:t>
            </a:r>
            <a:endParaRPr lang="en-US" sz="1200" noProof="1"/>
          </a:p>
        </p:txBody>
      </p:sp>
      <p:sp>
        <p:nvSpPr>
          <p:cNvPr id="16" name="points"/>
          <p:cNvSpPr txBox="1"/>
          <p:nvPr/>
        </p:nvSpPr>
        <p:spPr>
          <a:xfrm>
            <a:off x="762000" y="3327400"/>
            <a:ext cx="10668000" cy="279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niche 优化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：Rust 中 Option&lt;&amp;T&gt; 与 &amp;T 占同样大小的内存——空指针的位模式被"借用"当标签，做到零成本抽象</a:t>
            </a:r>
            <a:endParaRPr lang="en-US" sz="1600" noProof="1"/>
          </a:p>
          <a:p>
            <a:pPr>
              <a:lnSpc>
                <a:spcPct val="16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装箱路线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（JVM / 动态语言）：值变成"堆对象 + 类型头指针"，多一次间接寻址，也增加 GC 压力</a:t>
            </a:r>
            <a:endParaRPr lang="en-US" sz="1600" noProof="1"/>
          </a:p>
          <a:p>
            <a:pPr>
              <a:lnSpc>
                <a:spcPct val="16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C union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：无标签、最省空间，但安全性完全交给程序员</a:t>
            </a:r>
            <a:endParaRPr lang="en-US" sz="1600" noProof="1"/>
          </a:p>
          <a:p>
            <a:pPr>
              <a:lnSpc>
                <a:spcPct val="16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TypeScript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：根本不做表示——值本来就是 JS 值，union 只存在于编译期</a:t>
            </a:r>
            <a:endParaRPr lang="en-US" sz="1600" noProof="1"/>
          </a:p>
        </p:txBody>
      </p:sp>
      <p:sp>
        <p:nvSpPr>
          <p:cNvPr id="17" name="footer-left"/>
          <p:cNvSpPr txBox="1"/>
          <p:nvPr/>
        </p:nvSpPr>
        <p:spPr>
          <a:xfrm>
            <a:off x="7620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类型系统讲义 · 并类型与交类型</a:t>
            </a:r>
            <a:endParaRPr lang="en-US" sz="1200" noProof="1"/>
          </a:p>
        </p:txBody>
      </p:sp>
      <p:sp>
        <p:nvSpPr>
          <p:cNvPr id="18" name="footer-page"/>
          <p:cNvSpPr txBox="1"/>
          <p:nvPr/>
        </p:nvSpPr>
        <p:spPr>
          <a:xfrm>
            <a:off x="10922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26</a:t>
            </a:r>
            <a:endParaRPr lang="en-US" sz="1200" noProof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PART 04 · 实现与性能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3272E"/>
                </a:solidFill>
                <a:latin typeface="思源宋体"/>
                <a:ea typeface="思源宋体"/>
              </a:rPr>
              <a:t>分派与 Narrowing 的运行时成本</a:t>
            </a:r>
            <a:endParaRPr lang="en-US" sz="2700" noProof="1"/>
          </a:p>
        </p:txBody>
      </p:sp>
      <p:sp>
        <p:nvSpPr>
          <p:cNvPr id="4" name="rule-accent"/>
          <p:cNvSpPr/>
          <p:nvPr/>
        </p:nvSpPr>
        <p:spPr>
          <a:xfrm>
            <a:off x="762000" y="1346200"/>
            <a:ext cx="812800" cy="381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5" name="rule-line"/>
          <p:cNvSpPr/>
          <p:nvPr/>
        </p:nvSpPr>
        <p:spPr>
          <a:xfrm>
            <a:off x="762000" y="1358900"/>
            <a:ext cx="106680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6" name="p1-title"/>
          <p:cNvSpPr txBox="1"/>
          <p:nvPr/>
        </p:nvSpPr>
        <p:spPr>
          <a:xfrm>
            <a:off x="762000" y="16256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① 类型测试链：成员越多，判断越长</a:t>
            </a:r>
            <a:endParaRPr lang="en-US" sz="1600" noProof="1"/>
          </a:p>
        </p:txBody>
      </p:sp>
      <p:sp>
        <p:nvSpPr>
          <p:cNvPr id="7" name="p1-body"/>
          <p:cNvSpPr txBox="1"/>
          <p:nvPr/>
        </p:nvSpPr>
        <p:spPr>
          <a:xfrm>
            <a:off x="1066800" y="19812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untagged union 的 narrowing 是一串 typeof / instanceof；成员多时是线性链。</a:t>
            </a:r>
            <a:endParaRPr lang="en-US" sz="14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instanceof 还要沿类层次向上查找，比一次字段比较贵。</a:t>
            </a:r>
            <a:endParaRPr lang="en-US" sz="1400" noProof="1"/>
          </a:p>
        </p:txBody>
      </p:sp>
      <p:sp>
        <p:nvSpPr>
          <p:cNvPr id="8" name="p2-title"/>
          <p:cNvSpPr txBox="1"/>
          <p:nvPr/>
        </p:nvSpPr>
        <p:spPr>
          <a:xfrm>
            <a:off x="762000" y="26924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② 判别字段 + switch：接近 O(1) 的分派</a:t>
            </a:r>
            <a:endParaRPr lang="en-US" sz="1600" noProof="1"/>
          </a:p>
        </p:txBody>
      </p:sp>
      <p:sp>
        <p:nvSpPr>
          <p:cNvPr id="9" name="p2-body"/>
          <p:cNvSpPr txBox="1"/>
          <p:nvPr/>
        </p:nvSpPr>
        <p:spPr>
          <a:xfrm>
            <a:off x="1066800" y="30480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判别联合（或 sum type）的标签是整数，switch / match 可编译为</a:t>
            </a:r>
            <a:r>
              <a:rPr lang="en-US" sz="1400" b="1" noProof="1">
                <a:solidFill>
                  <a:srgbClr val="23272E"/>
                </a:solidFill>
                <a:latin typeface="MiSans"/>
                <a:ea typeface="MiSans"/>
              </a:rPr>
              <a:t>跳转表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，</a:t>
            </a:r>
            <a:endParaRPr lang="en-US" sz="14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一次间接跳转完成分派——这是"手工加标签"换来的性能优势。</a:t>
            </a:r>
            <a:endParaRPr lang="en-US" sz="1400" noProof="1"/>
          </a:p>
        </p:txBody>
      </p:sp>
      <p:sp>
        <p:nvSpPr>
          <p:cNvPr id="10" name="p3-title"/>
          <p:cNvSpPr txBox="1"/>
          <p:nvPr/>
        </p:nvSpPr>
        <p:spPr>
          <a:xfrm>
            <a:off x="762000" y="37592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③ JIT 视角：单态快，多态慢</a:t>
            </a:r>
            <a:endParaRPr lang="en-US" sz="1600" noProof="1"/>
          </a:p>
        </p:txBody>
      </p:sp>
      <p:sp>
        <p:nvSpPr>
          <p:cNvPr id="11" name="p3-body"/>
          <p:cNvSpPr txBox="1"/>
          <p:nvPr/>
        </p:nvSpPr>
        <p:spPr>
          <a:xfrm>
            <a:off x="1066800" y="4114800"/>
            <a:ext cx="103632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· 调用点实际类型单一时（单态），JIT 可内联目标方法，接近静态调用的速度</a:t>
            </a:r>
            <a:endParaRPr lang="en-US" sz="14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· union 让同一位置出现多种类型 → 多态 / 超多态（megamorphic）：退化为查内联缓存或间接调用</a:t>
            </a:r>
            <a:endParaRPr lang="en-US" sz="1400" noProof="1"/>
          </a:p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· 类型测试失败还会触发去优化（deopt），代码退回解释执行重新 profiling</a:t>
            </a:r>
            <a:endParaRPr lang="en-US" sz="1400" noProof="1"/>
          </a:p>
        </p:txBody>
      </p:sp>
      <p:sp>
        <p:nvSpPr>
          <p:cNvPr id="12" name="p4-title"/>
          <p:cNvSpPr txBox="1"/>
          <p:nvPr/>
        </p:nvSpPr>
        <p:spPr>
          <a:xfrm>
            <a:off x="762000" y="51054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④ 模式匹配：检查在编译期做完了</a:t>
            </a:r>
            <a:endParaRPr lang="en-US" sz="1600" noProof="1"/>
          </a:p>
        </p:txBody>
      </p:sp>
      <p:sp>
        <p:nvSpPr>
          <p:cNvPr id="13" name="p4-body"/>
          <p:cNvSpPr txBox="1"/>
          <p:nvPr/>
        </p:nvSpPr>
        <p:spPr>
          <a:xfrm>
            <a:off x="1066800" y="54610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sum type 的穷举性在编译期验证；运行时只剩标签比较与跳转，没有多余检查。</a:t>
            </a:r>
            <a:endParaRPr lang="en-US" sz="1400" noProof="1"/>
          </a:p>
          <a:p>
            <a:pPr>
              <a:lnSpc>
                <a:spcPct val="155000"/>
              </a:lnSpc>
            </a:pPr>
            <a:r>
              <a:rPr lang="en-US" sz="1400" b="1" noProof="1">
                <a:solidFill>
                  <a:srgbClr val="23272E"/>
                </a:solidFill>
                <a:latin typeface="MiSans"/>
                <a:ea typeface="MiSans"/>
              </a:rPr>
              <a:t>经验法则</a:t>
            </a: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：热路径上优先"标签 + switch"，避免长串类型测试。</a:t>
            </a:r>
            <a:endParaRPr lang="en-US" sz="1400" noProof="1"/>
          </a:p>
        </p:txBody>
      </p:sp>
      <p:sp>
        <p:nvSpPr>
          <p:cNvPr id="14" name="footer-left"/>
          <p:cNvSpPr txBox="1"/>
          <p:nvPr/>
        </p:nvSpPr>
        <p:spPr>
          <a:xfrm>
            <a:off x="7620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类型系统讲义 · 并类型与交类型</a:t>
            </a:r>
            <a:endParaRPr lang="en-US" sz="1200" noProof="1"/>
          </a:p>
        </p:txBody>
      </p:sp>
      <p:sp>
        <p:nvSpPr>
          <p:cNvPr id="15" name="footer-page"/>
          <p:cNvSpPr txBox="1"/>
          <p:nvPr/>
        </p:nvSpPr>
        <p:spPr>
          <a:xfrm>
            <a:off x="10922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27</a:t>
            </a:r>
            <a:endParaRPr lang="en-US" sz="1200" noProof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PART 04 · 实现与性能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3272E"/>
                </a:solidFill>
                <a:latin typeface="思源宋体"/>
                <a:ea typeface="思源宋体"/>
              </a:rPr>
              <a:t>Intersection 的实现：多接口、多视图</a:t>
            </a:r>
            <a:endParaRPr lang="en-US" sz="2700" noProof="1"/>
          </a:p>
        </p:txBody>
      </p:sp>
      <p:sp>
        <p:nvSpPr>
          <p:cNvPr id="4" name="rule-accent"/>
          <p:cNvSpPr/>
          <p:nvPr/>
        </p:nvSpPr>
        <p:spPr>
          <a:xfrm>
            <a:off x="762000" y="1346200"/>
            <a:ext cx="812800" cy="381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5" name="rule-line"/>
          <p:cNvSpPr/>
          <p:nvPr/>
        </p:nvSpPr>
        <p:spPr>
          <a:xfrm>
            <a:off x="762000" y="1358900"/>
            <a:ext cx="106680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6" name="intro"/>
          <p:cNvSpPr txBox="1"/>
          <p:nvPr/>
        </p:nvSpPr>
        <p:spPr>
          <a:xfrm>
            <a:off x="762000" y="16002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实现 A &amp; B 的对象，必须能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同时提供两套接口视图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。各语言的答案不同，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但都绕不开"一个对象、多张方法表"的布局问题。</a:t>
            </a:r>
            <a:endParaRPr lang="en-US" sz="1600" noProof="1"/>
          </a:p>
        </p:txBody>
      </p:sp>
      <p:sp>
        <p:nvSpPr>
          <p:cNvPr id="7" name="points"/>
          <p:cNvSpPr txBox="1"/>
          <p:nvPr/>
        </p:nvSpPr>
        <p:spPr>
          <a:xfrm>
            <a:off x="762000" y="2311400"/>
            <a:ext cx="10668000" cy="368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8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JVM / .NET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：对象头 + 类 vtable；接口方法经接口表（i-table）查找，通常比虚方法多分派一层，接口变多时退化为线性或哈希查找</a:t>
            </a:r>
            <a:endParaRPr lang="en-US" sz="1600" noProof="1"/>
          </a:p>
          <a:p>
            <a:pPr>
              <a:lnSpc>
                <a:spcPct val="168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Scala trait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：A with B 的方法解析顺序在编译期线性化（linearization）确定，叠加语义清晰但有学习成本</a:t>
            </a:r>
            <a:endParaRPr lang="en-US" sz="1600" noProof="1"/>
          </a:p>
          <a:p>
            <a:pPr>
              <a:lnSpc>
                <a:spcPct val="168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Haskell 类型类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：Show a、Ord a 等多个约束经 dictionary passing 实现——每个约束多传一个方法字典指针，调用间接受一层</a:t>
            </a:r>
            <a:endParaRPr lang="en-US" sz="1600" noProof="1"/>
          </a:p>
          <a:p>
            <a:pPr>
              <a:lnSpc>
                <a:spcPct val="168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C++ 式多重继承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：不同"视图"的字段偏移不同，指针强转时需要调整 this（指针修正 thunk）</a:t>
            </a:r>
            <a:endParaRPr lang="en-US" sz="1600" noProof="1"/>
          </a:p>
          <a:p>
            <a:pPr>
              <a:lnSpc>
                <a:spcPct val="168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· </a:t>
            </a: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TypeScript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：交叉类型完全擦除，运行时零成本——但同样拿不到任何交集信息</a:t>
            </a:r>
            <a:endParaRPr lang="en-US" sz="1600" noProof="1"/>
          </a:p>
        </p:txBody>
      </p:sp>
      <p:sp>
        <p:nvSpPr>
          <p:cNvPr id="8" name="note-bg"/>
          <p:cNvSpPr/>
          <p:nvPr/>
        </p:nvSpPr>
        <p:spPr>
          <a:xfrm>
            <a:off x="762000" y="5740400"/>
            <a:ext cx="10668000" cy="508000"/>
          </a:xfrm>
          <a:prstGeom prst="rect">
            <a:avLst/>
          </a:prstGeom>
          <a:solidFill>
            <a:srgbClr val="F3F1EA"/>
          </a:solidFill>
          <a:ln>
            <a:noFill/>
          </a:ln>
        </p:spPr>
      </p:sp>
      <p:sp>
        <p:nvSpPr>
          <p:cNvPr id="9" name="note"/>
          <p:cNvSpPr txBox="1"/>
          <p:nvPr/>
        </p:nvSpPr>
        <p:spPr>
          <a:xfrm>
            <a:off x="990600" y="5842000"/>
            <a:ext cx="10236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23272E"/>
                </a:solidFill>
                <a:latin typeface="MiSans"/>
                <a:ea typeface="MiSans"/>
              </a:rPr>
              <a:t>共同主题：交集的代价集中在"方法解析"上——视图越多，分派路径越长。</a:t>
            </a:r>
            <a:endParaRPr lang="en-US" sz="1400" noProof="1"/>
          </a:p>
        </p:txBody>
      </p:sp>
      <p:sp>
        <p:nvSpPr>
          <p:cNvPr id="10" name="footer-left"/>
          <p:cNvSpPr txBox="1"/>
          <p:nvPr/>
        </p:nvSpPr>
        <p:spPr>
          <a:xfrm>
            <a:off x="7620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类型系统讲义 · 并类型与交类型</a:t>
            </a:r>
            <a:endParaRPr lang="en-US" sz="1200" noProof="1"/>
          </a:p>
        </p:txBody>
      </p:sp>
      <p:sp>
        <p:nvSpPr>
          <p:cNvPr id="11" name="footer-page"/>
          <p:cNvSpPr txBox="1"/>
          <p:nvPr/>
        </p:nvSpPr>
        <p:spPr>
          <a:xfrm>
            <a:off x="10922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28</a:t>
            </a:r>
            <a:endParaRPr lang="en-US" sz="1200" noProof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PART 04 · 实现与性能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3272E"/>
                </a:solidFill>
                <a:latin typeface="思源宋体"/>
                <a:ea typeface="思源宋体"/>
              </a:rPr>
              <a:t>性能要点小结</a:t>
            </a:r>
            <a:endParaRPr lang="en-US" sz="2700" noProof="1"/>
          </a:p>
        </p:txBody>
      </p:sp>
      <p:sp>
        <p:nvSpPr>
          <p:cNvPr id="4" name="rule-accent"/>
          <p:cNvSpPr/>
          <p:nvPr/>
        </p:nvSpPr>
        <p:spPr>
          <a:xfrm>
            <a:off x="762000" y="1346200"/>
            <a:ext cx="812800" cy="381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5" name="rule-line"/>
          <p:cNvSpPr/>
          <p:nvPr/>
        </p:nvSpPr>
        <p:spPr>
          <a:xfrm>
            <a:off x="762000" y="1358900"/>
            <a:ext cx="106680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graphicFrame>
        <p:nvGraphicFramePr>
          <p:cNvPr id="6" name="perf-table"/>
          <p:cNvGraphicFramePr>
            <a:graphicFrameLocks noGrp="1"/>
          </p:cNvGraphicFramePr>
          <p:nvPr/>
        </p:nvGraphicFramePr>
        <p:xfrm>
          <a:off x="762000" y="1625600"/>
          <a:ext cx="10668000" cy="35560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3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7840"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7B2D26"/>
                          </a:solidFill>
                          <a:latin typeface="Times New Roman"/>
                          <a:ea typeface="Times New Roman"/>
                        </a:rPr>
                        <a:t>维度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7B2D2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7B2D26"/>
                          </a:solidFill>
                          <a:latin typeface="Times New Roman"/>
                          <a:ea typeface="Times New Roman"/>
                        </a:rPr>
                        <a:t>关注点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7B2D2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7B2D26"/>
                          </a:solidFill>
                          <a:latin typeface="Times New Roman"/>
                          <a:ea typeface="Times New Roman"/>
                        </a:rPr>
                        <a:t>常见取舍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7B2D2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4540"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内存布局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7B2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内联 tagged union vs 装箱指针；对齐造成的浪费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7B2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niche 优化可省掉标签；大分支用 Box 移出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7B2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540"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分派速度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静态调用 &gt; 跳转表 &gt; 虚分派 &gt; 接口查找 &gt; 类型测试链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热路径用标签 + switch / match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4540"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编译期信息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物化类型使穷举检查、单态化成为可能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擦除零成本，但丢失优化线索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4540"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GC 与缓存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装箱增加堆分配与指针追逐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</a:rPr>
                        <a:t>内联布局对缓存更友好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CD7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CD7C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advice-bg"/>
          <p:cNvSpPr/>
          <p:nvPr/>
        </p:nvSpPr>
        <p:spPr>
          <a:xfrm>
            <a:off x="762000" y="5435600"/>
            <a:ext cx="10668000" cy="711200"/>
          </a:xfrm>
          <a:prstGeom prst="rect">
            <a:avLst/>
          </a:prstGeom>
          <a:solidFill>
            <a:srgbClr val="F3F1EA"/>
          </a:solidFill>
          <a:ln>
            <a:noFill/>
          </a:ln>
        </p:spPr>
      </p:sp>
      <p:sp>
        <p:nvSpPr>
          <p:cNvPr id="8" name="advice"/>
          <p:cNvSpPr txBox="1"/>
          <p:nvPr/>
        </p:nvSpPr>
        <p:spPr>
          <a:xfrm>
            <a:off x="990600" y="5562600"/>
            <a:ext cx="10236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工程建议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：性能敏感路径用 enum + match 并让编译器单态化；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边界与配置层用 union 换表达力——那里通常不是瓶颈。</a:t>
            </a:r>
            <a:endParaRPr lang="en-US" sz="1600" noProof="1"/>
          </a:p>
        </p:txBody>
      </p:sp>
      <p:sp>
        <p:nvSpPr>
          <p:cNvPr id="9" name="footer-left"/>
          <p:cNvSpPr txBox="1"/>
          <p:nvPr/>
        </p:nvSpPr>
        <p:spPr>
          <a:xfrm>
            <a:off x="7620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类型系统讲义 · 并类型与交类型</a:t>
            </a:r>
            <a:endParaRPr lang="en-US" sz="1200" noProof="1"/>
          </a:p>
        </p:txBody>
      </p:sp>
      <p:sp>
        <p:nvSpPr>
          <p:cNvPr id="10" name="footer-page"/>
          <p:cNvSpPr txBox="1"/>
          <p:nvPr/>
        </p:nvSpPr>
        <p:spPr>
          <a:xfrm>
            <a:off x="10922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29</a:t>
            </a:r>
            <a:endParaRPr lang="en-US" sz="1200" noProof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EXERCISE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3272E"/>
                </a:solidFill>
                <a:latin typeface="思源宋体"/>
                <a:ea typeface="思源宋体"/>
              </a:rPr>
              <a:t>随堂思考</a:t>
            </a:r>
            <a:endParaRPr lang="en-US" sz="2700" noProof="1"/>
          </a:p>
        </p:txBody>
      </p:sp>
      <p:sp>
        <p:nvSpPr>
          <p:cNvPr id="4" name="rule-accent"/>
          <p:cNvSpPr/>
          <p:nvPr/>
        </p:nvSpPr>
        <p:spPr>
          <a:xfrm>
            <a:off x="762000" y="1346200"/>
            <a:ext cx="812800" cy="381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5" name="rule-line"/>
          <p:cNvSpPr/>
          <p:nvPr/>
        </p:nvSpPr>
        <p:spPr>
          <a:xfrm>
            <a:off x="762000" y="1358900"/>
            <a:ext cx="106680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6" name="q1-num"/>
          <p:cNvSpPr txBox="1"/>
          <p:nvPr/>
        </p:nvSpPr>
        <p:spPr>
          <a:xfrm>
            <a:off x="762000" y="1727200"/>
            <a:ext cx="711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7B2D26"/>
                </a:solidFill>
                <a:latin typeface="思源宋体"/>
                <a:ea typeface="思源宋体"/>
              </a:rPr>
              <a:t>Q1</a:t>
            </a:r>
            <a:endParaRPr lang="en-US" sz="2200" noProof="1"/>
          </a:p>
        </p:txBody>
      </p:sp>
      <p:sp>
        <p:nvSpPr>
          <p:cNvPr id="7" name="q1-body"/>
          <p:cNvSpPr txBox="1"/>
          <p:nvPr/>
        </p:nvSpPr>
        <p:spPr>
          <a:xfrm>
            <a:off x="1574800" y="1727200"/>
            <a:ext cx="98552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JetBrains Mono"/>
                <a:ea typeface="JetBrains Mono"/>
              </a:rPr>
              <a:t>string | number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（TS）与 </a:t>
            </a:r>
            <a:r>
              <a:rPr lang="en-US" sz="1600" noProof="1">
                <a:solidFill>
                  <a:srgbClr val="23272E"/>
                </a:solidFill>
                <a:latin typeface="JetBrains Mono"/>
                <a:ea typeface="JetBrains Mono"/>
              </a:rPr>
              <a:t>enum { S(String), N(i32) }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（Rust）各自如何消解？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哪一个能区分"同样是字符串、但来源不同"的两种情况？为什么？</a:t>
            </a:r>
            <a:endParaRPr lang="en-US" sz="1600" noProof="1"/>
          </a:p>
        </p:txBody>
      </p:sp>
      <p:sp>
        <p:nvSpPr>
          <p:cNvPr id="8" name="q1-line"/>
          <p:cNvSpPr/>
          <p:nvPr/>
        </p:nvSpPr>
        <p:spPr>
          <a:xfrm>
            <a:off x="1574800" y="2844800"/>
            <a:ext cx="98552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9" name="q2-num"/>
          <p:cNvSpPr txBox="1"/>
          <p:nvPr/>
        </p:nvSpPr>
        <p:spPr>
          <a:xfrm>
            <a:off x="762000" y="3048000"/>
            <a:ext cx="711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7B2D26"/>
                </a:solidFill>
                <a:latin typeface="思源宋体"/>
                <a:ea typeface="思源宋体"/>
              </a:rPr>
              <a:t>Q2</a:t>
            </a:r>
            <a:endParaRPr lang="en-US" sz="2200" noProof="1"/>
          </a:p>
        </p:txBody>
      </p:sp>
      <p:sp>
        <p:nvSpPr>
          <p:cNvPr id="10" name="q2-body"/>
          <p:cNvSpPr txBox="1"/>
          <p:nvPr/>
        </p:nvSpPr>
        <p:spPr>
          <a:xfrm>
            <a:off x="1574800" y="3048000"/>
            <a:ext cx="98552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为什么 TS 中 </a:t>
            </a:r>
            <a:r>
              <a:rPr lang="en-US" sz="1600" noProof="1">
                <a:solidFill>
                  <a:srgbClr val="23272E"/>
                </a:solidFill>
                <a:latin typeface="JetBrains Mono"/>
                <a:ea typeface="JetBrains Mono"/>
              </a:rPr>
              <a:t>string &amp; number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 被判定为 never，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而 </a:t>
            </a:r>
            <a:r>
              <a:rPr lang="en-US" sz="1600" noProof="1">
                <a:solidFill>
                  <a:srgbClr val="23272E"/>
                </a:solidFill>
                <a:latin typeface="JetBrains Mono"/>
                <a:ea typeface="JetBrains Mono"/>
              </a:rPr>
              <a:t>{ name: string } &amp; { age: number }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 却不是？请用值集合的交集解释。</a:t>
            </a:r>
            <a:endParaRPr lang="en-US" sz="1600" noProof="1"/>
          </a:p>
        </p:txBody>
      </p:sp>
      <p:sp>
        <p:nvSpPr>
          <p:cNvPr id="11" name="q2-line"/>
          <p:cNvSpPr/>
          <p:nvPr/>
        </p:nvSpPr>
        <p:spPr>
          <a:xfrm>
            <a:off x="1574800" y="4165600"/>
            <a:ext cx="98552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12" name="q3-num"/>
          <p:cNvSpPr txBox="1"/>
          <p:nvPr/>
        </p:nvSpPr>
        <p:spPr>
          <a:xfrm>
            <a:off x="762000" y="4368800"/>
            <a:ext cx="711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7B2D26"/>
                </a:solidFill>
                <a:latin typeface="思源宋体"/>
                <a:ea typeface="思源宋体"/>
              </a:rPr>
              <a:t>Q3</a:t>
            </a:r>
            <a:endParaRPr lang="en-US" sz="2200" noProof="1"/>
          </a:p>
        </p:txBody>
      </p:sp>
      <p:sp>
        <p:nvSpPr>
          <p:cNvPr id="13" name="q3-body"/>
          <p:cNvSpPr txBox="1"/>
          <p:nvPr/>
        </p:nvSpPr>
        <p:spPr>
          <a:xfrm>
            <a:off x="1574800" y="4368800"/>
            <a:ext cx="98552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你最常用的语言里，null / None 是独立类型、union 的普通成员，还是根本不存在？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这个选择对编译器的空值检查和运行时表示各意味着什么？</a:t>
            </a:r>
            <a:endParaRPr lang="en-US" sz="1600" noProof="1"/>
          </a:p>
        </p:txBody>
      </p:sp>
      <p:sp>
        <p:nvSpPr>
          <p:cNvPr id="14" name="hint"/>
          <p:cNvSpPr txBox="1"/>
          <p:nvPr/>
        </p:nvSpPr>
        <p:spPr>
          <a:xfrm>
            <a:off x="762000" y="56642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E6A61"/>
                </a:solidFill>
                <a:latin typeface="MiSans"/>
                <a:ea typeface="MiSans"/>
              </a:rPr>
              <a:t>讨论 5 分钟，下节课抽答；提示：Q1 想"标签"，Q2 想"集合是否相交"，Q3 想"信息是否活到运行时"。</a:t>
            </a:r>
            <a:endParaRPr lang="en-US" sz="1400" noProof="1"/>
          </a:p>
        </p:txBody>
      </p:sp>
      <p:sp>
        <p:nvSpPr>
          <p:cNvPr id="15" name="footer-left"/>
          <p:cNvSpPr txBox="1"/>
          <p:nvPr/>
        </p:nvSpPr>
        <p:spPr>
          <a:xfrm>
            <a:off x="7620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类型系统讲义 · 并类型与交类型</a:t>
            </a:r>
            <a:endParaRPr lang="en-US" sz="1200" noProof="1"/>
          </a:p>
        </p:txBody>
      </p:sp>
      <p:sp>
        <p:nvSpPr>
          <p:cNvPr id="16" name="footer-page"/>
          <p:cNvSpPr txBox="1"/>
          <p:nvPr/>
        </p:nvSpPr>
        <p:spPr>
          <a:xfrm>
            <a:off x="10922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30</a:t>
            </a:r>
            <a:endParaRPr lang="en-US" sz="1200" noProof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7B2D26"/>
                </a:solidFill>
                <a:latin typeface="MiSans"/>
                <a:ea typeface="MiSans"/>
              </a:rPr>
              <a:t>SUMMARY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11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23272E"/>
                </a:solidFill>
                <a:latin typeface="思源宋体"/>
                <a:ea typeface="思源宋体"/>
              </a:rPr>
              <a:t>要点回顾与延伸阅读</a:t>
            </a:r>
            <a:endParaRPr lang="en-US" sz="2700" noProof="1"/>
          </a:p>
        </p:txBody>
      </p:sp>
      <p:sp>
        <p:nvSpPr>
          <p:cNvPr id="4" name="rule-accent"/>
          <p:cNvSpPr/>
          <p:nvPr/>
        </p:nvSpPr>
        <p:spPr>
          <a:xfrm>
            <a:off x="762000" y="1346200"/>
            <a:ext cx="812800" cy="38100"/>
          </a:xfrm>
          <a:prstGeom prst="rect">
            <a:avLst/>
          </a:prstGeom>
          <a:solidFill>
            <a:srgbClr val="7B2D26"/>
          </a:solidFill>
          <a:ln>
            <a:noFill/>
          </a:ln>
        </p:spPr>
      </p:sp>
      <p:sp>
        <p:nvSpPr>
          <p:cNvPr id="5" name="rule-line"/>
          <p:cNvSpPr/>
          <p:nvPr/>
        </p:nvSpPr>
        <p:spPr>
          <a:xfrm>
            <a:off x="762000" y="1358900"/>
            <a:ext cx="106680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6" name="takeaways"/>
          <p:cNvSpPr txBox="1"/>
          <p:nvPr/>
        </p:nvSpPr>
        <p:spPr>
          <a:xfrm>
            <a:off x="762000" y="1625600"/>
            <a:ext cx="10668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0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1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　Union = 值集合的并，类型级的"或"：引入靠放宽，消去靠分情况（narrowing）</a:t>
            </a:r>
            <a:endParaRPr lang="en-US" sz="1600" noProof="1"/>
          </a:p>
          <a:p>
            <a:pPr>
              <a:lnSpc>
                <a:spcPct val="170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2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　Intersection = 值集合的交，类型级的"且"：引入要同时满足，消去是投影</a:t>
            </a:r>
            <a:endParaRPr lang="en-US" sz="1600" noProof="1"/>
          </a:p>
          <a:p>
            <a:pPr>
              <a:lnSpc>
                <a:spcPct val="170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3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　与 ADT 的本质区别：union / intersection 无标签、服从集合代数；sum / product 有构造器、是名义数据定义</a:t>
            </a:r>
            <a:endParaRPr lang="en-US" sz="1600" noProof="1"/>
          </a:p>
          <a:p>
            <a:pPr>
              <a:lnSpc>
                <a:spcPct val="170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4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　取舍：建模用 sum，接口边界用 union，能力约束用 intersection，聚合用 product</a:t>
            </a:r>
            <a:endParaRPr lang="en-US" sz="1600" noProof="1"/>
          </a:p>
          <a:p>
            <a:pPr>
              <a:lnSpc>
                <a:spcPct val="170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5</a:t>
            </a:r>
            <a:r>
              <a:rPr lang="en-US" sz="1600" noProof="1">
                <a:solidFill>
                  <a:srgbClr val="23272E"/>
                </a:solidFill>
                <a:latin typeface="MiSans"/>
                <a:ea typeface="MiSans"/>
              </a:rPr>
              <a:t>　实现：擦除零成本但失去运行时信息；物化支持匹配与优化，但要付标签与分派的代价</a:t>
            </a:r>
            <a:endParaRPr lang="en-US" sz="1600" noProof="1"/>
          </a:p>
        </p:txBody>
      </p:sp>
      <p:sp>
        <p:nvSpPr>
          <p:cNvPr id="7" name="ref-line"/>
          <p:cNvSpPr/>
          <p:nvPr/>
        </p:nvSpPr>
        <p:spPr>
          <a:xfrm>
            <a:off x="762000" y="4927600"/>
            <a:ext cx="10668000" cy="12700"/>
          </a:xfrm>
          <a:prstGeom prst="rect">
            <a:avLst/>
          </a:prstGeom>
          <a:solidFill>
            <a:srgbClr val="DCD7CB"/>
          </a:solidFill>
          <a:ln>
            <a:noFill/>
          </a:ln>
        </p:spPr>
      </p:sp>
      <p:sp>
        <p:nvSpPr>
          <p:cNvPr id="8" name="ref-title"/>
          <p:cNvSpPr txBox="1"/>
          <p:nvPr/>
        </p:nvSpPr>
        <p:spPr>
          <a:xfrm>
            <a:off x="762000" y="51054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23272E"/>
                </a:solidFill>
                <a:latin typeface="MiSans"/>
                <a:ea typeface="MiSans"/>
              </a:rPr>
              <a:t>延伸阅读</a:t>
            </a:r>
            <a:endParaRPr lang="en-US" sz="1600" noProof="1"/>
          </a:p>
        </p:txBody>
      </p:sp>
      <p:sp>
        <p:nvSpPr>
          <p:cNvPr id="9" name="refs"/>
          <p:cNvSpPr txBox="1"/>
          <p:nvPr/>
        </p:nvSpPr>
        <p:spPr>
          <a:xfrm>
            <a:off x="762000" y="5461000"/>
            <a:ext cx="10668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 noProof="1">
                <a:solidFill>
                  <a:srgbClr val="6E6A61"/>
                </a:solidFill>
                <a:latin typeface="MiSans"/>
                <a:ea typeface="MiSans"/>
              </a:rPr>
              <a:t>· Benjamin Pierce, </a:t>
            </a:r>
            <a:r>
              <a:rPr lang="en-US" sz="1400" i="1" noProof="1">
                <a:solidFill>
                  <a:srgbClr val="6E6A61"/>
                </a:solidFill>
                <a:latin typeface="MiSans"/>
                <a:ea typeface="MiSans"/>
              </a:rPr>
              <a:t>Types and Programming Languages</a:t>
            </a:r>
            <a:r>
              <a:rPr lang="en-US" sz="1400" noProof="1">
                <a:solidFill>
                  <a:srgbClr val="6E6A61"/>
                </a:solidFill>
                <a:latin typeface="MiSans"/>
                <a:ea typeface="MiSans"/>
              </a:rPr>
              <a:t>（TAPL），第 11、15 章</a:t>
            </a:r>
            <a:endParaRPr lang="en-US" sz="1400" noProof="1"/>
          </a:p>
          <a:p>
            <a:pPr>
              <a:lnSpc>
                <a:spcPct val="160000"/>
              </a:lnSpc>
            </a:pPr>
            <a:r>
              <a:rPr lang="en-US" sz="1400" noProof="1">
                <a:solidFill>
                  <a:srgbClr val="6E6A61"/>
                </a:solidFill>
                <a:latin typeface="MiSans"/>
                <a:ea typeface="MiSans"/>
              </a:rPr>
              <a:t>· TypeScript Handbook: Unions and Intersection Types；Scala 3 Reference: Union / Intersection Types</a:t>
            </a:r>
            <a:endParaRPr lang="en-US" sz="1400" noProof="1"/>
          </a:p>
          <a:p>
            <a:pPr>
              <a:lnSpc>
                <a:spcPct val="160000"/>
              </a:lnSpc>
            </a:pPr>
            <a:r>
              <a:rPr lang="en-US" sz="1400" noProof="1">
                <a:solidFill>
                  <a:srgbClr val="6E6A61"/>
                </a:solidFill>
                <a:latin typeface="MiSans"/>
                <a:ea typeface="MiSans"/>
              </a:rPr>
              <a:t>· Frisch, Castagna &amp; Benzaken, </a:t>
            </a:r>
            <a:r>
              <a:rPr lang="en-US" sz="1400" i="1" noProof="1">
                <a:solidFill>
                  <a:srgbClr val="6E6A61"/>
                </a:solidFill>
                <a:latin typeface="MiSans"/>
                <a:ea typeface="MiSans"/>
              </a:rPr>
              <a:t>Semantic Subtyping</a:t>
            </a:r>
            <a:r>
              <a:rPr lang="en-US" sz="1400" noProof="1">
                <a:solidFill>
                  <a:srgbClr val="6E6A61"/>
                </a:solidFill>
                <a:latin typeface="MiSans"/>
                <a:ea typeface="MiSans"/>
              </a:rPr>
              <a:t>（CDuce：严格集合论语义下的 union / intersection）</a:t>
            </a:r>
            <a:endParaRPr lang="en-US" sz="1400" noProof="1"/>
          </a:p>
        </p:txBody>
      </p:sp>
      <p:sp>
        <p:nvSpPr>
          <p:cNvPr id="10" name="footer-left"/>
          <p:cNvSpPr txBox="1"/>
          <p:nvPr/>
        </p:nvSpPr>
        <p:spPr>
          <a:xfrm>
            <a:off x="7620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类型系统讲义 · 并类型与交类型</a:t>
            </a:r>
            <a:endParaRPr lang="en-US" sz="1200" noProof="1"/>
          </a:p>
        </p:txBody>
      </p:sp>
      <p:sp>
        <p:nvSpPr>
          <p:cNvPr id="11" name="footer-page"/>
          <p:cNvSpPr txBox="1"/>
          <p:nvPr/>
        </p:nvSpPr>
        <p:spPr>
          <a:xfrm>
            <a:off x="10922000" y="6502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MiSans"/>
                <a:ea typeface="MiSans"/>
              </a:rPr>
              <a:t>31</a:t>
            </a:r>
            <a:endParaRPr lang="en-US" sz="12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3778</Words>
  <Application>Microsoft Office PowerPoint</Application>
  <PresentationFormat>宽屏</PresentationFormat>
  <Paragraphs>555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6" baseType="lpstr">
      <vt:lpstr>MiSans</vt:lpstr>
      <vt:lpstr>思源宋体</vt:lpstr>
      <vt:lpstr>JetBrains Mono</vt:lpstr>
      <vt:lpstr>Times New Roman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类型系统中的并类型与交类型</dc:title>
  <cp:lastModifiedBy>新宇 冯</cp:lastModifiedBy>
  <cp:revision>3</cp:revision>
  <dcterms:modified xsi:type="dcterms:W3CDTF">2026-09-30T05:53:48Z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