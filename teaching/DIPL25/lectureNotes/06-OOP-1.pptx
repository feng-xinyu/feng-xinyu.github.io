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58" r:id="rId5"/>
    <p:sldId id="262" r:id="rId6"/>
    <p:sldId id="264" r:id="rId7"/>
    <p:sldId id="263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1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55461-DBA3-47D5-93F0-353FADB8CC41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B16F0-9CB2-44B4-842B-72A24AFB3C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620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B16F0-9CB2-44B4-842B-72A24AFB3C8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92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B16F0-9CB2-44B4-842B-72A24AFB3C8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579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90FF-48AE-B04B-F3C6-827B354B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735EC9-8CD7-C46D-4416-402F1E16F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919371-9177-CDB7-FDCC-EEC8A57C8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FA294-7892-2311-D6F1-84B419C58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2B16F0-9CB2-44B4-842B-72A24AFB3C8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28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34896-158F-D11A-2B7A-B05EE8671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CA4CC5-16A9-4E23-FE75-5EA847235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C6B7C-632D-4AAE-4C62-FA4771EC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4E3BF-6FE2-E556-DA2B-48E375D2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80471C-7290-5CE9-D47F-F2415789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00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9441A-BF13-B9CE-4241-B188C5795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EC1E8-FC4C-A1D0-74BC-97E8698A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E9BE3C-68B2-F5AB-751D-DD5B1C53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0CBB51-8376-6589-AD8B-ABFC6371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BB4B27-1C2E-C525-E72F-07C07FF7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502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F1E57-CA25-82E2-87CD-6D2C9E4E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9D71D5-ED22-6EF4-A548-4026B27DD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6F1AE-9556-9172-6739-227F693C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08F46-DCEF-06EF-6D45-649E849C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F17DD-53BE-B747-76B2-FC02E7F6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44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61E7D-EECC-6146-0D7B-C30DA401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DE6067-081D-F66A-F0C7-767248DEA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86CF5-E8BB-12CD-FFC8-4208A51FD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D85134-25C5-555C-AFCB-17197685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3E98B4-B5F6-3513-C475-AF288A54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B23D0E-F466-73A7-8BC3-D5AC5D1E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427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D7854-839D-A8C0-7169-8881110AD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1864C9-2369-F65D-7F97-8B62EA4B9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83D93B-80F0-ACEA-FC21-C3E59EF18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87CA79-B7F9-456A-822C-8A758BCBA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62B242-0949-E9F7-5C26-47644FC48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FE8557-1E3C-90C2-F200-FB3F98E3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D8A7F6-236D-3737-FFE1-1A877365F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FDD1B8-B2C2-A676-19B4-92248A77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76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BFD882-B70A-106B-0552-023E806AF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3B6EA0-7415-2E8B-B8C6-3F9E58ED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4C313-2A41-94F3-8EB7-AECC4DC8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9568B7-2D1D-449F-3BB3-391928B1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44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CAED02-C646-BCFE-C6D6-4D5A95F2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294D5D-6BAB-7D78-563A-0FB1D342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35D8FC-8F82-09FC-D462-76177F40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44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027FE-D45C-CF31-C7E4-05F930AA8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D65DA7-D0E9-3682-2B19-EA311C7E1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C15978-8A0C-E710-2F5C-BA790EF82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46AC3D-1EB7-DD34-B391-115C5367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C6A0CA-69AC-06E5-9197-7E8A3744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878877-6E7B-76C6-1BBA-5D536ED0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5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4468F-858A-B97A-BDE3-4EB5478D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AC4546-7F1B-464B-E7D7-2A28720AC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729DC8-A080-E23A-63D8-F440118A7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A606E3-3551-85DB-5E49-09D03088A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7ADF41-483B-80D5-8803-1664A0D1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9A5459-9050-C520-516B-2A73ECF6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93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7AEB7-9188-5201-7A33-02910E44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10C5C9-0798-0B9B-AEC2-F8D3AB971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06B57-8253-5DDB-D326-E041344EF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32905A-A3C4-01D2-2B1C-FA4AC38A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139FB5-7346-1E30-DC20-276DC5DA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2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E5CE24-3CE4-0D19-050F-8FB523744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025CDD-8F06-1AC7-0455-F38B175A4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8777B-C1DB-5043-2571-0293CF3A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3ED037-E8E5-81A2-9BCF-2D42650A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FE37AD-3FF8-ED62-1DD3-82BAFA7B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34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9A2EF2-F094-12C3-1601-3339A8F35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0725CF-9835-317F-FE26-7EE6EDBDB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B3E47-7646-A7C8-78F0-DF5B5B9C3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2A400-CA90-4A5B-B5ED-B4CE936FCB8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1BA75D-0B27-4F69-ED5A-154C6B4C6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5E7B87-A8EB-840D-A7CD-DC606E52B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1B747-D0CF-4812-B935-7A6A6D26FC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35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994C2-1066-764C-8A5A-7973641A43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416FDB-E86D-422A-ED46-0447FA939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921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EE97E-137A-BD53-CB40-FF97EBF1A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什么是面向对象编程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E91E2E-A906-5C78-1F6F-402E127CB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468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对象：数据和操作的封装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内部状态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/>
              <a:t>实例变量（</a:t>
            </a:r>
            <a:r>
              <a:rPr lang="en-US" altLang="zh-CN" dirty="0"/>
              <a:t>instance variables</a:t>
            </a:r>
            <a:r>
              <a:rPr lang="zh-CN" altLang="en-US" dirty="0"/>
              <a:t>）、字段（</a:t>
            </a:r>
            <a:r>
              <a:rPr lang="en-US" altLang="zh-CN" dirty="0"/>
              <a:t>fields</a:t>
            </a:r>
            <a:r>
              <a:rPr lang="zh-CN" altLang="en-US" dirty="0"/>
              <a:t>）、成员变量（</a:t>
            </a:r>
            <a:r>
              <a:rPr lang="en-US" altLang="zh-CN" dirty="0"/>
              <a:t>member variables</a:t>
            </a:r>
            <a:r>
              <a:rPr lang="zh-CN" altLang="en-US" dirty="0"/>
              <a:t>）、属性（</a:t>
            </a:r>
            <a:r>
              <a:rPr lang="en-US" altLang="zh-CN" dirty="0"/>
              <a:t>attributes</a:t>
            </a:r>
            <a:r>
              <a:rPr lang="zh-CN" altLang="en-US" dirty="0"/>
              <a:t>）</a:t>
            </a:r>
            <a:r>
              <a:rPr lang="en-US" altLang="zh-CN" dirty="0"/>
              <a:t>…</a:t>
            </a:r>
          </a:p>
          <a:p>
            <a:pPr lvl="2">
              <a:lnSpc>
                <a:spcPct val="110000"/>
              </a:lnSpc>
            </a:pPr>
            <a:r>
              <a:rPr lang="zh-CN" altLang="en-US" dirty="0"/>
              <a:t>往往外部不可见，但有些语言中可以是</a:t>
            </a:r>
            <a:r>
              <a:rPr lang="en-US" altLang="zh-CN" dirty="0"/>
              <a:t>public</a:t>
            </a:r>
            <a:r>
              <a:rPr lang="zh-CN" altLang="en-US" dirty="0"/>
              <a:t>的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外部可见操作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/>
              <a:t>方法（</a:t>
            </a:r>
            <a:r>
              <a:rPr lang="en-US" altLang="zh-CN" dirty="0"/>
              <a:t>methods</a:t>
            </a:r>
            <a:r>
              <a:rPr lang="zh-CN" altLang="en-US" dirty="0"/>
              <a:t>）、成员函数（</a:t>
            </a:r>
            <a:r>
              <a:rPr lang="en-US" altLang="zh-CN" dirty="0"/>
              <a:t>member functions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面向对象编程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每个对象都是一个独立个体，对象间通过发送消息交互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/>
              <a:t>对象收到消息后，可以完成相应任务，修改自己的内部状态，并把结果返回给发送方，完成任务过程中也可能发送消息给其他对象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“</a:t>
            </a:r>
            <a:r>
              <a:rPr lang="en-US" altLang="zh-CN" dirty="0"/>
              <a:t>server-oriented</a:t>
            </a:r>
            <a:r>
              <a:rPr lang="zh-CN" altLang="en-US" dirty="0"/>
              <a:t>”或者 </a:t>
            </a:r>
            <a:r>
              <a:rPr lang="en-US" altLang="zh-CN" dirty="0"/>
              <a:t>“message-oriented”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0592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1AC1DD9-04C9-C2D0-A8DC-16A9D858A7B5}"/>
              </a:ext>
            </a:extLst>
          </p:cNvPr>
          <p:cNvSpPr txBox="1"/>
          <p:nvPr/>
        </p:nvSpPr>
        <p:spPr>
          <a:xfrm>
            <a:off x="1545633" y="2394030"/>
            <a:ext cx="59878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OOP to me means only </a:t>
            </a:r>
            <a:r>
              <a:rPr lang="en-US" altLang="zh-CN" sz="2000" b="1" dirty="0">
                <a:solidFill>
                  <a:srgbClr val="FF0000"/>
                </a:solidFill>
              </a:rPr>
              <a:t>messaging</a:t>
            </a:r>
            <a:r>
              <a:rPr lang="en-US" altLang="zh-CN" sz="2000" dirty="0"/>
              <a:t>, local retention and protection and </a:t>
            </a:r>
            <a:r>
              <a:rPr lang="en-US" altLang="zh-CN" sz="2000" b="1" dirty="0">
                <a:solidFill>
                  <a:srgbClr val="FF0000"/>
                </a:solidFill>
              </a:rPr>
              <a:t>hiding of state-process</a:t>
            </a:r>
            <a:r>
              <a:rPr lang="en-US" altLang="zh-CN" sz="2000" dirty="0"/>
              <a:t>, and </a:t>
            </a:r>
            <a:r>
              <a:rPr lang="en-US" altLang="zh-CN" sz="2000" b="1" dirty="0">
                <a:solidFill>
                  <a:srgbClr val="FF0000"/>
                </a:solidFill>
              </a:rPr>
              <a:t>extreme late-binding </a:t>
            </a:r>
            <a:r>
              <a:rPr lang="en-US" altLang="zh-CN" sz="2000" dirty="0"/>
              <a:t>of all things. It can be done in Smalltalk and in LISP. There are possibly other systems in which this is possible, but I'm not aware of them.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8AFD9A-2ABD-17FC-92D7-AA5EA1250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5609" y="1999881"/>
            <a:ext cx="2380587" cy="33832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8AE589-4657-4A9A-2F85-82B0C2CACEE2}"/>
              </a:ext>
            </a:extLst>
          </p:cNvPr>
          <p:cNvSpPr txBox="1"/>
          <p:nvPr/>
        </p:nvSpPr>
        <p:spPr>
          <a:xfrm>
            <a:off x="8505609" y="5556881"/>
            <a:ext cx="1634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Alan Kay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4B4EBA4-3917-41EF-8DFC-A11CA2F3FD02}"/>
              </a:ext>
            </a:extLst>
          </p:cNvPr>
          <p:cNvSpPr txBox="1"/>
          <p:nvPr/>
        </p:nvSpPr>
        <p:spPr>
          <a:xfrm>
            <a:off x="8505609" y="5986551"/>
            <a:ext cx="2791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Smalltalk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主要发明者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年图灵奖得主</a:t>
            </a:r>
          </a:p>
        </p:txBody>
      </p:sp>
    </p:spTree>
    <p:extLst>
      <p:ext uri="{BB962C8B-B14F-4D97-AF65-F5344CB8AC3E}">
        <p14:creationId xmlns:p14="http://schemas.microsoft.com/office/powerpoint/2010/main" val="2424908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D597D4-4897-5DFC-A655-7F4BF92F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面向对象的四个核心概念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68E09E-5234-6264-8F7D-DD483EAE1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动态派遣（</a:t>
            </a:r>
            <a:r>
              <a:rPr lang="en-US" altLang="zh-CN" dirty="0"/>
              <a:t>dynamic dispatch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封装</a:t>
            </a:r>
            <a:endParaRPr lang="en-US" altLang="zh-CN" dirty="0"/>
          </a:p>
          <a:p>
            <a:r>
              <a:rPr lang="zh-CN" altLang="en-US" dirty="0"/>
              <a:t>多态（子类型）</a:t>
            </a:r>
            <a:endParaRPr lang="en-US" altLang="zh-CN" dirty="0"/>
          </a:p>
          <a:p>
            <a:r>
              <a:rPr lang="zh-CN" altLang="en-US" dirty="0"/>
              <a:t>继承（有较大争议）</a:t>
            </a:r>
          </a:p>
        </p:txBody>
      </p:sp>
    </p:spTree>
    <p:extLst>
      <p:ext uri="{BB962C8B-B14F-4D97-AF65-F5344CB8AC3E}">
        <p14:creationId xmlns:p14="http://schemas.microsoft.com/office/powerpoint/2010/main" val="3910623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1F635-4D96-3ED2-88A1-9070CA57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OO</a:t>
            </a:r>
            <a:r>
              <a:rPr lang="zh-CN" altLang="en-US" dirty="0"/>
              <a:t>编程的程序结构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DBE313-ED81-B980-199C-BCE490505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32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类：对象的模板</a:t>
            </a:r>
            <a:r>
              <a:rPr lang="en-US" altLang="zh-CN" dirty="0"/>
              <a:t>/</a:t>
            </a:r>
            <a:r>
              <a:rPr lang="zh-CN" altLang="en-US" dirty="0"/>
              <a:t>类型</a:t>
            </a:r>
            <a:r>
              <a:rPr lang="en-US" altLang="zh-CN" dirty="0"/>
              <a:t>/</a:t>
            </a:r>
            <a:r>
              <a:rPr lang="zh-CN" altLang="en-US" dirty="0"/>
              <a:t>接口</a:t>
            </a:r>
            <a:endParaRPr lang="en-US" altLang="zh-CN" dirty="0"/>
          </a:p>
          <a:p>
            <a:pPr lvl="1"/>
            <a:r>
              <a:rPr lang="zh-CN" altLang="en-US" dirty="0"/>
              <a:t>实例变量</a:t>
            </a:r>
            <a:r>
              <a:rPr lang="en-US" altLang="zh-CN" dirty="0"/>
              <a:t>/</a:t>
            </a:r>
            <a:r>
              <a:rPr lang="zh-CN" altLang="en-US" dirty="0"/>
              <a:t>方法，类（</a:t>
            </a:r>
            <a:r>
              <a:rPr lang="en-US" altLang="zh-CN" dirty="0"/>
              <a:t>static</a:t>
            </a:r>
            <a:r>
              <a:rPr lang="zh-CN" altLang="en-US" dirty="0"/>
              <a:t>）变量</a:t>
            </a:r>
            <a:r>
              <a:rPr lang="en-US" altLang="zh-CN" dirty="0"/>
              <a:t>/</a:t>
            </a:r>
            <a:r>
              <a:rPr lang="zh-CN" altLang="en-US" dirty="0"/>
              <a:t>方法</a:t>
            </a:r>
            <a:endParaRPr lang="en-US" altLang="zh-CN" dirty="0"/>
          </a:p>
          <a:p>
            <a:pPr lvl="1"/>
            <a:r>
              <a:rPr lang="zh-CN" altLang="en-US" dirty="0"/>
              <a:t>实例方法调用：</a:t>
            </a:r>
            <a:r>
              <a:rPr lang="en-US" altLang="zh-CN" dirty="0" err="1"/>
              <a:t>o.m</a:t>
            </a:r>
            <a:r>
              <a:rPr lang="en-US" altLang="zh-CN" dirty="0"/>
              <a:t>(e1, …, </a:t>
            </a:r>
            <a:r>
              <a:rPr lang="en-US" altLang="zh-CN" dirty="0" err="1"/>
              <a:t>en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dirty="0"/>
              <a:t>向对象</a:t>
            </a:r>
            <a:r>
              <a:rPr lang="en-US" altLang="zh-CN" dirty="0"/>
              <a:t>o</a:t>
            </a:r>
            <a:r>
              <a:rPr lang="zh-CN" altLang="en-US" dirty="0"/>
              <a:t>发送消息</a:t>
            </a:r>
            <a:r>
              <a:rPr lang="en-US" altLang="zh-CN" dirty="0"/>
              <a:t>m(e1, …, </a:t>
            </a:r>
            <a:r>
              <a:rPr lang="en-US" altLang="zh-CN" dirty="0" err="1"/>
              <a:t>en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dirty="0"/>
              <a:t>实际等同于过程式语言中的函数调用 </a:t>
            </a:r>
            <a:r>
              <a:rPr lang="en-US" altLang="zh-CN" dirty="0"/>
              <a:t>m(o, e1, …, </a:t>
            </a:r>
            <a:r>
              <a:rPr lang="en-US" altLang="zh-CN" dirty="0" err="1"/>
              <a:t>en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x.add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  <a:r>
              <a:rPr lang="en-US" altLang="zh-CN" dirty="0"/>
              <a:t> vs.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add(x, y)</a:t>
            </a:r>
          </a:p>
          <a:p>
            <a:pPr lvl="3"/>
            <a:endParaRPr lang="en-US" altLang="zh-CN" dirty="0"/>
          </a:p>
          <a:p>
            <a:r>
              <a:rPr lang="zh-CN" altLang="en-US" dirty="0"/>
              <a:t>继承</a:t>
            </a:r>
            <a:endParaRPr lang="en-US" altLang="zh-CN" dirty="0"/>
          </a:p>
          <a:p>
            <a:pPr lvl="1"/>
            <a:r>
              <a:rPr lang="zh-CN" altLang="en-US" dirty="0"/>
              <a:t>子类复用父类的方法，避免代码重复</a:t>
            </a:r>
            <a:endParaRPr lang="en-US" altLang="zh-CN" dirty="0"/>
          </a:p>
          <a:p>
            <a:pPr lvl="1"/>
            <a:r>
              <a:rPr lang="zh-CN" altLang="en-US" dirty="0"/>
              <a:t>也可以重新实现父类的方法（</a:t>
            </a:r>
            <a:r>
              <a:rPr lang="en-US" altLang="zh-CN" dirty="0"/>
              <a:t>override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endParaRPr lang="en-US" altLang="zh-CN" dirty="0"/>
          </a:p>
          <a:p>
            <a:r>
              <a:rPr lang="zh-CN" altLang="en-US" dirty="0"/>
              <a:t>子类型</a:t>
            </a:r>
            <a:endParaRPr lang="en-US" altLang="zh-CN" dirty="0"/>
          </a:p>
          <a:p>
            <a:pPr lvl="1"/>
            <a:r>
              <a:rPr lang="zh-CN" altLang="en-US" dirty="0"/>
              <a:t>子类型的对象天然也是父类型的对象</a:t>
            </a:r>
            <a:endParaRPr lang="en-US" altLang="zh-CN" dirty="0"/>
          </a:p>
          <a:p>
            <a:pPr lvl="1"/>
            <a:r>
              <a:rPr lang="zh-CN" altLang="en-US" dirty="0"/>
              <a:t>提供多态能力</a:t>
            </a:r>
          </a:p>
        </p:txBody>
      </p:sp>
    </p:spTree>
    <p:extLst>
      <p:ext uri="{BB962C8B-B14F-4D97-AF65-F5344CB8AC3E}">
        <p14:creationId xmlns:p14="http://schemas.microsoft.com/office/powerpoint/2010/main" val="1047282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2046-96E4-B348-2F08-0B74221D8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3D4CB2B-EB02-76DF-8B9B-DDF6240C3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292" y="70793"/>
            <a:ext cx="5062708" cy="22924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DA2DE0D-C359-ED18-01E5-432769FA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实例：几何图形库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3251A8-DF32-4E89-3E08-94094F83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通用概念：形状（</a:t>
            </a:r>
            <a:r>
              <a:rPr lang="en-US" altLang="zh-CN" dirty="0"/>
              <a:t>Shape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具体形状：矩形（</a:t>
            </a:r>
            <a:r>
              <a:rPr lang="en-US" altLang="zh-CN" dirty="0"/>
              <a:t>Rectangle</a:t>
            </a:r>
            <a:r>
              <a:rPr lang="zh-CN" altLang="en-US" dirty="0"/>
              <a:t>）和圆（</a:t>
            </a:r>
            <a:r>
              <a:rPr lang="en-US" altLang="zh-CN" dirty="0"/>
              <a:t>Circle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共性概念</a:t>
            </a:r>
            <a:endParaRPr lang="en-US" altLang="zh-CN" dirty="0"/>
          </a:p>
          <a:p>
            <a:pPr lvl="1"/>
            <a:r>
              <a:rPr lang="en-US" altLang="zh-CN" dirty="0"/>
              <a:t>center</a:t>
            </a:r>
            <a:r>
              <a:rPr lang="zh-CN" altLang="en-US" dirty="0"/>
              <a:t>、</a:t>
            </a:r>
            <a:r>
              <a:rPr lang="en-US" altLang="zh-CN" dirty="0"/>
              <a:t>move</a:t>
            </a:r>
            <a:r>
              <a:rPr lang="zh-CN" altLang="en-US" dirty="0"/>
              <a:t>、</a:t>
            </a:r>
            <a:r>
              <a:rPr lang="en-US" altLang="zh-CN" dirty="0"/>
              <a:t>rotate</a:t>
            </a:r>
            <a:r>
              <a:rPr lang="zh-CN" altLang="en-US" dirty="0"/>
              <a:t>、</a:t>
            </a:r>
            <a:r>
              <a:rPr lang="en-US" altLang="zh-CN" dirty="0"/>
              <a:t>print</a:t>
            </a:r>
          </a:p>
          <a:p>
            <a:r>
              <a:rPr lang="zh-CN" altLang="en-US" dirty="0"/>
              <a:t>允许扩展</a:t>
            </a:r>
            <a:endParaRPr lang="en-US" altLang="zh-CN" dirty="0"/>
          </a:p>
          <a:p>
            <a:pPr lvl="1"/>
            <a:r>
              <a:rPr lang="zh-CN" altLang="en-US" dirty="0"/>
              <a:t>具体形状（矩形和圆）中</a:t>
            </a:r>
            <a:r>
              <a:rPr lang="zh-CN" altLang="en-US" b="1" dirty="0"/>
              <a:t>添加新的概念</a:t>
            </a:r>
            <a:r>
              <a:rPr lang="zh-CN" altLang="en-US" dirty="0"/>
              <a:t>（成员变量或方法），</a:t>
            </a:r>
            <a:br>
              <a:rPr lang="en-US" altLang="zh-CN" dirty="0"/>
            </a:br>
            <a:r>
              <a:rPr lang="zh-CN" altLang="en-US" dirty="0"/>
              <a:t>或者重新定义上述共性概念</a:t>
            </a:r>
            <a:endParaRPr lang="en-US" altLang="zh-CN" dirty="0"/>
          </a:p>
          <a:p>
            <a:pPr lvl="1"/>
            <a:r>
              <a:rPr lang="zh-CN" altLang="en-US" b="1" dirty="0"/>
              <a:t>添加新的具体形状</a:t>
            </a:r>
            <a:endParaRPr lang="en-US" altLang="zh-CN" b="1" dirty="0"/>
          </a:p>
          <a:p>
            <a:r>
              <a:rPr lang="zh-CN" altLang="en-US" dirty="0"/>
              <a:t>易扩展性是面向对象编程的一个重要理念</a:t>
            </a:r>
          </a:p>
        </p:txBody>
      </p:sp>
    </p:spTree>
    <p:extLst>
      <p:ext uri="{BB962C8B-B14F-4D97-AF65-F5344CB8AC3E}">
        <p14:creationId xmlns:p14="http://schemas.microsoft.com/office/powerpoint/2010/main" val="232190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6F6FFE-EDBF-396C-2FD5-4B5630765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292" y="70793"/>
            <a:ext cx="5062708" cy="22924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27F12A1-C172-4E61-48A0-FA4B1828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实例：几何图形库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AA748-B597-47A5-00C1-AA40C7B558F0}"/>
              </a:ext>
            </a:extLst>
          </p:cNvPr>
          <p:cNvSpPr txBox="1"/>
          <p:nvPr/>
        </p:nvSpPr>
        <p:spPr>
          <a:xfrm>
            <a:off x="244332" y="1262082"/>
            <a:ext cx="6453648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Shape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move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"Shape moved to ($x, $y)"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Other common methods for shapes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Circle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move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"Circle moved to ($x, $y)"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Other common methods for circles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Rectangle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move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"Rectangle moved to ($x, $y)"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Other common methods for rectangles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s1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s2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Should print "Circle moved to (10, 20)"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zh-C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altLang="zh-CN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Should print "Rectangle moved to (30</a:t>
            </a:r>
            <a:r>
              <a:rPr lang="en-US" altLang="zh-CN" sz="1400" dirty="0">
                <a:solidFill>
                  <a:srgbClr val="6A9955"/>
                </a:solidFill>
                <a:latin typeface="Consolas" panose="020B0609020204030204" pitchFamily="49" charset="0"/>
              </a:rPr>
              <a:t>, 40)</a:t>
            </a:r>
            <a:r>
              <a:rPr lang="en-US" altLang="zh-C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zh-CN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FE2D2714-5BE1-3E75-BFAE-F2F7F9D740EF}"/>
              </a:ext>
            </a:extLst>
          </p:cNvPr>
          <p:cNvSpPr/>
          <p:nvPr/>
        </p:nvSpPr>
        <p:spPr>
          <a:xfrm>
            <a:off x="4587240" y="2232660"/>
            <a:ext cx="1981200" cy="518160"/>
          </a:xfrm>
          <a:prstGeom prst="wedgeRoundRectCallout">
            <a:avLst>
              <a:gd name="adj1" fmla="val -140636"/>
              <a:gd name="adj2" fmla="val 7573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继承和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override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1794E667-4D43-21EE-A502-480CF092A9EE}"/>
              </a:ext>
            </a:extLst>
          </p:cNvPr>
          <p:cNvSpPr/>
          <p:nvPr/>
        </p:nvSpPr>
        <p:spPr>
          <a:xfrm>
            <a:off x="4869180" y="5204460"/>
            <a:ext cx="1981200" cy="518160"/>
          </a:xfrm>
          <a:prstGeom prst="wedgeRoundRectCallout">
            <a:avLst>
              <a:gd name="adj1" fmla="val -132174"/>
              <a:gd name="adj2" fmla="val 140441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动态派遣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4111312-49E0-A38D-A26D-C9FA2F2B542F}"/>
              </a:ext>
            </a:extLst>
          </p:cNvPr>
          <p:cNvGrpSpPr/>
          <p:nvPr/>
        </p:nvGrpSpPr>
        <p:grpSpPr>
          <a:xfrm>
            <a:off x="6979923" y="2919313"/>
            <a:ext cx="5143498" cy="3758228"/>
            <a:chOff x="6979923" y="2919313"/>
            <a:chExt cx="5143498" cy="3758228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BF166C4-D33C-FA9B-D9DF-50A664380D90}"/>
                </a:ext>
              </a:extLst>
            </p:cNvPr>
            <p:cNvSpPr txBox="1"/>
            <p:nvPr/>
          </p:nvSpPr>
          <p:spPr>
            <a:xfrm>
              <a:off x="7056120" y="2919313"/>
              <a:ext cx="46858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循环处理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Shape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队列中的每一个元素：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2AB04B9-63AF-D78E-B2EA-3C43E4C94D38}"/>
                </a:ext>
              </a:extLst>
            </p:cNvPr>
            <p:cNvSpPr txBox="1"/>
            <p:nvPr/>
          </p:nvSpPr>
          <p:spPr>
            <a:xfrm>
              <a:off x="8159506" y="4275613"/>
              <a:ext cx="30022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从队列中取出形状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执行操作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s.move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(10, 20)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CDD14BB-BEFE-01C9-F1A5-175C7321522E}"/>
                </a:ext>
              </a:extLst>
            </p:cNvPr>
            <p:cNvCxnSpPr>
              <a:stCxn id="12" idx="2"/>
            </p:cNvCxnSpPr>
            <p:nvPr/>
          </p:nvCxnSpPr>
          <p:spPr>
            <a:xfrm>
              <a:off x="9660646" y="4921944"/>
              <a:ext cx="0" cy="815916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3A4269F-0400-B72B-11FD-54BE5DE9BD0D}"/>
                </a:ext>
              </a:extLst>
            </p:cNvPr>
            <p:cNvCxnSpPr>
              <a:stCxn id="12" idx="0"/>
            </p:cNvCxnSpPr>
            <p:nvPr/>
          </p:nvCxnSpPr>
          <p:spPr>
            <a:xfrm flipV="1">
              <a:off x="9660646" y="3553004"/>
              <a:ext cx="0" cy="722609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C3728BA-53A9-F62E-0DD4-878037C9A00A}"/>
                </a:ext>
              </a:extLst>
            </p:cNvPr>
            <p:cNvCxnSpPr/>
            <p:nvPr/>
          </p:nvCxnSpPr>
          <p:spPr>
            <a:xfrm flipH="1">
              <a:off x="7406640" y="3553004"/>
              <a:ext cx="2254006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A4B95007-9594-52E1-4FF7-D998A112A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06640" y="5737860"/>
              <a:ext cx="2254006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E370E36-DCE3-3AC9-7F82-1D592E6F1742}"/>
                </a:ext>
              </a:extLst>
            </p:cNvPr>
            <p:cNvCxnSpPr/>
            <p:nvPr/>
          </p:nvCxnSpPr>
          <p:spPr>
            <a:xfrm>
              <a:off x="7406640" y="3553004"/>
              <a:ext cx="0" cy="2184856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43F86B5-5FC0-6CF6-58A1-190A034B5054}"/>
                </a:ext>
              </a:extLst>
            </p:cNvPr>
            <p:cNvSpPr txBox="1"/>
            <p:nvPr/>
          </p:nvSpPr>
          <p:spPr>
            <a:xfrm>
              <a:off x="6979923" y="5918873"/>
              <a:ext cx="5143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队列中实际存放的形状可以是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Circle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Rectangle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182DE00-BBA5-DA81-D62D-088A6D9D3E63}"/>
                </a:ext>
              </a:extLst>
            </p:cNvPr>
            <p:cNvSpPr txBox="1"/>
            <p:nvPr/>
          </p:nvSpPr>
          <p:spPr>
            <a:xfrm>
              <a:off x="6979923" y="6308209"/>
              <a:ext cx="5143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根据实际形状，自动调用相应的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move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24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E1A97-5034-4007-FC36-C8CCF66F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面向对象语言发展历史 </a:t>
            </a:r>
            <a:r>
              <a:rPr lang="en-US" altLang="zh-CN" dirty="0"/>
              <a:t>—— Simula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0F707-F615-4F2B-9A6A-D33C5378D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Simula 67: </a:t>
            </a:r>
            <a:r>
              <a:rPr lang="zh-CN" altLang="en-US" dirty="0"/>
              <a:t>第一个</a:t>
            </a:r>
            <a:r>
              <a:rPr lang="en-US" altLang="zh-CN" dirty="0"/>
              <a:t>OO</a:t>
            </a:r>
            <a:r>
              <a:rPr lang="zh-CN" altLang="en-US" dirty="0"/>
              <a:t>语言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最初用于仿真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后扩展为通用编程语言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基于</a:t>
            </a:r>
            <a:r>
              <a:rPr lang="en-US" altLang="zh-CN" dirty="0"/>
              <a:t>Algol 60</a:t>
            </a:r>
            <a:r>
              <a:rPr lang="zh-CN" altLang="en-US" dirty="0"/>
              <a:t>扩展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1977</a:t>
            </a:r>
            <a:r>
              <a:rPr lang="zh-CN" altLang="en-US" dirty="0"/>
              <a:t>年后标准化为</a:t>
            </a:r>
            <a:r>
              <a:rPr lang="en-US" altLang="zh-CN" dirty="0"/>
              <a:t>Simula</a:t>
            </a:r>
            <a:r>
              <a:rPr lang="zh-CN" altLang="en-US" dirty="0"/>
              <a:t>（不再带</a:t>
            </a:r>
            <a:r>
              <a:rPr lang="en-US" altLang="zh-CN" dirty="0"/>
              <a:t>67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影响了后续多种语言的设计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Smalltalk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C++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Java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C#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4099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51C8-F89E-4AA2-0615-5B298500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01CEC-1802-F4B0-BEEF-4A275AF2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面向对象语言发展历史 </a:t>
            </a:r>
            <a:r>
              <a:rPr lang="en-US" altLang="zh-CN" dirty="0"/>
              <a:t>—— Simula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E760DF-6DA3-2621-8435-16581182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前身：</a:t>
            </a:r>
            <a:r>
              <a:rPr lang="en-US" altLang="zh-CN" sz="2400" dirty="0"/>
              <a:t>Simula-1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1962</a:t>
            </a:r>
            <a:r>
              <a:rPr lang="zh-CN" altLang="en-US" sz="2000" dirty="0"/>
              <a:t>年发明与挪威计算中心（</a:t>
            </a:r>
            <a:r>
              <a:rPr lang="en-US" altLang="zh-CN" sz="2000" dirty="0"/>
              <a:t>Norwegian Computing Center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zh-CN" altLang="en-US" sz="2400" dirty="0"/>
              <a:t>发明人</a:t>
            </a:r>
            <a:endParaRPr lang="en-US" altLang="zh-CN" sz="2400" dirty="0"/>
          </a:p>
          <a:p>
            <a:pPr lvl="1"/>
            <a:r>
              <a:rPr lang="en-US" altLang="zh-CN" sz="2000" dirty="0"/>
              <a:t>Ole-Johan Dahl, Bjørn </a:t>
            </a:r>
            <a:r>
              <a:rPr lang="en-US" altLang="zh-CN" sz="2000" dirty="0" err="1"/>
              <a:t>Myhrhaug</a:t>
            </a:r>
            <a:r>
              <a:rPr lang="en-US" altLang="zh-CN" sz="2000" dirty="0"/>
              <a:t>, and Kristen Nygaard </a:t>
            </a:r>
          </a:p>
          <a:p>
            <a:r>
              <a:rPr lang="zh-CN" altLang="en-US" sz="2400" dirty="0"/>
              <a:t>最初设计</a:t>
            </a:r>
            <a:endParaRPr lang="en-US" altLang="zh-CN" sz="2400" dirty="0"/>
          </a:p>
          <a:p>
            <a:pPr lvl="1"/>
            <a:r>
              <a:rPr lang="zh-CN" altLang="en-US" sz="2000" dirty="0"/>
              <a:t>受到</a:t>
            </a:r>
            <a:r>
              <a:rPr lang="en-US" altLang="zh-CN" sz="2000" dirty="0"/>
              <a:t>Tony Hoare</a:t>
            </a:r>
            <a:r>
              <a:rPr lang="zh-CN" altLang="en-US" sz="2000" dirty="0"/>
              <a:t>关于</a:t>
            </a:r>
            <a:r>
              <a:rPr lang="en-US" altLang="zh-CN" sz="2000" dirty="0"/>
              <a:t>data type</a:t>
            </a:r>
            <a:r>
              <a:rPr lang="zh-CN" altLang="en-US" sz="2000" dirty="0"/>
              <a:t>的想法的影响</a:t>
            </a:r>
            <a:endParaRPr lang="en-US" altLang="zh-CN" sz="2000" dirty="0"/>
          </a:p>
          <a:p>
            <a:pPr lvl="1">
              <a:lnSpc>
                <a:spcPct val="110000"/>
              </a:lnSpc>
            </a:pPr>
            <a:r>
              <a:rPr lang="zh-CN" altLang="en-US" sz="2000" dirty="0"/>
              <a:t>在</a:t>
            </a:r>
            <a:r>
              <a:rPr lang="en-US" altLang="zh-CN" sz="2000" dirty="0"/>
              <a:t>Algol 60</a:t>
            </a:r>
            <a:r>
              <a:rPr lang="zh-CN" altLang="en-US" sz="2000" dirty="0"/>
              <a:t>基础上引入类和前缀（</a:t>
            </a:r>
            <a:r>
              <a:rPr lang="en-US" altLang="zh-CN" sz="2000" dirty="0"/>
              <a:t>prefix</a:t>
            </a:r>
            <a:r>
              <a:rPr lang="zh-CN" altLang="en-US" sz="2000" dirty="0"/>
              <a:t>，实现子类型）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Nygaard</a:t>
            </a:r>
          </a:p>
          <a:p>
            <a:pPr lvl="1">
              <a:lnSpc>
                <a:spcPct val="110000"/>
              </a:lnSpc>
            </a:pPr>
            <a:r>
              <a:rPr lang="zh-CN" altLang="en-US" sz="2000" dirty="0"/>
              <a:t>运筹学专家、政治活动家</a:t>
            </a:r>
            <a:endParaRPr lang="en-US" altLang="zh-CN" sz="2000" dirty="0"/>
          </a:p>
          <a:p>
            <a:pPr lvl="1">
              <a:lnSpc>
                <a:spcPct val="110000"/>
              </a:lnSpc>
            </a:pPr>
            <a:r>
              <a:rPr lang="zh-CN" altLang="en-US" sz="2000" dirty="0"/>
              <a:t>希望语言能够描述社会和工业系统，希望普通人也能理解政治系统的变化</a:t>
            </a:r>
            <a:endParaRPr lang="en-US" altLang="zh-CN" sz="2000" dirty="0"/>
          </a:p>
          <a:p>
            <a:pPr>
              <a:lnSpc>
                <a:spcPct val="110000"/>
              </a:lnSpc>
            </a:pPr>
            <a:r>
              <a:rPr lang="en-US" altLang="zh-CN" sz="2400" dirty="0" err="1"/>
              <a:t>Myhrhaug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Nygaard</a:t>
            </a:r>
          </a:p>
          <a:p>
            <a:pPr lvl="1">
              <a:lnSpc>
                <a:spcPct val="110000"/>
              </a:lnSpc>
            </a:pPr>
            <a:r>
              <a:rPr lang="zh-CN" altLang="en-US" sz="2000" dirty="0"/>
              <a:t>计算机专家，关心通用编程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07203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A612C-92E5-2ED9-754A-83415A8C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Simula</a:t>
            </a:r>
            <a:r>
              <a:rPr lang="zh-CN" altLang="en-US" dirty="0"/>
              <a:t>中的面向对象设计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9D3A24-7244-1800-3B94-043C0EA7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类：返回其活动记录指针的</a:t>
            </a:r>
            <a:r>
              <a:rPr lang="zh-CN" altLang="en-US" b="1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（过程）</a:t>
            </a:r>
            <a:endParaRPr lang="en-US" altLang="zh-CN" dirty="0"/>
          </a:p>
          <a:p>
            <a:r>
              <a:rPr lang="zh-CN" altLang="en-US" dirty="0"/>
              <a:t>对象</a:t>
            </a:r>
            <a:endParaRPr lang="en-US" altLang="zh-CN" dirty="0"/>
          </a:p>
          <a:p>
            <a:pPr lvl="1"/>
            <a:r>
              <a:rPr lang="zh-CN" altLang="en-US" dirty="0"/>
              <a:t>每次调用类之后产生的活动记录</a:t>
            </a:r>
            <a:endParaRPr lang="en-US" altLang="zh-CN" dirty="0"/>
          </a:p>
          <a:p>
            <a:r>
              <a:rPr lang="zh-CN" altLang="en-US" dirty="0"/>
              <a:t>对象访问</a:t>
            </a:r>
            <a:endParaRPr lang="en-US" altLang="zh-CN" dirty="0"/>
          </a:p>
          <a:p>
            <a:pPr lvl="1"/>
            <a:r>
              <a:rPr lang="zh-CN" altLang="en-US" dirty="0"/>
              <a:t>用“点运算符”（</a:t>
            </a:r>
            <a:r>
              <a:rPr lang="en-US" altLang="zh-CN" dirty="0"/>
              <a:t>dot notation</a:t>
            </a:r>
            <a:r>
              <a:rPr lang="zh-CN" altLang="en-US" dirty="0"/>
              <a:t>）访问对象的成员变量</a:t>
            </a:r>
            <a:r>
              <a:rPr lang="en-US" altLang="zh-CN" dirty="0"/>
              <a:t>/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/>
            <a:r>
              <a:rPr lang="en-US" altLang="zh-CN" dirty="0" err="1"/>
              <a:t>o.var</a:t>
            </a:r>
            <a:endParaRPr lang="en-US" altLang="zh-CN" dirty="0"/>
          </a:p>
          <a:p>
            <a:r>
              <a:rPr lang="zh-CN" altLang="en-US" dirty="0"/>
              <a:t>内存管理</a:t>
            </a:r>
            <a:endParaRPr lang="en-US" altLang="zh-CN" dirty="0"/>
          </a:p>
          <a:p>
            <a:pPr lvl="1"/>
            <a:r>
              <a:rPr lang="zh-CN" altLang="en-US" dirty="0"/>
              <a:t>采用垃圾收集来自动管理</a:t>
            </a:r>
          </a:p>
        </p:txBody>
      </p:sp>
    </p:spTree>
    <p:extLst>
      <p:ext uri="{BB962C8B-B14F-4D97-AF65-F5344CB8AC3E}">
        <p14:creationId xmlns:p14="http://schemas.microsoft.com/office/powerpoint/2010/main" val="170228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F7F466-CA39-9E94-CD22-087C4021E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97" y="838200"/>
            <a:ext cx="10554986" cy="59969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AD1E908-4D07-1A2A-2AA0-AC172892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F07D212-1FEE-447B-FD26-66F05E777EDF}"/>
              </a:ext>
            </a:extLst>
          </p:cNvPr>
          <p:cNvSpPr/>
          <p:nvPr/>
        </p:nvSpPr>
        <p:spPr>
          <a:xfrm>
            <a:off x="2240280" y="838200"/>
            <a:ext cx="708660" cy="449580"/>
          </a:xfrm>
          <a:prstGeom prst="roundRect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A368CD8F-F6E0-DD8A-FC23-74FB3A33566A}"/>
              </a:ext>
            </a:extLst>
          </p:cNvPr>
          <p:cNvSpPr/>
          <p:nvPr/>
        </p:nvSpPr>
        <p:spPr>
          <a:xfrm>
            <a:off x="3040380" y="167323"/>
            <a:ext cx="1127760" cy="419100"/>
          </a:xfrm>
          <a:prstGeom prst="wedgeRoundRectCallout">
            <a:avLst>
              <a:gd name="adj1" fmla="val -49257"/>
              <a:gd name="adj2" fmla="val 106136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</a:rPr>
              <a:t>func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426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BBF1F-D320-105B-6AB3-AE9E3F318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对象格式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FA534C-E993-B72D-2C88-AE43DD3A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13" y="1776400"/>
            <a:ext cx="10096574" cy="33051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8E3DB1-B34D-4CD6-5654-186362B8C18E}"/>
              </a:ext>
            </a:extLst>
          </p:cNvPr>
          <p:cNvSpPr txBox="1"/>
          <p:nvPr/>
        </p:nvSpPr>
        <p:spPr>
          <a:xfrm>
            <a:off x="1455420" y="5308341"/>
            <a:ext cx="4137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闭包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的关系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933DAD-BBF3-32F9-8B44-39AF1ECBAC3D}"/>
              </a:ext>
            </a:extLst>
          </p:cNvPr>
          <p:cNvSpPr txBox="1"/>
          <p:nvPr/>
        </p:nvSpPr>
        <p:spPr>
          <a:xfrm>
            <a:off x="2438400" y="5875020"/>
            <a:ext cx="413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对象为活动记录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20C25D-780F-D6C9-8EF1-711CC2CD504F}"/>
              </a:ext>
            </a:extLst>
          </p:cNvPr>
          <p:cNvSpPr txBox="1"/>
          <p:nvPr/>
        </p:nvSpPr>
        <p:spPr>
          <a:xfrm>
            <a:off x="2442210" y="6275130"/>
            <a:ext cx="413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 link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用于访问全局变量</a:t>
            </a:r>
          </a:p>
        </p:txBody>
      </p:sp>
    </p:spTree>
    <p:extLst>
      <p:ext uri="{BB962C8B-B14F-4D97-AF65-F5344CB8AC3E}">
        <p14:creationId xmlns:p14="http://schemas.microsoft.com/office/powerpoint/2010/main" val="390980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A9584BC-DB45-A9ED-C24C-7F79ADD03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276" y="1249681"/>
            <a:ext cx="10566564" cy="56616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4F35C9-DE22-BA66-B006-895E8D408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5F582FB-D8EF-91AB-FD8C-8747C69BE211}"/>
              </a:ext>
            </a:extLst>
          </p:cNvPr>
          <p:cNvSpPr/>
          <p:nvPr/>
        </p:nvSpPr>
        <p:spPr>
          <a:xfrm>
            <a:off x="9669780" y="5059680"/>
            <a:ext cx="2385060" cy="1325563"/>
          </a:xfrm>
          <a:prstGeom prst="roundRect">
            <a:avLst/>
          </a:prstGeom>
          <a:solidFill>
            <a:schemeClr val="accent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52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08911-07D6-6A75-2BAF-CF6A98C6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Simula</a:t>
            </a:r>
            <a:r>
              <a:rPr lang="zh-CN" altLang="en-US" dirty="0"/>
              <a:t>中的继承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E3C0AE-DE20-B1FE-C1BF-8A6A9D0F7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类的声明前面可以加上父类的名字作为前缀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子类的对象是父类对象和子类对象自身的拼接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4C0A9C-8C00-8AB1-9330-B798F036A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79" y="2398386"/>
            <a:ext cx="6589423" cy="21304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C0B98E-A6C0-79F9-4045-99850B864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160" y="5395027"/>
            <a:ext cx="7275225" cy="135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15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54A2B-A52B-E9BA-0CA1-9C2D9974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Simula</a:t>
            </a:r>
            <a:r>
              <a:rPr lang="zh-CN" altLang="en-US" dirty="0"/>
              <a:t>主要特性总结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F764EB-25AE-B44B-AE04-9AEA59416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类、对象、继承（</a:t>
            </a:r>
            <a:r>
              <a:rPr lang="en-US" altLang="zh-CN" dirty="0"/>
              <a:t>prefixing</a:t>
            </a:r>
            <a:r>
              <a:rPr lang="zh-CN" altLang="en-US" dirty="0"/>
              <a:t>）、子类型、虚方法（</a:t>
            </a:r>
            <a:r>
              <a:rPr lang="en-US" altLang="zh-CN" dirty="0"/>
              <a:t>virtual methods</a:t>
            </a:r>
            <a:r>
              <a:rPr lang="zh-CN" altLang="en-US" dirty="0"/>
              <a:t>）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协程（</a:t>
            </a:r>
            <a:r>
              <a:rPr lang="en-US" altLang="zh-CN" dirty="0"/>
              <a:t>Coroutine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垃圾收集（</a:t>
            </a:r>
            <a:r>
              <a:rPr lang="en-US" altLang="zh-CN" dirty="0"/>
              <a:t>GC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缺失特性</a:t>
            </a:r>
            <a:endParaRPr lang="en-US" altLang="zh-CN" dirty="0"/>
          </a:p>
          <a:p>
            <a:pPr lvl="1"/>
            <a:r>
              <a:rPr lang="zh-CN" altLang="en-US" dirty="0"/>
              <a:t>封装、</a:t>
            </a:r>
            <a:r>
              <a:rPr lang="en-US" altLang="zh-CN" dirty="0"/>
              <a:t>self/super</a:t>
            </a:r>
            <a:r>
              <a:rPr lang="zh-CN" altLang="en-US" dirty="0"/>
              <a:t>、类成员变量（静态变量）、异常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8803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1F9A-F496-D06E-1952-2126551A8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F695F-E156-970B-B7E7-94032A0D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面向对象语言发展历史 </a:t>
            </a:r>
            <a:r>
              <a:rPr lang="en-US" altLang="zh-CN" dirty="0"/>
              <a:t>—— Smalltalk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DC5F1-74A0-D499-78DA-D6259C056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首次提出面向对象概念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Xerox PARC </a:t>
            </a:r>
            <a:r>
              <a:rPr lang="zh-CN" altLang="en-US" dirty="0"/>
              <a:t>开发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纯面向对象语言，一切皆对象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类（</a:t>
            </a:r>
            <a:r>
              <a:rPr lang="en-US" altLang="zh-CN" dirty="0"/>
              <a:t>class</a:t>
            </a:r>
            <a:r>
              <a:rPr lang="zh-CN" altLang="en-US" dirty="0"/>
              <a:t>）也是对象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所有操作变现为“向对象发送消息”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非常灵活和强大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/>
              <a:t>类似于</a:t>
            </a:r>
            <a:r>
              <a:rPr lang="en-US" altLang="zh-CN" dirty="0"/>
              <a:t>Lisp</a:t>
            </a:r>
            <a:r>
              <a:rPr lang="zh-CN" altLang="en-US" dirty="0"/>
              <a:t>的“一切皆</a:t>
            </a:r>
            <a:r>
              <a:rPr lang="en-US" altLang="zh-CN" dirty="0"/>
              <a:t>list</a:t>
            </a:r>
            <a:r>
              <a:rPr lang="zh-CN" altLang="en-US" dirty="0"/>
              <a:t>”的思想，但更加强大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/>
              <a:t>例如：对象能够发现它收到一条自己不能理解的消息（不支持的消息</a:t>
            </a:r>
            <a:r>
              <a:rPr lang="en-US" altLang="zh-CN" dirty="0"/>
              <a:t>/</a:t>
            </a:r>
            <a:r>
              <a:rPr lang="zh-CN" altLang="en-US" dirty="0"/>
              <a:t>方法），并现场决定如何回应</a:t>
            </a:r>
          </a:p>
        </p:txBody>
      </p:sp>
    </p:spTree>
    <p:extLst>
      <p:ext uri="{BB962C8B-B14F-4D97-AF65-F5344CB8AC3E}">
        <p14:creationId xmlns:p14="http://schemas.microsoft.com/office/powerpoint/2010/main" val="2918554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76214-789F-6F3C-54D9-1A867153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主要开发动机和核心应用</a:t>
            </a:r>
            <a:r>
              <a:rPr lang="en-US" altLang="zh-CN" dirty="0"/>
              <a:t>——Dynabook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63093-A6B7-2636-1F83-2547A929C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概念主要由</a:t>
            </a:r>
            <a:r>
              <a:rPr lang="en-US" altLang="zh-CN" dirty="0"/>
              <a:t>Alan Kay</a:t>
            </a:r>
            <a:r>
              <a:rPr lang="zh-CN" altLang="en-US" dirty="0"/>
              <a:t>提出</a:t>
            </a:r>
            <a:endParaRPr lang="en-US" altLang="zh-CN" dirty="0"/>
          </a:p>
          <a:p>
            <a:pPr lvl="1"/>
            <a:r>
              <a:rPr lang="en-US" altLang="zh-CN" dirty="0"/>
              <a:t>Smalltalk</a:t>
            </a:r>
            <a:r>
              <a:rPr lang="zh-CN" altLang="en-US" dirty="0"/>
              <a:t>项目的愿景领袖和命名者</a:t>
            </a:r>
            <a:endParaRPr lang="en-US" altLang="zh-CN" dirty="0"/>
          </a:p>
          <a:p>
            <a:r>
              <a:rPr lang="zh-CN" altLang="en-US" dirty="0"/>
              <a:t>小型便携计算机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1970</a:t>
            </a:r>
            <a:r>
              <a:rPr lang="zh-CN" altLang="en-US" dirty="0"/>
              <a:t>年代，是一种革命性概念</a:t>
            </a:r>
            <a:endParaRPr lang="en-US" altLang="zh-CN" dirty="0"/>
          </a:p>
          <a:p>
            <a:pPr lvl="2"/>
            <a:r>
              <a:rPr lang="zh-CN" altLang="en-US" dirty="0"/>
              <a:t>当时，所谓的</a:t>
            </a:r>
            <a:r>
              <a:rPr lang="en-US" altLang="zh-CN" dirty="0"/>
              <a:t>mini-computer</a:t>
            </a:r>
            <a:r>
              <a:rPr lang="zh-CN" altLang="en-US" dirty="0"/>
              <a:t>往往放在专门的房间里，一台机器由十余人共享</a:t>
            </a:r>
            <a:endParaRPr lang="en-US" altLang="zh-CN" dirty="0"/>
          </a:p>
          <a:p>
            <a:pPr lvl="1"/>
            <a:r>
              <a:rPr lang="zh-CN" altLang="en-US" dirty="0"/>
              <a:t>一种可以在飞机上飞行旅途中使用的计算机</a:t>
            </a:r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/>
              <a:t>Smalltalk</a:t>
            </a:r>
            <a:r>
              <a:rPr lang="zh-CN" altLang="en-US" dirty="0"/>
              <a:t>语言的影响</a:t>
            </a:r>
            <a:endParaRPr lang="en-US" altLang="zh-CN" dirty="0"/>
          </a:p>
          <a:p>
            <a:pPr lvl="1"/>
            <a:r>
              <a:rPr lang="zh-CN" altLang="en-US" dirty="0"/>
              <a:t>语言同时作为编程语言和操作系统界面</a:t>
            </a:r>
            <a:endParaRPr lang="en-US" altLang="zh-CN" dirty="0"/>
          </a:p>
          <a:p>
            <a:pPr lvl="1"/>
            <a:r>
              <a:rPr lang="zh-CN" altLang="en-US" dirty="0"/>
              <a:t>为“非程序员”设计</a:t>
            </a:r>
            <a:endParaRPr lang="en-US" altLang="zh-CN" dirty="0"/>
          </a:p>
          <a:p>
            <a:pPr lvl="1"/>
            <a:r>
              <a:rPr lang="zh-CN" altLang="en-US" dirty="0"/>
              <a:t>语法为语言相关的编辑器设计</a:t>
            </a:r>
          </a:p>
        </p:txBody>
      </p:sp>
    </p:spTree>
    <p:extLst>
      <p:ext uri="{BB962C8B-B14F-4D97-AF65-F5344CB8AC3E}">
        <p14:creationId xmlns:p14="http://schemas.microsoft.com/office/powerpoint/2010/main" val="4143139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E0964-7E34-0EDD-224C-1BE2DBCE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程序示例：</a:t>
            </a:r>
            <a:r>
              <a:rPr lang="en-US" altLang="zh-CN" dirty="0"/>
              <a:t>Point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29091E-5F23-8FAA-E70B-BBFBF6F33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43" y="1946547"/>
            <a:ext cx="5248313" cy="464823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CE8E37E-A53B-4824-2A66-070F974D29CF}"/>
              </a:ext>
            </a:extLst>
          </p:cNvPr>
          <p:cNvSpPr txBox="1"/>
          <p:nvPr/>
        </p:nvSpPr>
        <p:spPr>
          <a:xfrm>
            <a:off x="2415886" y="1491095"/>
            <a:ext cx="2841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程序写成表格形式：</a:t>
            </a:r>
          </a:p>
        </p:txBody>
      </p:sp>
    </p:spTree>
    <p:extLst>
      <p:ext uri="{BB962C8B-B14F-4D97-AF65-F5344CB8AC3E}">
        <p14:creationId xmlns:p14="http://schemas.microsoft.com/office/powerpoint/2010/main" val="453464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6FAC-9B77-7C68-897D-78ACCF85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28112-8E3F-A669-EB15-C7CD7F8B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程序示例：类消息和方法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5593D1-D3E8-1405-6351-FDC859AD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105" y="1646609"/>
            <a:ext cx="10067093" cy="521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695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30EE4-24EF-F779-55B6-6F783CDD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57FAF-740B-1D6C-6463-A23FB5E0C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程序示例：实例消息和方法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120C70-1277-CD94-4DA4-A53148E03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398" y="1536711"/>
            <a:ext cx="10240281" cy="532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15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EDFA0D-1BBA-9F22-F5C4-37AC0ECEC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1027906"/>
            <a:ext cx="9141626" cy="57069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4EBC68F-4CD2-EE51-3FE0-DC417ED7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对象的表示</a:t>
            </a:r>
          </a:p>
        </p:txBody>
      </p:sp>
    </p:spTree>
    <p:extLst>
      <p:ext uri="{BB962C8B-B14F-4D97-AF65-F5344CB8AC3E}">
        <p14:creationId xmlns:p14="http://schemas.microsoft.com/office/powerpoint/2010/main" val="1338757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E09A36-AACF-0540-EE52-B0BB08F4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子类：</a:t>
            </a:r>
            <a:r>
              <a:rPr lang="en-US" altLang="zh-CN" dirty="0" err="1"/>
              <a:t>ColorPoint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56903E-4F2B-7409-100A-175D5F085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56" y="1498436"/>
            <a:ext cx="8658288" cy="519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56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A13F-2CC9-89D5-E8B6-E3D4D9E1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DB35F0C-93FD-958F-A49E-7CD97182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491" y="1543653"/>
            <a:ext cx="9708572" cy="531434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AD3BF67-A685-20ED-566A-D4A436A4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子类：</a:t>
            </a:r>
            <a:r>
              <a:rPr lang="en-US" altLang="zh-CN" dirty="0" err="1"/>
              <a:t>ColorPoint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170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8859</TotalTime>
  <Words>1140</Words>
  <Application>Microsoft Office PowerPoint</Application>
  <PresentationFormat>宽屏</PresentationFormat>
  <Paragraphs>162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等线 Light</vt:lpstr>
      <vt:lpstr>微软雅黑</vt:lpstr>
      <vt:lpstr>Arial</vt:lpstr>
      <vt:lpstr>Consolas</vt:lpstr>
      <vt:lpstr>Courier New</vt:lpstr>
      <vt:lpstr>Office 主题​​</vt:lpstr>
      <vt:lpstr>面向对象编程（1）</vt:lpstr>
      <vt:lpstr>什么是面向对象编程</vt:lpstr>
      <vt:lpstr>PowerPoint 演示文稿</vt:lpstr>
      <vt:lpstr>面向对象的四个核心概念</vt:lpstr>
      <vt:lpstr>OO编程的程序结构</vt:lpstr>
      <vt:lpstr>实例：几何图形库</vt:lpstr>
      <vt:lpstr>实例：几何图形库</vt:lpstr>
      <vt:lpstr>面向对象语言发展历史 —— Simula</vt:lpstr>
      <vt:lpstr>面向对象语言发展历史 —— Simula</vt:lpstr>
      <vt:lpstr>Simula中的面向对象设计</vt:lpstr>
      <vt:lpstr>示例</vt:lpstr>
      <vt:lpstr>对象格式</vt:lpstr>
      <vt:lpstr>实例2</vt:lpstr>
      <vt:lpstr>Simula中的继承</vt:lpstr>
      <vt:lpstr>Simula主要特性总结</vt:lpstr>
      <vt:lpstr>面向对象语言发展历史 —— Smalltalk</vt:lpstr>
      <vt:lpstr>主要开发动机和核心应用——Dynabook</vt:lpstr>
      <vt:lpstr>程序示例：Point</vt:lpstr>
      <vt:lpstr>程序示例：类消息和方法</vt:lpstr>
      <vt:lpstr>程序示例：实例消息和方法</vt:lpstr>
      <vt:lpstr>对象的表示</vt:lpstr>
      <vt:lpstr>子类：ColorPoint</vt:lpstr>
      <vt:lpstr>子类：ColorPoint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新宇 冯</dc:creator>
  <cp:lastModifiedBy>新宇 冯</cp:lastModifiedBy>
  <cp:revision>50</cp:revision>
  <dcterms:created xsi:type="dcterms:W3CDTF">2025-10-05T01:26:09Z</dcterms:created>
  <dcterms:modified xsi:type="dcterms:W3CDTF">2025-10-30T00:52:56Z</dcterms:modified>
</cp:coreProperties>
</file>